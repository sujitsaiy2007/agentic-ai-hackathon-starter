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esteemed judges. Today we present our Review 1 submission for Problem Statement MM26AI02: 'Keep the Cluster Alive: Detect, Reroute, Recover'.</a:t>
            </a:r>
          </a:p>
          <a:p/>
          <a:p>
            <a:r>
              <a:t>In high-throughput distributed clusters, worker nodes experience unannounced hardware degradation and silent failure. We have developed Adaptive Commitment Timing (ACT)—an autonomous cluster scheduling agent that reformulates load balancing as an optimal-stopping problem. In this presentation, we will demonstrate our deep understanding of the environment's underlying physics, the fatal flaws of conventional schedulers, our mathematical solution design, and empirical proof showing a 98.1% completion rate at 0.23 milliseconds per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the exact physics of the problem. The cluster is a partially observed Markov decision process. Nodes transition silently between Healthy, Degraded, and Down. Crucially, the environment imposes three unforgiving penalties: First, missing a deadline loses up to 1.0 points. Second, unassigned tasks bleed -0.01 points per step. Third—and most importantly—rerouting a running task triggers a cold restart, completely erasing all completed work. Any agent that reroutes carelessly will thrash the cluster and bleed progress.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conventional load balancers fail in this environment? They suffer from two extremes. On one hand, blind balancers like round-robin look only at queue lengths. When a node dies, its queue empties, so the balancer aggressively feeds more tasks into the dead node. Tasks freeze and fail. In our baseline benchmark, this caused 577 deadline misses. On the other hand, naive reactive schedulers panic at the first latency spike and reroute tasks immediately. This triggers cold restarts, destroying progress and creating a self-inflicted churn storm. Our breakthrough insight is that scheduling is not just where to send a task—it is WHEN to commit versus when to hold for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our solution design: Adaptive Commitment Timing (ACT). ACT decomposes the global scheduling challenge into four mathematically rigorous stages: First, a Bayesian filter infers true health posteriors from telemetry and task execution behavior. Second, a predictive value engine computes completion probabilities for each task on each node. Third, an optimal-stopping engine evaluates whether pending tasks should commit or hold, and whether running tasks should stay or reroute. Fourth, an opportunity-cost allocator resolves capacity contention among contending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component is our Bayesian Health Filter. The problem statement warned us not to hardcode sandbox thresholds. So we used a structurally constrained persistence model that captures server failure and recovery dynamics. Furthermore, we introduced an active execution sensor. Heartbeats can take time to fail, but if tasks on a node stall (delta d = 0), that stall is direct evidence of failure. By multiplying telemetry likelihoods with execution stall likelihoods, our agent identifies failed nodes almost instantaneously, cutting dead-node traffic by 84.2%.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two is our Optimal Stopping Engine with Dual Continuation Semantics. For pending tasks, we model the environment's actual -0.01 holding cost. If a task has slack and candidate nodes are degraded, A_k &lt;= 0, so the task HOLDS to gather more telemetry. As slack shrinks, A_k turns positive, forcing commitment. For running tasks, we enforce a vital distinction: running tasks are actively executing and do not incur holding penalties. A running task stays on its node unless Q_reroute &gt; Q_stay. Because Q_reroute evaluates the task with its original duration, the cold-restart penalty naturally acts as an economic barrier against churn without needing any arbitrary epsilon.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three resolves capacity contention. When many tasks want to commit simultaneously, which task gets the slot? Naive schedulers sort by deadline alone. But what if Task A has only one viable node, while Task B can run equally well on two nodes? ACT computes Alternative Scarcity (delta_k)—the opportunity cost of losing your preferred node. Tasks with high delta_k get priority, while flexible tasks take fallback nodes. And if all viable nodes are full, HOLD acts as a competing option, preventing congestion overload.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empirical proof of our design. Across 5 seeds and 2,000 steps: ACT achieved a 98.1% completion rate, salvaging 471 tasks that the baseline dropped. Missed deadlines dropped from 577 down to 79—an 86.3% reduction. Dead-node traffic dropped by 84.2%. And our average compute time was 0.23 milliseconds per step, running well within the real-time evaluation budget.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that ACT generalizes beyond the sandbox, we stress-tested it across four unseen configurations: In a 10-node cluster, ACT achieved 99.1% completion, saving 624 tasks. Under tight deadline stress where slack was reduced to 2–5 ticks, ACT delivered a +19.3% boost because our Bayesian detector identified dead nodes before tight deadlines expired. Dead-node traffic was consistently reduced by 81.8% to 96.8% across every scenario.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engineered ACT for production deployment. Our submission agent is packaged as a single-file, zero-dependency bundle that runs on any Python interpreter with zero setup. Furthermore, we built an interactive SRE dashboard featuring live Chart.js side-by-side battle curves, real-time Bayesian belief tracking, and automated incident diagnosis reports. ACT gives cluster operators both autonomous self-healing and complete mathematical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prepared rigorous defenses for the most critical technical questions judges may raise: Regarding RL: RL requires stationary MDPs and millions of sample interactions, while ACT delivers provable optimal stopping with microsecond latency. Regarding Hungarian: Hungarian cannot evaluate whether to hold unassigned tasks for future information. Regarding anti-churn: Our hysteresis is derived directly from the physical cost of cold restarts rather than arbitrary tuned epsilons.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for Review 1, we have achieved a deep understanding of Problem Statement MM26AI02 and delivered a mathematically grounded, empirically validated solution. ACT turns a vulnerable, partially observed cluster into a self-healing system with a 98.1% completion rate at 0.23 ms per step. We are now ready for your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3474720" cy="365760"/>
          </a:xfrm>
          <a:prstGeom prst="roundRect">
            <a:avLst/>
          </a:prstGeom>
          <a:solidFill>
            <a:srgbClr val="0F172A"/>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PROBLEM STATEMENT MM26AI02 • REVIEW 1</a:t>
            </a:r>
          </a:p>
        </p:txBody>
      </p:sp>
      <p:sp>
        <p:nvSpPr>
          <p:cNvPr id="4" name="TextBox 3"/>
          <p:cNvSpPr txBox="1"/>
          <p:nvPr/>
        </p:nvSpPr>
        <p:spPr>
          <a:xfrm>
            <a:off x="731520" y="1645920"/>
            <a:ext cx="10698480" cy="1645920"/>
          </a:xfrm>
          <a:prstGeom prst="rect">
            <a:avLst/>
          </a:prstGeom>
          <a:noFill/>
        </p:spPr>
        <p:txBody>
          <a:bodyPr wrap="square">
            <a:spAutoFit/>
          </a:bodyPr>
          <a:lstStyle/>
          <a:p>
            <a:pPr>
              <a:defRPr sz="4000" b="1">
                <a:solidFill>
                  <a:srgbClr val="F1F5F9"/>
                </a:solidFill>
                <a:latin typeface="Segoe UI"/>
              </a:defRPr>
            </a:pPr>
            <a:r>
              <a:t>Adaptive Commitment Timing (ACT)</a:t>
            </a:r>
          </a:p>
          <a:p>
            <a:pPr>
              <a:defRPr sz="2000">
                <a:solidFill>
                  <a:srgbClr val="38BDF8"/>
                </a:solidFill>
                <a:latin typeface="Segoe UI"/>
              </a:defRPr>
            </a:pPr>
            <a:r>
              <a:t>Autonomous, Fault-Tolerant Cluster Scheduling Under Partial Observability</a:t>
            </a:r>
          </a:p>
        </p:txBody>
      </p:sp>
      <p:sp>
        <p:nvSpPr>
          <p:cNvPr id="5" name="Rounded Rectangle 4"/>
          <p:cNvSpPr/>
          <p:nvPr/>
        </p:nvSpPr>
        <p:spPr>
          <a:xfrm>
            <a:off x="731520" y="3566160"/>
            <a:ext cx="10698480" cy="1280160"/>
          </a:xfrm>
          <a:prstGeom prst="roundRect">
            <a:avLst/>
          </a:prstGeom>
          <a:solidFill>
            <a:srgbClr val="111827"/>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703320"/>
            <a:ext cx="10149840" cy="1005840"/>
          </a:xfrm>
          <a:prstGeom prst="rect">
            <a:avLst/>
          </a:prstGeom>
          <a:noFill/>
        </p:spPr>
        <p:txBody>
          <a:bodyPr wrap="square">
            <a:spAutoFit/>
          </a:bodyPr>
          <a:lstStyle/>
          <a:p>
            <a:pPr>
              <a:defRPr sz="1200" b="1">
                <a:solidFill>
                  <a:srgbClr val="FBBF24"/>
                </a:solidFill>
              </a:defRPr>
            </a:pPr>
            <a:r>
              <a:t>CORE REVIEW 1 FOCUS: UNDERSTANDING OF PROBLEM STATEMENT &amp; SOLUTION DESIGN</a:t>
            </a:r>
          </a:p>
          <a:p>
            <a:pPr>
              <a:defRPr sz="1300">
                <a:solidFill>
                  <a:srgbClr val="F1F5F9"/>
                </a:solidFill>
              </a:defRPr>
            </a:pPr>
            <a:r>
              <a:t>• Problem Understanding: Mathematical modeling of hidden Markov states, noisy sensor telemetry, cold-restart penalties, and holding costs.</a:t>
            </a:r>
            <a:br/>
            <a:r>
              <a:t>• Solution Design: Reformulating load balancing as Approximate Finite-Horizon Optimal Stopping with Dual Continuation Semantics.</a:t>
            </a:r>
          </a:p>
        </p:txBody>
      </p:sp>
      <p:sp>
        <p:nvSpPr>
          <p:cNvPr id="7" name="Rounded Rectangle 6"/>
          <p:cNvSpPr/>
          <p:nvPr/>
        </p:nvSpPr>
        <p:spPr>
          <a:xfrm>
            <a:off x="731520" y="5120640"/>
            <a:ext cx="2468880" cy="118872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212080"/>
            <a:ext cx="2286000" cy="1005840"/>
          </a:xfrm>
          <a:prstGeom prst="rect">
            <a:avLst/>
          </a:prstGeom>
          <a:noFill/>
        </p:spPr>
        <p:txBody>
          <a:bodyPr wrap="square">
            <a:spAutoFit/>
          </a:bodyPr>
          <a:lstStyle/>
          <a:p>
            <a:pPr>
              <a:defRPr sz="1600" b="1">
                <a:solidFill>
                  <a:srgbClr val="34D399"/>
                </a:solidFill>
              </a:defRPr>
            </a:pPr>
            <a:r>
              <a:t>98.1% Task Completion</a:t>
            </a:r>
          </a:p>
          <a:p>
            <a:pPr>
              <a:defRPr sz="1100">
                <a:solidFill>
                  <a:srgbClr val="94A3B8"/>
                </a:solidFill>
              </a:defRPr>
            </a:pPr>
            <a:r>
              <a:t>Canonical 5-Seed Benchmark</a:t>
            </a:r>
          </a:p>
        </p:txBody>
      </p:sp>
      <p:sp>
        <p:nvSpPr>
          <p:cNvPr id="9" name="Rounded Rectangle 8"/>
          <p:cNvSpPr/>
          <p:nvPr/>
        </p:nvSpPr>
        <p:spPr>
          <a:xfrm>
            <a:off x="3474720" y="5120640"/>
            <a:ext cx="2468880" cy="118872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5212080"/>
            <a:ext cx="2286000" cy="1005840"/>
          </a:xfrm>
          <a:prstGeom prst="rect">
            <a:avLst/>
          </a:prstGeom>
          <a:noFill/>
        </p:spPr>
        <p:txBody>
          <a:bodyPr wrap="square">
            <a:spAutoFit/>
          </a:bodyPr>
          <a:lstStyle/>
          <a:p>
            <a:pPr>
              <a:defRPr sz="1600" b="1">
                <a:solidFill>
                  <a:srgbClr val="38BDF8"/>
                </a:solidFill>
              </a:defRPr>
            </a:pPr>
            <a:r>
              <a:t>-86.3% Deadline Misses</a:t>
            </a:r>
          </a:p>
          <a:p>
            <a:pPr>
              <a:defRPr sz="1100">
                <a:solidFill>
                  <a:srgbClr val="94A3B8"/>
                </a:solidFill>
              </a:defRPr>
            </a:pPr>
            <a:r>
              <a:t>From 577 down to 79 failures</a:t>
            </a:r>
          </a:p>
        </p:txBody>
      </p:sp>
      <p:sp>
        <p:nvSpPr>
          <p:cNvPr id="11" name="Rounded Rectangle 10"/>
          <p:cNvSpPr/>
          <p:nvPr/>
        </p:nvSpPr>
        <p:spPr>
          <a:xfrm>
            <a:off x="6217920" y="5120640"/>
            <a:ext cx="2468880" cy="118872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5212080"/>
            <a:ext cx="2286000" cy="1005840"/>
          </a:xfrm>
          <a:prstGeom prst="rect">
            <a:avLst/>
          </a:prstGeom>
          <a:noFill/>
        </p:spPr>
        <p:txBody>
          <a:bodyPr wrap="square">
            <a:spAutoFit/>
          </a:bodyPr>
          <a:lstStyle/>
          <a:p>
            <a:pPr>
              <a:defRPr sz="1600" b="1">
                <a:solidFill>
                  <a:srgbClr val="818CF8"/>
                </a:solidFill>
              </a:defRPr>
            </a:pPr>
            <a:r>
              <a:t>-84.2% Dead Traffic</a:t>
            </a:r>
          </a:p>
          <a:p>
            <a:pPr>
              <a:defRPr sz="1100">
                <a:solidFill>
                  <a:srgbClr val="94A3B8"/>
                </a:solidFill>
              </a:defRPr>
            </a:pPr>
            <a:r>
              <a:t>Instant stall detection</a:t>
            </a:r>
          </a:p>
        </p:txBody>
      </p:sp>
      <p:sp>
        <p:nvSpPr>
          <p:cNvPr id="13" name="Rounded Rectangle 12"/>
          <p:cNvSpPr/>
          <p:nvPr/>
        </p:nvSpPr>
        <p:spPr>
          <a:xfrm>
            <a:off x="8961120" y="5120640"/>
            <a:ext cx="2468880" cy="118872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5212080"/>
            <a:ext cx="2286000" cy="1005840"/>
          </a:xfrm>
          <a:prstGeom prst="rect">
            <a:avLst/>
          </a:prstGeom>
          <a:noFill/>
        </p:spPr>
        <p:txBody>
          <a:bodyPr wrap="square">
            <a:spAutoFit/>
          </a:bodyPr>
          <a:lstStyle/>
          <a:p>
            <a:pPr>
              <a:defRPr sz="1600" b="1">
                <a:solidFill>
                  <a:srgbClr val="FBBF24"/>
                </a:solidFill>
              </a:defRPr>
            </a:pPr>
            <a:r>
              <a:t>0.23 ms / Step</a:t>
            </a:r>
          </a:p>
          <a:p>
            <a:pPr>
              <a:defRPr sz="1100">
                <a:solidFill>
                  <a:srgbClr val="94A3B8"/>
                </a:solidFill>
              </a:defRPr>
            </a:pPr>
            <a:r>
              <a:t>4x faster than 1.0ms budget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1 • PROBLEM UNDERSTANDING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Problem Statement Deep-Dive &amp; Environmental Physics</a:t>
            </a:r>
          </a:p>
        </p:txBody>
      </p:sp>
      <p:sp>
        <p:nvSpPr>
          <p:cNvPr id="5" name="Rounded Rectangle 4"/>
          <p:cNvSpPr/>
          <p:nvPr/>
        </p:nvSpPr>
        <p:spPr>
          <a:xfrm>
            <a:off x="731520" y="1463040"/>
            <a:ext cx="5120640" cy="2377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2011680"/>
          </a:xfrm>
          <a:prstGeom prst="rect">
            <a:avLst/>
          </a:prstGeom>
          <a:noFill/>
        </p:spPr>
        <p:txBody>
          <a:bodyPr wrap="square">
            <a:spAutoFit/>
          </a:bodyPr>
          <a:lstStyle/>
          <a:p>
            <a:pPr>
              <a:defRPr sz="1500" b="1">
                <a:solidFill>
                  <a:srgbClr val="38BDF8"/>
                </a:solidFill>
              </a:defRPr>
            </a:pPr>
            <a:r>
              <a:t>1. Cluster Topology &amp; Arrivals</a:t>
            </a:r>
          </a:p>
          <a:p>
            <a:pPr>
              <a:defRPr sz="1200">
                <a:solidFill>
                  <a:srgbClr val="F1F5F9"/>
                </a:solidFill>
              </a:defRPr>
            </a:pPr>
            <a:r>
              <a:t>• N worker nodes with capacity C_max.</a:t>
            </a:r>
            <a:br/>
            <a:r>
              <a:t>• Continuous Poisson task arrivals (λ).</a:t>
            </a:r>
            <a:br/>
            <a:r>
              <a:t>• Tasks have durations d ∈ [3, 8] and strict deadlines D = t + d + slack.</a:t>
            </a:r>
            <a:br/>
            <a:r>
              <a:t>• Over-capacity assigns are silently dropped!</a:t>
            </a:r>
          </a:p>
        </p:txBody>
      </p:sp>
      <p:sp>
        <p:nvSpPr>
          <p:cNvPr id="7" name="Rounded Rectangle 6"/>
          <p:cNvSpPr/>
          <p:nvPr/>
        </p:nvSpPr>
        <p:spPr>
          <a:xfrm>
            <a:off x="6309360" y="1463040"/>
            <a:ext cx="5120640" cy="2377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2011680"/>
          </a:xfrm>
          <a:prstGeom prst="rect">
            <a:avLst/>
          </a:prstGeom>
          <a:noFill/>
        </p:spPr>
        <p:txBody>
          <a:bodyPr wrap="square">
            <a:spAutoFit/>
          </a:bodyPr>
          <a:lstStyle/>
          <a:p>
            <a:pPr>
              <a:defRPr sz="1500" b="1">
                <a:solidFill>
                  <a:srgbClr val="38BDF8"/>
                </a:solidFill>
              </a:defRPr>
            </a:pPr>
            <a:r>
              <a:t>2. Hidden Markov States</a:t>
            </a:r>
          </a:p>
          <a:p>
            <a:pPr>
              <a:defRPr sz="1200">
                <a:solidFill>
                  <a:srgbClr val="F1F5F9"/>
                </a:solidFill>
              </a:defRPr>
            </a:pPr>
            <a:r>
              <a:t>• True node health is NEVER directly observed.</a:t>
            </a:r>
            <a:br/>
            <a:r>
              <a:t>• States: HEALTHY (0), DEGRADED (1), DOWN (2).</a:t>
            </a:r>
            <a:br/>
            <a:r>
              <a:t>• Transitions are unannounced and continuous.</a:t>
            </a:r>
            <a:br/>
            <a:r>
              <a:t>• Down nodes freeze all execution completely.</a:t>
            </a:r>
          </a:p>
        </p:txBody>
      </p:sp>
      <p:sp>
        <p:nvSpPr>
          <p:cNvPr id="9" name="Rounded Rectangle 8"/>
          <p:cNvSpPr/>
          <p:nvPr/>
        </p:nvSpPr>
        <p:spPr>
          <a:xfrm>
            <a:off x="731520" y="4069080"/>
            <a:ext cx="5120640" cy="2377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2011680"/>
          </a:xfrm>
          <a:prstGeom prst="rect">
            <a:avLst/>
          </a:prstGeom>
          <a:noFill/>
        </p:spPr>
        <p:txBody>
          <a:bodyPr wrap="square">
            <a:spAutoFit/>
          </a:bodyPr>
          <a:lstStyle/>
          <a:p>
            <a:pPr>
              <a:defRPr sz="1500" b="1">
                <a:solidFill>
                  <a:srgbClr val="38BDF8"/>
                </a:solidFill>
              </a:defRPr>
            </a:pPr>
            <a:r>
              <a:t>3. Noisy Telemetry Sensors</a:t>
            </a:r>
          </a:p>
          <a:p>
            <a:pPr>
              <a:defRPr sz="1200">
                <a:solidFill>
                  <a:srgbClr val="F1F5F9"/>
                </a:solidFill>
              </a:defRPr>
            </a:pPr>
            <a:r>
              <a:t>• Heartbeat (hb ∈ {0, 1}): Bernoulli noise (98% H, 75% D, 5% X).</a:t>
            </a:r>
            <a:br/>
            <a:r>
              <a:t>• Latency (lat): Gaussian operating points, spike under failure, None when down.</a:t>
            </a:r>
            <a:br/>
            <a:r>
              <a:t>• Error Rate (err): High variance, clipped Gaussian noise.</a:t>
            </a:r>
          </a:p>
        </p:txBody>
      </p:sp>
      <p:sp>
        <p:nvSpPr>
          <p:cNvPr id="11" name="Rounded Rectangle 10"/>
          <p:cNvSpPr/>
          <p:nvPr/>
        </p:nvSpPr>
        <p:spPr>
          <a:xfrm>
            <a:off x="6309360" y="4069080"/>
            <a:ext cx="5120640" cy="2377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51960"/>
            <a:ext cx="4754880" cy="2011680"/>
          </a:xfrm>
          <a:prstGeom prst="rect">
            <a:avLst/>
          </a:prstGeom>
          <a:noFill/>
        </p:spPr>
        <p:txBody>
          <a:bodyPr wrap="square">
            <a:spAutoFit/>
          </a:bodyPr>
          <a:lstStyle/>
          <a:p>
            <a:pPr>
              <a:defRPr sz="1500" b="1">
                <a:solidFill>
                  <a:srgbClr val="FBBF24"/>
                </a:solidFill>
              </a:defRPr>
            </a:pPr>
            <a:r>
              <a:t>4. Critical Penalty Economics</a:t>
            </a:r>
          </a:p>
          <a:p>
            <a:pPr>
              <a:defRPr sz="1200">
                <a:solidFill>
                  <a:srgbClr val="F1F5F9"/>
                </a:solidFill>
              </a:defRPr>
            </a:pPr>
            <a:r>
              <a:t>• Deadline Miss: -0.5 / -1.0 reward penalty.</a:t>
            </a:r>
            <a:br/>
            <a:r>
              <a:t>• Unassigned Holding Cost: -0.01/step for pending tasks.</a:t>
            </a:r>
            <a:br/>
            <a:r>
              <a:t>• Cold Restart Penalty: Rerouting resets duration d &lt;- d_orig, WIPING OUT all progress!</a:t>
            </a:r>
            <a:br/>
            <a:r>
              <a:t>• Churn Penalty: Indiscriminate rerouting thrashes cluster.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1 • PROBLEM UNDERSTANDING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The Core Dilemma: Why Naive Approaches Fail</a:t>
            </a:r>
          </a:p>
        </p:txBody>
      </p:sp>
      <p:sp>
        <p:nvSpPr>
          <p:cNvPr id="5" name="Rounded Rectangle 4"/>
          <p:cNvSpPr/>
          <p:nvPr/>
        </p:nvSpPr>
        <p:spPr>
          <a:xfrm>
            <a:off x="731520" y="1463040"/>
            <a:ext cx="5120640" cy="3291840"/>
          </a:xfrm>
          <a:prstGeom prst="roundRect">
            <a:avLst/>
          </a:prstGeom>
          <a:solidFill>
            <a:srgbClr val="131A2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2926080"/>
          </a:xfrm>
          <a:prstGeom prst="rect">
            <a:avLst/>
          </a:prstGeom>
          <a:noFill/>
        </p:spPr>
        <p:txBody>
          <a:bodyPr wrap="square">
            <a:spAutoFit/>
          </a:bodyPr>
          <a:lstStyle/>
          <a:p>
            <a:pPr>
              <a:defRPr sz="1600" b="1">
                <a:solidFill>
                  <a:srgbClr val="F87171"/>
                </a:solidFill>
              </a:defRPr>
            </a:pPr>
            <a:r>
              <a:t>Extreme 1: Blind Greedy / Round-Robin</a:t>
            </a:r>
          </a:p>
          <a:p>
            <a:pPr>
              <a:defRPr sz="1300">
                <a:solidFill>
                  <a:srgbClr val="F1F5F9"/>
                </a:solidFill>
              </a:defRPr>
            </a:pPr>
            <a:r>
              <a:t>• Spatial-only view: Looks only at current queue lengths.</a:t>
            </a:r>
            <a:br/>
            <a:r>
              <a:t>• Fatal Graveyard Trap: When a node dies, tasks stop running. The queue appears empty to naive balancers.</a:t>
            </a:r>
            <a:br/>
            <a:r>
              <a:t>• Result: Blindly pours hundreds of new tasks into the dead node.</a:t>
            </a:r>
            <a:br/>
            <a:r>
              <a:t>• Outcome: Tasks freeze and expire. 577 deadline misses in baseline benchmark.</a:t>
            </a:r>
          </a:p>
        </p:txBody>
      </p:sp>
      <p:sp>
        <p:nvSpPr>
          <p:cNvPr id="7" name="Rounded Rectangle 6"/>
          <p:cNvSpPr/>
          <p:nvPr/>
        </p:nvSpPr>
        <p:spPr>
          <a:xfrm>
            <a:off x="6309360" y="1463040"/>
            <a:ext cx="5120640" cy="3291840"/>
          </a:xfrm>
          <a:prstGeom prst="roundRect">
            <a:avLst/>
          </a:prstGeom>
          <a:solidFill>
            <a:srgbClr val="131A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2926080"/>
          </a:xfrm>
          <a:prstGeom prst="rect">
            <a:avLst/>
          </a:prstGeom>
          <a:noFill/>
        </p:spPr>
        <p:txBody>
          <a:bodyPr wrap="square">
            <a:spAutoFit/>
          </a:bodyPr>
          <a:lstStyle/>
          <a:p>
            <a:pPr>
              <a:defRPr sz="1600" b="1">
                <a:solidFill>
                  <a:srgbClr val="FBBF24"/>
                </a:solidFill>
              </a:defRPr>
            </a:pPr>
            <a:r>
              <a:t>Extreme 2: Aggressive Reactive Rerouting</a:t>
            </a:r>
          </a:p>
          <a:p>
            <a:pPr>
              <a:defRPr sz="1300">
                <a:solidFill>
                  <a:srgbClr val="F1F5F9"/>
                </a:solidFill>
              </a:defRPr>
            </a:pPr>
            <a:r>
              <a:t>• Hyper-sensitive thresholds: Panics at the first noisy latency spike.</a:t>
            </a:r>
            <a:br/>
            <a:r>
              <a:t>• Progress Destruction: Rerouting resets duration d &lt;- d_orig. 90% completed work is instantly wiped out!</a:t>
            </a:r>
            <a:br/>
            <a:r>
              <a:t>• Cascading Churn: Rerouted tasks overload healthy nodes, causing secondary spikes.</a:t>
            </a:r>
            <a:br/>
            <a:r>
              <a:t>• Outcome: Cluster thrashing, deadline cascade, and negative net rewards.</a:t>
            </a:r>
          </a:p>
        </p:txBody>
      </p:sp>
      <p:sp>
        <p:nvSpPr>
          <p:cNvPr id="9" name="Rounded Rectangle 8"/>
          <p:cNvSpPr/>
          <p:nvPr/>
        </p:nvSpPr>
        <p:spPr>
          <a:xfrm>
            <a:off x="731520" y="5029200"/>
            <a:ext cx="10698480" cy="128016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166360"/>
            <a:ext cx="10149840" cy="1005840"/>
          </a:xfrm>
          <a:prstGeom prst="rect">
            <a:avLst/>
          </a:prstGeom>
          <a:noFill/>
        </p:spPr>
        <p:txBody>
          <a:bodyPr wrap="square">
            <a:spAutoFit/>
          </a:bodyPr>
          <a:lstStyle/>
          <a:p>
            <a:pPr>
              <a:defRPr sz="1200" b="1">
                <a:solidFill>
                  <a:srgbClr val="34D399"/>
                </a:solidFill>
              </a:defRPr>
            </a:pPr>
            <a:r>
              <a:t>THE FUNDAMENTAL INSIGHT OF ACT:</a:t>
            </a:r>
          </a:p>
          <a:p>
            <a:pPr>
              <a:defRPr sz="1300">
                <a:solidFill>
                  <a:srgbClr val="F1F5F9"/>
                </a:solidFill>
              </a:defRPr>
            </a:pPr>
            <a:r>
              <a:t>Scheduling is NOT just a spatial problem ('Where should this task go?').</a:t>
            </a:r>
            <a:br/>
            <a:r>
              <a:t>Under partial observability, it is fundamentally a TEMPORAL OPTIMAL-STOPPING problem: 'When should we commit now, and when should we hold to gather cleaner telemetry?'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2 • SOLUTION DESIGN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Solution Architecture: Adaptive Commitment Timing (ACT)</a:t>
            </a:r>
          </a:p>
        </p:txBody>
      </p:sp>
      <p:sp>
        <p:nvSpPr>
          <p:cNvPr id="5" name="Rounded Rectangle 4"/>
          <p:cNvSpPr/>
          <p:nvPr/>
        </p:nvSpPr>
        <p:spPr>
          <a:xfrm>
            <a:off x="731520" y="1645920"/>
            <a:ext cx="2468880" cy="4389120"/>
          </a:xfrm>
          <a:prstGeom prst="roundRect">
            <a:avLst/>
          </a:prstGeom>
          <a:solidFill>
            <a:srgbClr val="131A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2194560" cy="4023360"/>
          </a:xfrm>
          <a:prstGeom prst="rect">
            <a:avLst/>
          </a:prstGeom>
          <a:noFill/>
        </p:spPr>
        <p:txBody>
          <a:bodyPr wrap="square">
            <a:spAutoFit/>
          </a:bodyPr>
          <a:lstStyle/>
          <a:p>
            <a:pPr>
              <a:defRPr sz="1500" b="1">
                <a:solidFill>
                  <a:srgbClr val="38BDF8"/>
                </a:solidFill>
              </a:defRPr>
            </a:pPr>
            <a:r>
              <a:t>1. Multi-Sensor Bayesian Filter</a:t>
            </a:r>
          </a:p>
          <a:p>
            <a:pPr>
              <a:defRPr sz="1300">
                <a:solidFill>
                  <a:srgbClr val="F1F5F9"/>
                </a:solidFill>
              </a:defRPr>
            </a:pPr>
            <a:r>
              <a:t>Fuses heartbeat, latency, error rate, and active task progress stalls into posterior belief b_j(t) = [P(H), P(D), P(X)].</a:t>
            </a:r>
          </a:p>
        </p:txBody>
      </p:sp>
      <p:sp>
        <p:nvSpPr>
          <p:cNvPr id="7" name="Rounded Rectangle 6"/>
          <p:cNvSpPr/>
          <p:nvPr/>
        </p:nvSpPr>
        <p:spPr>
          <a:xfrm>
            <a:off x="3474720" y="1645920"/>
            <a:ext cx="2468880" cy="4389120"/>
          </a:xfrm>
          <a:prstGeom prst="roundRect">
            <a:avLst/>
          </a:prstGeom>
          <a:solidFill>
            <a:srgbClr val="131A2A"/>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28800"/>
            <a:ext cx="2194560" cy="4023360"/>
          </a:xfrm>
          <a:prstGeom prst="rect">
            <a:avLst/>
          </a:prstGeom>
          <a:noFill/>
        </p:spPr>
        <p:txBody>
          <a:bodyPr wrap="square">
            <a:spAutoFit/>
          </a:bodyPr>
          <a:lstStyle/>
          <a:p>
            <a:pPr>
              <a:defRPr sz="1500" b="1">
                <a:solidFill>
                  <a:srgbClr val="818CF8"/>
                </a:solidFill>
              </a:defRPr>
            </a:pPr>
            <a:r>
              <a:t>2. Predictive Q-Value Engine</a:t>
            </a:r>
          </a:p>
          <a:p>
            <a:pPr>
              <a:defRPr sz="1300">
                <a:solidFill>
                  <a:srgbClr val="F1F5F9"/>
                </a:solidFill>
              </a:defRPr>
            </a:pPr>
            <a:r>
              <a:t>Computes probability of completion p_complete(k, j) factoring node health, remaining duration, and slack.</a:t>
            </a:r>
          </a:p>
        </p:txBody>
      </p:sp>
      <p:sp>
        <p:nvSpPr>
          <p:cNvPr id="9" name="Rounded Rectangle 8"/>
          <p:cNvSpPr/>
          <p:nvPr/>
        </p:nvSpPr>
        <p:spPr>
          <a:xfrm>
            <a:off x="6217920" y="1645920"/>
            <a:ext cx="2468880" cy="4389120"/>
          </a:xfrm>
          <a:prstGeom prst="roundRect">
            <a:avLst/>
          </a:prstGeom>
          <a:solidFill>
            <a:srgbClr val="131A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828800"/>
            <a:ext cx="2194560" cy="4023360"/>
          </a:xfrm>
          <a:prstGeom prst="rect">
            <a:avLst/>
          </a:prstGeom>
          <a:noFill/>
        </p:spPr>
        <p:txBody>
          <a:bodyPr wrap="square">
            <a:spAutoFit/>
          </a:bodyPr>
          <a:lstStyle/>
          <a:p>
            <a:pPr>
              <a:defRPr sz="1500" b="1">
                <a:solidFill>
                  <a:srgbClr val="34D399"/>
                </a:solidFill>
              </a:defRPr>
            </a:pPr>
            <a:r>
              <a:t>3. Optimal Stopping &amp; Rerouting</a:t>
            </a:r>
          </a:p>
          <a:p>
            <a:pPr>
              <a:defRPr sz="1300">
                <a:solidFill>
                  <a:srgbClr val="F1F5F9"/>
                </a:solidFill>
              </a:defRPr>
            </a:pPr>
            <a:r>
              <a:t>Dual Continuation Semantics:</a:t>
            </a:r>
            <a:br/>
            <a:r>
              <a:t>• Pending: Commit if A_k &gt; 0, else HOLD.</a:t>
            </a:r>
            <a:br/>
            <a:r>
              <a:t>• Running: Reroute ONLY if Q_reroute &gt; Q_stay.</a:t>
            </a:r>
          </a:p>
        </p:txBody>
      </p:sp>
      <p:sp>
        <p:nvSpPr>
          <p:cNvPr id="11" name="Rounded Rectangle 10"/>
          <p:cNvSpPr/>
          <p:nvPr/>
        </p:nvSpPr>
        <p:spPr>
          <a:xfrm>
            <a:off x="8961120" y="1645920"/>
            <a:ext cx="2468880" cy="4389120"/>
          </a:xfrm>
          <a:prstGeom prst="roundRect">
            <a:avLst/>
          </a:prstGeom>
          <a:solidFill>
            <a:srgbClr val="131A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828800"/>
            <a:ext cx="2194560" cy="4023360"/>
          </a:xfrm>
          <a:prstGeom prst="rect">
            <a:avLst/>
          </a:prstGeom>
          <a:noFill/>
        </p:spPr>
        <p:txBody>
          <a:bodyPr wrap="square">
            <a:spAutoFit/>
          </a:bodyPr>
          <a:lstStyle/>
          <a:p>
            <a:pPr>
              <a:defRPr sz="1500" b="1">
                <a:solidFill>
                  <a:srgbClr val="FBBF24"/>
                </a:solidFill>
              </a:defRPr>
            </a:pPr>
            <a:r>
              <a:t>4. Opportunity Cost Allocator</a:t>
            </a:r>
          </a:p>
          <a:p>
            <a:pPr>
              <a:defRPr sz="1300">
                <a:solidFill>
                  <a:srgbClr val="F1F5F9"/>
                </a:solidFill>
              </a:defRPr>
            </a:pPr>
            <a:r>
              <a:t>Resolves capacity contention using Alternative Scarcity: Priority = A_k * (1 + Δ_k). HOLD competes with bad nodes.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2 • SOLUTION DESIGN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Component 1: Multi-Sensor Bayesian Perception &amp; Stall Sensing</a:t>
            </a:r>
          </a:p>
        </p:txBody>
      </p:sp>
      <p:sp>
        <p:nvSpPr>
          <p:cNvPr id="5" name="Rounded Rectangle 4"/>
          <p:cNvSpPr/>
          <p:nvPr/>
        </p:nvSpPr>
        <p:spPr>
          <a:xfrm>
            <a:off x="731520" y="1463040"/>
            <a:ext cx="5120640" cy="4663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297680"/>
          </a:xfrm>
          <a:prstGeom prst="rect">
            <a:avLst/>
          </a:prstGeom>
          <a:noFill/>
        </p:spPr>
        <p:txBody>
          <a:bodyPr wrap="square">
            <a:spAutoFit/>
          </a:bodyPr>
          <a:lstStyle/>
          <a:p>
            <a:pPr>
              <a:defRPr sz="1600" b="1">
                <a:solidFill>
                  <a:srgbClr val="38BDF8"/>
                </a:solidFill>
              </a:defRPr>
            </a:pPr>
            <a:r>
              <a:t>1. Structural Persistence Prior</a:t>
            </a:r>
          </a:p>
          <a:p>
            <a:pPr>
              <a:defRPr sz="1200">
                <a:solidFill>
                  <a:srgbClr val="F1F5F9"/>
                </a:solidFill>
              </a:defRPr>
            </a:pPr>
            <a:r>
              <a:t>• Avoids overfitting to sandbox failure intervals.</a:t>
            </a:r>
            <a:br/>
            <a:r>
              <a:t>• Transition Matrix P models real-world server persistence:</a:t>
            </a:r>
            <a:br/>
            <a:br/>
            <a:r>
              <a:t>       [ 0.97   0.02   0.01 ]  &lt;- Healthy</a:t>
            </a:r>
            <a:br/>
            <a:r>
              <a:t>  P =  [ 0.08   0.82   0.10 ]  &lt;- Degraded</a:t>
            </a:r>
            <a:br/>
            <a:r>
              <a:t>       [ 0.07   0.05   0.88 ]  &lt;- Down</a:t>
            </a:r>
            <a:br/>
            <a:br/>
            <a:r>
              <a:t>• Prior belief propagation: b_bar_j(t) = P^T * b_j(t-1)</a:t>
            </a:r>
            <a:br/>
            <a:r>
              <a:t>• Preserves recovery pathways: Down nodes can reboot with P = 0.07.</a:t>
            </a:r>
          </a:p>
        </p:txBody>
      </p:sp>
      <p:sp>
        <p:nvSpPr>
          <p:cNvPr id="7" name="Rounded Rectangle 6"/>
          <p:cNvSpPr/>
          <p:nvPr/>
        </p:nvSpPr>
        <p:spPr>
          <a:xfrm>
            <a:off x="6309360" y="1463040"/>
            <a:ext cx="5120640" cy="4663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297680"/>
          </a:xfrm>
          <a:prstGeom prst="rect">
            <a:avLst/>
          </a:prstGeom>
          <a:noFill/>
        </p:spPr>
        <p:txBody>
          <a:bodyPr wrap="square">
            <a:spAutoFit/>
          </a:bodyPr>
          <a:lstStyle/>
          <a:p>
            <a:pPr>
              <a:defRPr sz="1600" b="1">
                <a:solidFill>
                  <a:srgbClr val="34D399"/>
                </a:solidFill>
              </a:defRPr>
            </a:pPr>
            <a:r>
              <a:t>2. Active Execution Stall Sensing</a:t>
            </a:r>
          </a:p>
          <a:p>
            <a:pPr>
              <a:defRPr sz="1200">
                <a:solidFill>
                  <a:srgbClr val="F1F5F9"/>
                </a:solidFill>
              </a:defRPr>
            </a:pPr>
            <a:r>
              <a:t>• Telemetry Likelihood Fusion:</a:t>
            </a:r>
            <a:br/>
            <a:r>
              <a:t>  b_j(t)(s) ∝ b_bar_j(t)(s) * L_hb * L_lat * L_err * L_prog</a:t>
            </a:r>
            <a:br/>
            <a:br/>
            <a:r>
              <a:t>• Task Execution Sensor Innovation:</a:t>
            </a:r>
            <a:br/>
            <a:r>
              <a:t>  - Δd = 1 (Progress Made): Deterministic in Healthy (1.0), possible in Degraded (0.40), impossible in Down (0.001).</a:t>
            </a:r>
            <a:br/>
            <a:r>
              <a:t>  - Δd = 0 (Execution Stall): Rare in Healthy (0.001), common in Degraded (0.60), certain in Down (0.999).</a:t>
            </a:r>
            <a:br/>
            <a:br/>
            <a:r>
              <a:t>• Key Advantage: Dead nodes are detected in 1–2 ticks, long before heartbeat timeouts fire!</a:t>
            </a:r>
            <a:br/>
            <a:r>
              <a:t>• Result: -84.2% reduction in dead-node traffic.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2 • SOLUTION DESIGN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Component 2: Optimal Stopping with Dual Continuation Semantics</a:t>
            </a:r>
          </a:p>
        </p:txBody>
      </p:sp>
      <p:sp>
        <p:nvSpPr>
          <p:cNvPr id="5" name="Rounded Rectangle 4"/>
          <p:cNvSpPr/>
          <p:nvPr/>
        </p:nvSpPr>
        <p:spPr>
          <a:xfrm>
            <a:off x="731520" y="1463040"/>
            <a:ext cx="5120640" cy="4663440"/>
          </a:xfrm>
          <a:prstGeom prst="roundRect">
            <a:avLst/>
          </a:prstGeom>
          <a:solidFill>
            <a:srgbClr val="131A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297680"/>
          </a:xfrm>
          <a:prstGeom prst="rect">
            <a:avLst/>
          </a:prstGeom>
          <a:noFill/>
        </p:spPr>
        <p:txBody>
          <a:bodyPr wrap="square">
            <a:spAutoFit/>
          </a:bodyPr>
          <a:lstStyle/>
          <a:p>
            <a:pPr>
              <a:defRPr sz="1600" b="1">
                <a:solidFill>
                  <a:srgbClr val="38BDF8"/>
                </a:solidFill>
              </a:defRPr>
            </a:pPr>
            <a:r>
              <a:t>A. Pending Tasks (COMMIT vs HOLD)</a:t>
            </a:r>
          </a:p>
          <a:p>
            <a:pPr>
              <a:defRPr sz="1200">
                <a:solidFill>
                  <a:srgbClr val="F1F5F9"/>
                </a:solidFill>
              </a:defRPr>
            </a:pPr>
            <a:r>
              <a:t>• Balances immediate commitment against holding cost:</a:t>
            </a:r>
            <a:br/>
            <a:br/>
            <a:r>
              <a:t>  C_k(t) = max_{j} Q(k, j)       [Best Commitment]</a:t>
            </a:r>
            <a:br/>
            <a:r>
              <a:t>  H_k(t) = -c_hold + E[V_k(t+1)]  [Continuation Value]</a:t>
            </a:r>
            <a:br/>
            <a:r>
              <a:t>  c_hold = 0.01/step              [True Env Penalty]</a:t>
            </a:r>
            <a:br/>
            <a:br/>
            <a:r>
              <a:t>• Stopping Advantage: A_k(t) = C_k(t) - H_k(t)</a:t>
            </a:r>
            <a:br/>
            <a:br/>
            <a:r>
              <a:t>• DECISION RULE:</a:t>
            </a:r>
            <a:br/>
            <a:r>
              <a:t>  - If A_k(t) &gt; 0: COMMIT to best available node.</a:t>
            </a:r>
            <a:br/>
            <a:r>
              <a:t>  - If A_k(t) &lt;= 0: HOLD in queue to gather cleaner telemetry.</a:t>
            </a:r>
            <a:br/>
            <a:br/>
            <a:r>
              <a:t>• Dynamic Urgency: As slack shrinks to 0, H_k crashes, naturally forcing commitment!</a:t>
            </a:r>
          </a:p>
        </p:txBody>
      </p:sp>
      <p:sp>
        <p:nvSpPr>
          <p:cNvPr id="7" name="Rounded Rectangle 6"/>
          <p:cNvSpPr/>
          <p:nvPr/>
        </p:nvSpPr>
        <p:spPr>
          <a:xfrm>
            <a:off x="6309360" y="1463040"/>
            <a:ext cx="5120640" cy="4663440"/>
          </a:xfrm>
          <a:prstGeom prst="roundRect">
            <a:avLst/>
          </a:prstGeom>
          <a:solidFill>
            <a:srgbClr val="131A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297680"/>
          </a:xfrm>
          <a:prstGeom prst="rect">
            <a:avLst/>
          </a:prstGeom>
          <a:noFill/>
        </p:spPr>
        <p:txBody>
          <a:bodyPr wrap="square">
            <a:spAutoFit/>
          </a:bodyPr>
          <a:lstStyle/>
          <a:p>
            <a:pPr>
              <a:defRPr sz="1600" b="1">
                <a:solidFill>
                  <a:srgbClr val="34D399"/>
                </a:solidFill>
              </a:defRPr>
            </a:pPr>
            <a:r>
              <a:t>B. Running Tasks (STAY vs REROUTE)</a:t>
            </a:r>
          </a:p>
          <a:p>
            <a:pPr>
              <a:defRPr sz="1200">
                <a:solidFill>
                  <a:srgbClr val="F1F5F9"/>
                </a:solidFill>
              </a:defRPr>
            </a:pPr>
            <a:r>
              <a:t>• Crucial Physical Distinction: Running tasks do NOT incur unassigned holding costs!</a:t>
            </a:r>
            <a:br/>
            <a:br/>
            <a:r>
              <a:t>  Q_stay = Q(k, c_k, duration = remaining_d)</a:t>
            </a:r>
            <a:br/>
            <a:r>
              <a:t>  Q_reroute = max_{j != c_k} Q(k, j, duration = d_orig)</a:t>
            </a:r>
            <a:br/>
            <a:br/>
            <a:r>
              <a:t>• The Cold-Restart Barrier:</a:t>
            </a:r>
            <a:br/>
            <a:r>
              <a:t>  Rerouting resets duration to d_orig. Thus, accumulated progress is naturally embedded into Q_reroute.</a:t>
            </a:r>
            <a:br/>
            <a:br/>
            <a:r>
              <a:t>• DECISION RULE:</a:t>
            </a:r>
            <a:br/>
            <a:r>
              <a:t>  - REROUTE only if Q_reroute &gt; Q_stay.</a:t>
            </a:r>
            <a:br/>
            <a:br/>
            <a:r>
              <a:t>• ZERO Arbitrary Epsilon Thresholds: Anti-churn hysteresis is derived purely from the economics of progress loss!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2 • SOLUTION DESIGN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Component 3: Capacity Contention &amp; Opportunity Cost Pricing</a:t>
            </a:r>
          </a:p>
        </p:txBody>
      </p:sp>
      <p:sp>
        <p:nvSpPr>
          <p:cNvPr id="5" name="Rounded Rectangle 4"/>
          <p:cNvSpPr/>
          <p:nvPr/>
        </p:nvSpPr>
        <p:spPr>
          <a:xfrm>
            <a:off x="731520" y="1463040"/>
            <a:ext cx="5120640" cy="4663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297680"/>
          </a:xfrm>
          <a:prstGeom prst="rect">
            <a:avLst/>
          </a:prstGeom>
          <a:noFill/>
        </p:spPr>
        <p:txBody>
          <a:bodyPr wrap="square">
            <a:spAutoFit/>
          </a:bodyPr>
          <a:lstStyle/>
          <a:p>
            <a:pPr>
              <a:defRPr sz="1600" b="1">
                <a:solidFill>
                  <a:srgbClr val="38BDF8"/>
                </a:solidFill>
              </a:defRPr>
            </a:pPr>
            <a:r>
              <a:t>Alternative Scarcity Metric (Δ_k)</a:t>
            </a:r>
          </a:p>
          <a:p>
            <a:pPr>
              <a:defRPr sz="1200">
                <a:solidFill>
                  <a:srgbClr val="F1F5F9"/>
                </a:solidFill>
              </a:defRPr>
            </a:pPr>
            <a:r>
              <a:t>• Problem: Multiple tasks have A_k &gt; 0, but node capacity C_max is strictly limited.</a:t>
            </a:r>
            <a:br/>
            <a:br/>
            <a:r>
              <a:t>• Opportunity Cost Formulation:</a:t>
            </a:r>
            <a:br/>
            <a:r>
              <a:t>  Δ_k = Q(k, j_1) - Q(k, j_2)   [Gap between 1st and 2nd best nodes]</a:t>
            </a:r>
            <a:br/>
            <a:br/>
            <a:r>
              <a:t>• Priority Weighting:</a:t>
            </a:r>
            <a:br/>
            <a:r>
              <a:t>  Priority_k = A_k * (1.0 + Δ_k)</a:t>
            </a:r>
            <a:br/>
            <a:br/>
            <a:r>
              <a:t>• Why it works:</a:t>
            </a:r>
            <a:br/>
            <a:r>
              <a:t>  - High Δ_k: Task has NO viable fallback (must be scheduled now on preferred node).</a:t>
            </a:r>
            <a:br/>
            <a:r>
              <a:t>  - Low Δ_k: Task is flexible and can gracefully fall back to alternative nodes.</a:t>
            </a:r>
          </a:p>
        </p:txBody>
      </p:sp>
      <p:sp>
        <p:nvSpPr>
          <p:cNvPr id="7" name="Rounded Rectangle 6"/>
          <p:cNvSpPr/>
          <p:nvPr/>
        </p:nvSpPr>
        <p:spPr>
          <a:xfrm>
            <a:off x="6309360" y="1463040"/>
            <a:ext cx="5120640" cy="4663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297680"/>
          </a:xfrm>
          <a:prstGeom prst="rect">
            <a:avLst/>
          </a:prstGeom>
          <a:noFill/>
        </p:spPr>
        <p:txBody>
          <a:bodyPr wrap="square">
            <a:spAutoFit/>
          </a:bodyPr>
          <a:lstStyle/>
          <a:p>
            <a:pPr>
              <a:defRPr sz="1600" b="1">
                <a:solidFill>
                  <a:srgbClr val="34D399"/>
                </a:solidFill>
              </a:defRPr>
            </a:pPr>
            <a:r>
              <a:t>Allocation Logic in Action</a:t>
            </a:r>
          </a:p>
          <a:p>
            <a:pPr>
              <a:defRPr sz="1200">
                <a:solidFill>
                  <a:srgbClr val="F1F5F9"/>
                </a:solidFill>
              </a:defRPr>
            </a:pPr>
            <a:r>
              <a:t>• Concrete Example:</a:t>
            </a:r>
            <a:br/>
            <a:r>
              <a:t>  - Task A: Node 2 (Q=0.91), Node 3 (Q=0.10) =&gt; Δ_A = 0.81 (Scarce!)</a:t>
            </a:r>
            <a:br/>
            <a:r>
              <a:t>  - Task B: Node 2 (Q=0.90), Node 3 (Q=0.89) =&gt; Δ_B = 0.01 (Flexible!)</a:t>
            </a:r>
            <a:br/>
            <a:r>
              <a:t>  =&gt; Task A receives Node 2; Task B gracefully takes Node 3.</a:t>
            </a:r>
            <a:br/>
            <a:br/>
            <a:r>
              <a:t>• HOLD Competes with Low-Quality Nodes:</a:t>
            </a:r>
            <a:br/>
            <a:r>
              <a:t>  If all healthy nodes are full, candidate fallback nodes may have Q_fallback &lt;= H_k.</a:t>
            </a:r>
            <a:br/>
            <a:r>
              <a:t>  Rather than dumping the task onto a degraded node, the agent chooses to HOLD.</a:t>
            </a:r>
            <a:br/>
            <a:br/>
            <a:r>
              <a:t>• Result: Maximizes global throughput while preventing cluster congestion.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3 • RESULTS &amp; VALIDATION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Empirical Benchmark Proof: 5-Seed Validation</a:t>
            </a:r>
          </a:p>
        </p:txBody>
      </p:sp>
      <p:sp>
        <p:nvSpPr>
          <p:cNvPr id="5" name="Rounded Rectangle 4"/>
          <p:cNvSpPr/>
          <p:nvPr/>
        </p:nvSpPr>
        <p:spPr>
          <a:xfrm>
            <a:off x="731520" y="1463040"/>
            <a:ext cx="10698480" cy="2377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2194560"/>
          </a:xfrm>
          <a:prstGeom prst="rect">
            <a:avLst/>
          </a:prstGeom>
          <a:noFill/>
        </p:spPr>
        <p:txBody>
          <a:bodyPr wrap="square">
            <a:spAutoFit/>
          </a:bodyPr>
          <a:lstStyle/>
          <a:p>
            <a:pPr>
              <a:defRPr sz="1400" b="1">
                <a:solidFill>
                  <a:srgbClr val="38BDF8"/>
                </a:solidFill>
              </a:defRPr>
            </a:pPr>
            <a:r>
              <a:t>CANONICAL 5-SEED BENCHMARK (Default Sandbox: 2,000 Steps)</a:t>
            </a:r>
          </a:p>
          <a:p>
            <a:pPr>
              <a:defRPr sz="1100">
                <a:solidFill>
                  <a:srgbClr val="F1F5F9"/>
                </a:solidFill>
                <a:latin typeface="Consolas"/>
              </a:defRPr>
            </a:pPr>
            <a:r>
              <a:t>Metric                         | Baseline (Round-Robin) | ACT Adaptive Agent     | Net Improvement</a:t>
            </a:r>
            <a:br/>
            <a:r>
              <a:t>-------------------------------|------------------------|------------------------|------------------------</a:t>
            </a:r>
            <a:br/>
            <a:r>
              <a:t>Task Completion Rate           | 86.1% (3,563 tasks)    | 98.1% (4,034 tasks)    | +13.2% net (+471 tasks)</a:t>
            </a:r>
            <a:br/>
            <a:r>
              <a:t>Missed Deadlines / Failures    | 577 tasks              | 79 tasks               | -86.3% failures</a:t>
            </a:r>
            <a:br/>
            <a:r>
              <a:t>Traffic Sent to Dead Nodes     | 644 assignments        | 102 assignments        | -84.2% dead traffic</a:t>
            </a:r>
            <a:br/>
            <a:r>
              <a:t>Per-Step Compute Time          | &lt; 0.05 ms              | 0.234 ms/step          | 4x faster than 1.0ms</a:t>
            </a:r>
          </a:p>
        </p:txBody>
      </p:sp>
      <p:sp>
        <p:nvSpPr>
          <p:cNvPr id="7" name="Rounded Rectangle 6"/>
          <p:cNvSpPr/>
          <p:nvPr/>
        </p:nvSpPr>
        <p:spPr>
          <a:xfrm>
            <a:off x="731520" y="4114800"/>
            <a:ext cx="3383280" cy="2011680"/>
          </a:xfrm>
          <a:prstGeom prst="roundRect">
            <a:avLst/>
          </a:prstGeom>
          <a:solidFill>
            <a:srgbClr val="131A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251960"/>
            <a:ext cx="3108960" cy="1737360"/>
          </a:xfrm>
          <a:prstGeom prst="rect">
            <a:avLst/>
          </a:prstGeom>
          <a:noFill/>
        </p:spPr>
        <p:txBody>
          <a:bodyPr wrap="square">
            <a:spAutoFit/>
          </a:bodyPr>
          <a:lstStyle/>
          <a:p>
            <a:pPr>
              <a:defRPr sz="1500" b="1">
                <a:solidFill>
                  <a:srgbClr val="34D399"/>
                </a:solidFill>
              </a:defRPr>
            </a:pPr>
            <a:r>
              <a:t>Seed Consistency</a:t>
            </a:r>
          </a:p>
          <a:p>
            <a:pPr>
              <a:defRPr sz="1200">
                <a:solidFill>
                  <a:srgbClr val="F1F5F9"/>
                </a:solidFill>
              </a:defRPr>
            </a:pPr>
            <a:r>
              <a:t>Across all 5 seeds, ACT consistently achieved 97.4% to 98.5% completion. Baseline swung wildly from 80.0% to 89.4%.</a:t>
            </a:r>
          </a:p>
        </p:txBody>
      </p:sp>
      <p:sp>
        <p:nvSpPr>
          <p:cNvPr id="9" name="Rounded Rectangle 8"/>
          <p:cNvSpPr/>
          <p:nvPr/>
        </p:nvSpPr>
        <p:spPr>
          <a:xfrm>
            <a:off x="4389120" y="4114800"/>
            <a:ext cx="3383280" cy="2011680"/>
          </a:xfrm>
          <a:prstGeom prst="roundRect">
            <a:avLst/>
          </a:prstGeom>
          <a:solidFill>
            <a:srgbClr val="131A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251960"/>
            <a:ext cx="3108960" cy="1737360"/>
          </a:xfrm>
          <a:prstGeom prst="rect">
            <a:avLst/>
          </a:prstGeom>
          <a:noFill/>
        </p:spPr>
        <p:txBody>
          <a:bodyPr wrap="square">
            <a:spAutoFit/>
          </a:bodyPr>
          <a:lstStyle/>
          <a:p>
            <a:pPr>
              <a:defRPr sz="1500" b="1">
                <a:solidFill>
                  <a:srgbClr val="38BDF8"/>
                </a:solidFill>
              </a:defRPr>
            </a:pPr>
            <a:r>
              <a:t>Failure Suppression</a:t>
            </a:r>
          </a:p>
          <a:p>
            <a:pPr>
              <a:defRPr sz="1200">
                <a:solidFill>
                  <a:srgbClr val="F1F5F9"/>
                </a:solidFill>
              </a:defRPr>
            </a:pPr>
            <a:r>
              <a:t>Missed deadlines dropped from 577 down to 79. That is an 86.3% reduction in lost tasks across the cluster.</a:t>
            </a:r>
          </a:p>
        </p:txBody>
      </p:sp>
      <p:sp>
        <p:nvSpPr>
          <p:cNvPr id="11" name="Rounded Rectangle 10"/>
          <p:cNvSpPr/>
          <p:nvPr/>
        </p:nvSpPr>
        <p:spPr>
          <a:xfrm>
            <a:off x="8046720" y="4114800"/>
            <a:ext cx="3383280" cy="2011680"/>
          </a:xfrm>
          <a:prstGeom prst="roundRect">
            <a:avLst/>
          </a:prstGeom>
          <a:solidFill>
            <a:srgbClr val="131A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4251960"/>
            <a:ext cx="3108960" cy="1737360"/>
          </a:xfrm>
          <a:prstGeom prst="rect">
            <a:avLst/>
          </a:prstGeom>
          <a:noFill/>
        </p:spPr>
        <p:txBody>
          <a:bodyPr wrap="square">
            <a:spAutoFit/>
          </a:bodyPr>
          <a:lstStyle/>
          <a:p>
            <a:pPr>
              <a:defRPr sz="1500" b="1">
                <a:solidFill>
                  <a:srgbClr val="FBBF24"/>
                </a:solidFill>
              </a:defRPr>
            </a:pPr>
            <a:r>
              <a:t>Real-Time Feasibility</a:t>
            </a:r>
          </a:p>
          <a:p>
            <a:pPr>
              <a:defRPr sz="1200">
                <a:solidFill>
                  <a:srgbClr val="F1F5F9"/>
                </a:solidFill>
              </a:defRPr>
            </a:pPr>
            <a:r>
              <a:t>Average compute time of 0.234 ms per step is 4x faster than the 1.0 ms real-time evaluation limit. Zero lag.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3 • RESULTS &amp; VALIDATION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Generalization &amp; Stress-Testing Across 5 Cluster Topologies</a:t>
            </a:r>
          </a:p>
        </p:txBody>
      </p:sp>
      <p:sp>
        <p:nvSpPr>
          <p:cNvPr id="5" name="Rounded Rectangle 4"/>
          <p:cNvSpPr/>
          <p:nvPr/>
        </p:nvSpPr>
        <p:spPr>
          <a:xfrm>
            <a:off x="731520" y="1463040"/>
            <a:ext cx="10698480" cy="4663440"/>
          </a:xfrm>
          <a:prstGeom prst="roundRect">
            <a:avLst/>
          </a:prstGeom>
          <a:solidFill>
            <a:srgbClr val="131A2A"/>
          </a:solidFill>
          <a:ln w="19050">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32720" cy="4297680"/>
          </a:xfrm>
          <a:prstGeom prst="rect">
            <a:avLst/>
          </a:prstGeom>
          <a:noFill/>
        </p:spPr>
        <p:txBody>
          <a:bodyPr wrap="square">
            <a:spAutoFit/>
          </a:bodyPr>
          <a:lstStyle/>
          <a:p>
            <a:pPr>
              <a:defRPr sz="1400" b="1">
                <a:solidFill>
                  <a:srgbClr val="38BDF8"/>
                </a:solidFill>
              </a:defRPr>
            </a:pPr>
            <a:r>
              <a:t>STRESS-TEST RESULTS ACROSS DIVERSE TOPOLOGIES (No Hyperparameter Retuning)</a:t>
            </a:r>
          </a:p>
          <a:p>
            <a:pPr>
              <a:defRPr sz="1100">
                <a:solidFill>
                  <a:srgbClr val="F1F5F9"/>
                </a:solidFill>
                <a:latin typeface="Consolas"/>
              </a:defRPr>
            </a:pPr>
            <a:r>
              <a:t>Scenario              | Configuration             | Baseline | ACT Agent | Net Gain   | Dead Traffic Drop</a:t>
            </a:r>
            <a:br/>
            <a:r>
              <a:t>----------------------|---------------------------|----------|-----------|------------|------------------</a:t>
            </a:r>
            <a:br/>
            <a:r>
              <a:t>1. Default Sandbox    | N=6, Cap=4, λ=2.0         | 87.7%    | 98.2%     | +10.5%     | -81.8%</a:t>
            </a:r>
            <a:br/>
            <a:r>
              <a:t>2. Small Constrained  | N=4, Cap=3, λ=1.5         | 66.4%    | 76.5%     | +10.1%     | -96.7%</a:t>
            </a:r>
            <a:br/>
            <a:r>
              <a:t>3. Large Multi-Node   | N=10, Cap=5, λ=3.0        | 84.0%    | 99.1%     | +15.1%     | -91.0% (+624 tasks!)</a:t>
            </a:r>
            <a:br/>
            <a:r>
              <a:t>4. Tight Deadlines    | N=6, Slack 2-5, λ=2.0     | 76.3%    | 95.6%     | +19.3%     | -94.5% (+516 tasks!)</a:t>
            </a:r>
            <a:br/>
            <a:r>
              <a:t>5. Heavy Traffic      | N=6, Cap=4, λ=3.5 (Burst) | 78.6%    | 76.1%     | Saturated  | -96.8%</a:t>
            </a:r>
            <a:br/>
            <a:br/>
            <a:r>
              <a:t>KEY TAKEAWAYS:</a:t>
            </a:r>
            <a:br/>
            <a:r>
              <a:t>• Scalability: On a 10-node cluster, ACT scales effortlessly to 99.1% completion, saving 624 tasks.</a:t>
            </a:r>
            <a:br/>
            <a:r>
              <a:t>• Urgency Robustness: When slack was slashed to 2–5 ticks, ACT provided a massive +19.3% boost because execution stall sensing detected failures before deadlines expired.</a:t>
            </a:r>
            <a:br/>
            <a:r>
              <a:t>• Safety: Dead-node traffic dropped by 81.8% to 96.8% across EVERY tested regime.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4 • ENGINEERING &amp; DEPLOYMENT</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Production Engineering, Packaging &amp; Observability</a:t>
            </a:r>
          </a:p>
        </p:txBody>
      </p:sp>
      <p:sp>
        <p:nvSpPr>
          <p:cNvPr id="5" name="Rounded Rectangle 4"/>
          <p:cNvSpPr/>
          <p:nvPr/>
        </p:nvSpPr>
        <p:spPr>
          <a:xfrm>
            <a:off x="731520" y="1463040"/>
            <a:ext cx="5120640" cy="4663440"/>
          </a:xfrm>
          <a:prstGeom prst="roundRect">
            <a:avLst/>
          </a:prstGeom>
          <a:solidFill>
            <a:srgbClr val="131A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297680"/>
          </a:xfrm>
          <a:prstGeom prst="rect">
            <a:avLst/>
          </a:prstGeom>
          <a:noFill/>
        </p:spPr>
        <p:txBody>
          <a:bodyPr wrap="square">
            <a:spAutoFit/>
          </a:bodyPr>
          <a:lstStyle/>
          <a:p>
            <a:pPr>
              <a:defRPr sz="1600" b="1">
                <a:solidFill>
                  <a:srgbClr val="34D399"/>
                </a:solidFill>
              </a:defRPr>
            </a:pPr>
            <a:r>
              <a:t>1. Zero-Dependency Standalone Agent</a:t>
            </a:r>
          </a:p>
          <a:p>
            <a:pPr>
              <a:defRPr sz="1200">
                <a:solidFill>
                  <a:srgbClr val="F1F5F9"/>
                </a:solidFill>
              </a:defRPr>
            </a:pPr>
            <a:r>
              <a:t>• File: standalone_submission.py (35.6 KB)</a:t>
            </a:r>
            <a:br/>
            <a:r>
              <a:t>• 100% Pure Python Standard Library (math, collections, typing).</a:t>
            </a:r>
            <a:br/>
            <a:r>
              <a:t>• Evaluator Compliance:</a:t>
            </a:r>
            <a:br/>
            <a:r>
              <a:t>  - Passed all 5 automated checks in verify_submission.py.</a:t>
            </a:r>
            <a:br/>
            <a:r>
              <a:t>  - Imports cleanly with no external package requirements.</a:t>
            </a:r>
            <a:br/>
            <a:r>
              <a:t>  - Compatible with any standard Python 3.9+ runtime.</a:t>
            </a:r>
            <a:br/>
            <a:br/>
            <a:r>
              <a:t>• Ultra-Low Footprint:</a:t>
            </a:r>
            <a:br/>
            <a:r>
              <a:t>  - Zero GPU / PyTorch overhead.</a:t>
            </a:r>
            <a:br/>
            <a:r>
              <a:t>  - Microsecond latency (0.234 ms/step).</a:t>
            </a:r>
            <a:br/>
            <a:r>
              <a:t>  - Deterministic execution across all seeds.</a:t>
            </a:r>
          </a:p>
        </p:txBody>
      </p:sp>
      <p:sp>
        <p:nvSpPr>
          <p:cNvPr id="7" name="Rounded Rectangle 6"/>
          <p:cNvSpPr/>
          <p:nvPr/>
        </p:nvSpPr>
        <p:spPr>
          <a:xfrm>
            <a:off x="6309360" y="1463040"/>
            <a:ext cx="5120640" cy="4663440"/>
          </a:xfrm>
          <a:prstGeom prst="roundRect">
            <a:avLst/>
          </a:prstGeom>
          <a:solidFill>
            <a:srgbClr val="131A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297680"/>
          </a:xfrm>
          <a:prstGeom prst="rect">
            <a:avLst/>
          </a:prstGeom>
          <a:noFill/>
        </p:spPr>
        <p:txBody>
          <a:bodyPr wrap="square">
            <a:spAutoFit/>
          </a:bodyPr>
          <a:lstStyle/>
          <a:p>
            <a:pPr>
              <a:defRPr sz="1600" b="1">
                <a:solidFill>
                  <a:srgbClr val="38BDF8"/>
                </a:solidFill>
              </a:defRPr>
            </a:pPr>
            <a:r>
              <a:t>2. Live SRE Observability Dashboard</a:t>
            </a:r>
          </a:p>
          <a:p>
            <a:pPr>
              <a:defRPr sz="1200">
                <a:solidFill>
                  <a:srgbClr val="F1F5F9"/>
                </a:solidFill>
              </a:defRPr>
            </a:pPr>
            <a:r>
              <a:t>• Live URL: http://localhost:7777/dashboard</a:t>
            </a:r>
            <a:br/>
            <a:br/>
            <a:r>
              <a:t>• Real-Time Side-by-Side Battle Arena:</a:t>
            </a:r>
            <a:br/>
            <a:r>
              <a:t>  Live Chart.js plots comparing ACT vs. Baseline curves.</a:t>
            </a:r>
            <a:br/>
            <a:br/>
            <a:r>
              <a:t>• Real-Time Bayesian Health Matrix:</a:t>
            </a:r>
            <a:br/>
            <a:r>
              <a:t>  Inspects instantaneous beliefs [P(H), P(D), P(X)] per node.</a:t>
            </a:r>
            <a:br/>
            <a:br/>
            <a:r>
              <a:t>• Automated Root Cause Analysis (RCA):</a:t>
            </a:r>
            <a:br/>
            <a:r>
              <a:t>  Generates structured incident diagnosis reports in &lt; 0.1 ms.</a:t>
            </a:r>
            <a:br/>
            <a:br/>
            <a:r>
              <a:t>• Human-in-the-Loop Explainability:</a:t>
            </a:r>
            <a:br/>
            <a:r>
              <a:t>  Provides cluster operators with complete mathematical transparency.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4 • TECHNICAL RIGOR</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Judge Defense Playbook: Prepared Technical Justifications</a:t>
            </a:r>
          </a:p>
        </p:txBody>
      </p:sp>
      <p:sp>
        <p:nvSpPr>
          <p:cNvPr id="5" name="Rounded Rectangle 4"/>
          <p:cNvSpPr/>
          <p:nvPr/>
        </p:nvSpPr>
        <p:spPr>
          <a:xfrm>
            <a:off x="731520" y="1645920"/>
            <a:ext cx="5120640" cy="2103120"/>
          </a:xfrm>
          <a:prstGeom prst="roundRect">
            <a:avLst/>
          </a:prstGeom>
          <a:solidFill>
            <a:srgbClr val="131A2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1828800"/>
          </a:xfrm>
          <a:prstGeom prst="rect">
            <a:avLst/>
          </a:prstGeom>
          <a:noFill/>
        </p:spPr>
        <p:txBody>
          <a:bodyPr wrap="square">
            <a:spAutoFit/>
          </a:bodyPr>
          <a:lstStyle/>
          <a:p>
            <a:pPr>
              <a:defRPr sz="1300" b="1">
                <a:solidFill>
                  <a:srgbClr val="F87171"/>
                </a:solidFill>
              </a:defRPr>
            </a:pPr>
            <a:r>
              <a:t>Q: Why not Deep Reinforcement Learning (PPO/DQN)?</a:t>
            </a:r>
          </a:p>
          <a:p>
            <a:pPr>
              <a:defRPr sz="1100">
                <a:solidFill>
                  <a:srgbClr val="F1F5F9"/>
                </a:solidFill>
              </a:defRPr>
            </a:pPr>
            <a:r>
              <a:t>A: Non-stationary state under node drops breaks Markov property; exploration drops tasks in production; inference latency &gt; 10ms vs 0.23ms ACT; uninterpretable black-box.</a:t>
            </a:r>
          </a:p>
        </p:txBody>
      </p:sp>
      <p:sp>
        <p:nvSpPr>
          <p:cNvPr id="7" name="Rounded Rectangle 6"/>
          <p:cNvSpPr/>
          <p:nvPr/>
        </p:nvSpPr>
        <p:spPr>
          <a:xfrm>
            <a:off x="6309360" y="1645920"/>
            <a:ext cx="5120640" cy="2103120"/>
          </a:xfrm>
          <a:prstGeom prst="roundRect">
            <a:avLst/>
          </a:prstGeom>
          <a:solidFill>
            <a:srgbClr val="131A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83080"/>
            <a:ext cx="4754880" cy="1828800"/>
          </a:xfrm>
          <a:prstGeom prst="rect">
            <a:avLst/>
          </a:prstGeom>
          <a:noFill/>
        </p:spPr>
        <p:txBody>
          <a:bodyPr wrap="square">
            <a:spAutoFit/>
          </a:bodyPr>
          <a:lstStyle/>
          <a:p>
            <a:pPr>
              <a:defRPr sz="1300" b="1">
                <a:solidFill>
                  <a:srgbClr val="FBBF24"/>
                </a:solidFill>
              </a:defRPr>
            </a:pPr>
            <a:r>
              <a:t>Q: Why not Hungarian / Bipartite Matching?</a:t>
            </a:r>
          </a:p>
          <a:p>
            <a:pPr>
              <a:defRPr sz="1100">
                <a:solidFill>
                  <a:srgbClr val="F1F5F9"/>
                </a:solidFill>
              </a:defRPr>
            </a:pPr>
            <a:r>
              <a:t>A: Hungarian is static-spatial and assumes fixed cost matrix. It cannot model the OPTION TO HOLD. ACT uses temporal optimal stopping with dual continuation.</a:t>
            </a:r>
          </a:p>
        </p:txBody>
      </p:sp>
      <p:sp>
        <p:nvSpPr>
          <p:cNvPr id="9" name="Rounded Rectangle 8"/>
          <p:cNvSpPr/>
          <p:nvPr/>
        </p:nvSpPr>
        <p:spPr>
          <a:xfrm>
            <a:off x="731520" y="4114800"/>
            <a:ext cx="5120640" cy="2103120"/>
          </a:xfrm>
          <a:prstGeom prst="roundRect">
            <a:avLst/>
          </a:prstGeom>
          <a:solidFill>
            <a:srgbClr val="131A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1828800"/>
          </a:xfrm>
          <a:prstGeom prst="rect">
            <a:avLst/>
          </a:prstGeom>
          <a:noFill/>
        </p:spPr>
        <p:txBody>
          <a:bodyPr wrap="square">
            <a:spAutoFit/>
          </a:bodyPr>
          <a:lstStyle/>
          <a:p>
            <a:pPr>
              <a:defRPr sz="1300" b="1">
                <a:solidFill>
                  <a:srgbClr val="34D399"/>
                </a:solidFill>
              </a:defRPr>
            </a:pPr>
            <a:r>
              <a:t>Q: Why no arbitrary epsilon for rerouting?</a:t>
            </a:r>
          </a:p>
          <a:p>
            <a:pPr>
              <a:defRPr sz="1100">
                <a:solidFill>
                  <a:srgbClr val="F1F5F9"/>
                </a:solidFill>
              </a:defRPr>
            </a:pPr>
            <a:r>
              <a:t>A: Epsilon values overfit. ACT embeds cold-restart progress loss directly into Q_reroute. Progress loss acts as a natural economic barrier against churn.</a:t>
            </a:r>
          </a:p>
        </p:txBody>
      </p:sp>
      <p:sp>
        <p:nvSpPr>
          <p:cNvPr id="11" name="Rounded Rectangle 10"/>
          <p:cNvSpPr/>
          <p:nvPr/>
        </p:nvSpPr>
        <p:spPr>
          <a:xfrm>
            <a:off x="6309360" y="4114800"/>
            <a:ext cx="5120640" cy="2103120"/>
          </a:xfrm>
          <a:prstGeom prst="roundRect">
            <a:avLst/>
          </a:prstGeom>
          <a:solidFill>
            <a:srgbClr val="131A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51960"/>
            <a:ext cx="4754880" cy="1828800"/>
          </a:xfrm>
          <a:prstGeom prst="rect">
            <a:avLst/>
          </a:prstGeom>
          <a:noFill/>
        </p:spPr>
        <p:txBody>
          <a:bodyPr wrap="square">
            <a:spAutoFit/>
          </a:bodyPr>
          <a:lstStyle/>
          <a:p>
            <a:pPr>
              <a:defRPr sz="1300" b="1">
                <a:solidFill>
                  <a:srgbClr val="38BDF8"/>
                </a:solidFill>
              </a:defRPr>
            </a:pPr>
            <a:r>
              <a:t>Q: How do you handle simultaneous node failures?</a:t>
            </a:r>
          </a:p>
          <a:p>
            <a:pPr>
              <a:defRPr sz="1100">
                <a:solidFill>
                  <a:srgbClr val="F1F5F9"/>
                </a:solidFill>
              </a:defRPr>
            </a:pPr>
            <a:r>
              <a:t>A: Beliefs update independently per node. In severe clusters, HOLD competes with degraded nodes, preventing tasks from being sacrificed during cascading outages.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38BDF8"/>
                </a:solidFill>
                <a:latin typeface="Segoe UI"/>
              </a:defRPr>
            </a:pPr>
            <a:r>
              <a:t>SECTION 4 • CONCLUSION &amp; ROADMAP</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1F5F9"/>
                </a:solidFill>
                <a:latin typeface="Segoe UI"/>
              </a:defRPr>
            </a:pPr>
            <a:r>
              <a:t>Review 1 Summary &amp; Milestone 2 Roadmap</a:t>
            </a:r>
          </a:p>
        </p:txBody>
      </p:sp>
      <p:sp>
        <p:nvSpPr>
          <p:cNvPr id="5" name="Rounded Rectangle 4"/>
          <p:cNvSpPr/>
          <p:nvPr/>
        </p:nvSpPr>
        <p:spPr>
          <a:xfrm>
            <a:off x="731520" y="1463040"/>
            <a:ext cx="5120640" cy="4663440"/>
          </a:xfrm>
          <a:prstGeom prst="roundRect">
            <a:avLst/>
          </a:prstGeom>
          <a:solidFill>
            <a:srgbClr val="131A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297680"/>
          </a:xfrm>
          <a:prstGeom prst="rect">
            <a:avLst/>
          </a:prstGeom>
          <a:noFill/>
        </p:spPr>
        <p:txBody>
          <a:bodyPr wrap="square">
            <a:spAutoFit/>
          </a:bodyPr>
          <a:lstStyle/>
          <a:p>
            <a:pPr>
              <a:defRPr sz="1600" b="1">
                <a:solidFill>
                  <a:srgbClr val="34D399"/>
                </a:solidFill>
              </a:defRPr>
            </a:pPr>
            <a:r>
              <a:t>Review 1 Accomplishments (100% Complete)</a:t>
            </a:r>
          </a:p>
          <a:p>
            <a:pPr>
              <a:defRPr sz="1200">
                <a:solidFill>
                  <a:srgbClr val="F1F5F9"/>
                </a:solidFill>
              </a:defRPr>
            </a:pPr>
            <a:r>
              <a:t>✔ Problem Physics Audited: Full mathematical audit of hidden Markov states, noisy telemetry, and penalty structures.</a:t>
            </a:r>
            <a:br/>
            <a:br/>
            <a:r>
              <a:t>✔ Solution Formulated: Adaptive Commitment Timing (ACT) with dual continuation semantics and opportunity cost.</a:t>
            </a:r>
            <a:br/>
            <a:br/>
            <a:r>
              <a:t>✔ Active Sensing: Bayesian 3-state HMM with active execution progress stall sensing.</a:t>
            </a:r>
            <a:br/>
            <a:br/>
            <a:r>
              <a:t>✔ Empirical Validation: 98.1% completion rate, -86.3% deadline misses, -84.2% dead traffic across 2,000 steps.</a:t>
            </a:r>
            <a:br/>
            <a:br/>
            <a:r>
              <a:t>✔ Standalone Submission &amp; SRE Dashboard: 35.6 KB zero-dependency bundle and live Chart.js dashboard.</a:t>
            </a:r>
          </a:p>
        </p:txBody>
      </p:sp>
      <p:sp>
        <p:nvSpPr>
          <p:cNvPr id="7" name="Rounded Rectangle 6"/>
          <p:cNvSpPr/>
          <p:nvPr/>
        </p:nvSpPr>
        <p:spPr>
          <a:xfrm>
            <a:off x="6309360" y="1463040"/>
            <a:ext cx="5120640" cy="4663440"/>
          </a:xfrm>
          <a:prstGeom prst="roundRect">
            <a:avLst/>
          </a:prstGeom>
          <a:solidFill>
            <a:srgbClr val="131A2A"/>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297680"/>
          </a:xfrm>
          <a:prstGeom prst="rect">
            <a:avLst/>
          </a:prstGeom>
          <a:noFill/>
        </p:spPr>
        <p:txBody>
          <a:bodyPr wrap="square">
            <a:spAutoFit/>
          </a:bodyPr>
          <a:lstStyle/>
          <a:p>
            <a:pPr>
              <a:defRPr sz="1600" b="1">
                <a:solidFill>
                  <a:srgbClr val="818CF8"/>
                </a:solidFill>
              </a:defRPr>
            </a:pPr>
            <a:r>
              <a:t>Roadmap for Final Review (Milestone 2)</a:t>
            </a:r>
          </a:p>
          <a:p>
            <a:pPr>
              <a:defRPr sz="1200">
                <a:solidFill>
                  <a:srgbClr val="F1F5F9"/>
                </a:solidFill>
              </a:defRPr>
            </a:pPr>
            <a:r>
              <a:t>1. Online Transition Matrix Adaptation:</a:t>
            </a:r>
            <a:br/>
            <a:r>
              <a:t>   Dynamically update P_t -&gt; P_{t+1} using empirical transition counts to adapt to non-stationary failure frequencies.</a:t>
            </a:r>
            <a:br/>
            <a:br/>
            <a:r>
              <a:t>2. State-Dependent Cascading Protection:</a:t>
            </a:r>
            <a:br/>
            <a:r>
              <a:t>   Adaptive throttling under cluster-wide failure cascades where &gt;50% of nodes fail simultaneously.</a:t>
            </a:r>
            <a:br/>
            <a:br/>
            <a:r>
              <a:t>3. Live SRE Alerting Integration:</a:t>
            </a:r>
            <a:br/>
            <a:r>
              <a:t>   Webhook alerts to Slack / PagerDuty with auto-generated RCA incident reports.</a:t>
            </a:r>
            <a:br/>
            <a:br/>
            <a:r>
              <a:t>4. Submission Freezing:</a:t>
            </a:r>
            <a:br/>
            <a:r>
              <a:t>   Final documentation, performance regression suite, and evaluator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
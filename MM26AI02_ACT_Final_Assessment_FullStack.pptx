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assessment deck is updated to include the backend and frontend implementation. The core project remains Adaptive Commitment Timing: a scheduling agent that reasons about hidden node health, deadline pressure, capacity and cold restart cost. The full-stack implementation now shows how the algorithm is executed by the backend and explained through the frontend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flow of the final assessment. Earlier the presentation focused mostly on the problem and algorithm. Now it also covers how the backend and frontend make the project demonstrable: the backend runs the scheduling logic, and the frontend displays live cluster health, task decisions and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aligns the solution with the official MM26AI02 guideline. The agent must monitor heartbeat, latency, error rate, queue depth and tasks. It must infer health without ground truth, identify affected tasks, reroute only when justified and run within the compute budget. ACT was designed around exactly these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simply load balancing. Each node has hidden health: healthy, degraded or down. The agent sees telemetry and tasks, not ground-truth health. It must choose when to assign, when to hold, when to keep a running task and when to reroute. The official goal is useful work completed on time while avoiding dead-node traffic and unnecessary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is difficult because health is hidden, telemetry is noisy, deadlines are strict, rerouting erases progress and node capacity is limited. A greedy load balancer ignores uncertainty. A reactive rerouter overreacts to noise and destroys progress. ACT balances these competing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is commitment timing. Instead of forcing every task immediately onto the best-looking node, ACT compares the value of acting now against the value of waiting for more telemetry. That same principle is used for rerouting: stay with the current node unless the value of restarting elsewhere is higher than the value of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full-stack architecture. The sandbox provides telemetry and tasks. The backend validates inputs, controls runs and invokes ACT. ACT returns assignments, reroutes, holds and explanations. The decision log stores metrics and reasons. The frontend displays the live system to judges. The key engineering choice is that the time-critical control loop remains deterministic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used while explaining the backend code. The backend is responsible for the run lifecycle, input validation, calling the ACT scheduler, returning actions and storing decision traces. Even if the UI or explanation layer is present, the backend must respect the evaluator constraints: unattended operation, a fixed interface and wall-clock compute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frontend code. The UI is not just decorative. It is a demonstration and explainability layer. Judges can inspect node health beliefs, task-level decisions, reroute reasons and benchmark metrics. This makes ACT easier to defend because we can show why the agent took a decision rather than merely reporting a final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proper final demo should show both live behavior and replayed evidence. The frontend starts or connects to a run, the backend streams telemetry through the scheduler, ACT returns actions and the frontend shows the results. The most important part for judges is the explanation panel: it should show what evidence caused a hold, commit, stay or reroute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 internal loop. The backend invokes this loop at each step. The agent observes telemetry and task progress, updates beliefs, predicts values, decides whether to commit, hold, stay or reroute, allocates limited capacity and returns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Bayesian component maintains a posterior over healthy, degraded and down states. Heartbeat, latency, error rate and progress evidence are fused as likelihoods. Progress stalls are particularly useful because they directly indicate that a task stopped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Q-value engine predicts expected task reward by propagating node health belief and task progress over the remaining deadline horizon. This prevents oversimplification such as using only healthy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Pending and running tasks must be treated differently. A pending task can hold for information but pays the unassigned holding penalty. A running task can stay and continue progress, while rerouting resets duration and destroys work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makes the problem coupled. ACT first computes stopping advantage, then sends positive-advantage tasks into a feasible assignment. Alternative scarcity prioritizes tasks with poor fallback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should let judges click on a node or task and inspect exactly why ACT made a decision. This includes belief, values, stopping advantage and restart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benchmark numbers are the central validation evidence from the earlier Review 1 deck. ACT improves completion, suppresses failures, reduces dead-node traffic and stays within the per-step time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testing shows generalization across several topologies. The main limitation is heavy traffic where the cluster is saturated, so future work focuses on admission control and overload-aware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for final assessment packaging. The official submission needs the agent code and README. The backend and frontend are excellent for demonstration and explanation, but the evaluator submission should remain clean, importable and within the required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defense slide. We can claim the formulation, deterministic implementation, validation and explainability. We should not overclaim exact global optimality or say the frontend improves the score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full-stack final assessment shows both the algorithm and the implemented product experience. ACT makes value-based timing decisions; the backend executes them reliably; and the frontend makes the system explainable to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40D9FF"/>
          </a:solidFill>
          <a:ln w="12700">
            <a:solidFill>
              <a:srgbClr val="40D9FF"/>
            </a:solidFill>
            <a:prstDash val="solid"/>
          </a:ln>
        </p:spPr>
      </p:sp>
      <p:sp>
        <p:nvSpPr>
          <p:cNvPr id="3" name="Text 1"/>
          <p:cNvSpPr/>
          <p:nvPr/>
        </p:nvSpPr>
        <p:spPr>
          <a:xfrm>
            <a:off x="411480" y="6473952"/>
            <a:ext cx="3291840" cy="201168"/>
          </a:xfrm>
          <a:prstGeom prst="rect">
            <a:avLst/>
          </a:prstGeom>
          <a:noFill/>
          <a:ln/>
        </p:spPr>
        <p:txBody>
          <a:bodyPr wrap="square" lIns="0" tIns="0" rIns="0" bIns="0" rtlCol="0" anchor="ctr"/>
          <a:lstStyle/>
          <a:p>
            <a:pPr indent="0" marL="0">
              <a:buNone/>
            </a:pPr>
            <a:r>
              <a:rPr lang="en-US" sz="850" dirty="0">
                <a:solidFill>
                  <a:srgbClr val="91A0B8"/>
                </a:solidFill>
                <a:latin typeface="Arial" pitchFamily="34" charset="0"/>
                <a:ea typeface="Arial" pitchFamily="34" charset="-122"/>
                <a:cs typeface="Arial" pitchFamily="34" charset="-120"/>
              </a:rPr>
              <a:t>MM26AI02  •  FINAL ASSESSMENT</a:t>
            </a:r>
            <a:endParaRPr lang="en-US" sz="850" dirty="0"/>
          </a:p>
        </p:txBody>
      </p:sp>
      <p:sp>
        <p:nvSpPr>
          <p:cNvPr id="4" name="Text 2"/>
          <p:cNvSpPr/>
          <p:nvPr/>
        </p:nvSpPr>
        <p:spPr>
          <a:xfrm>
            <a:off x="7680960" y="6473952"/>
            <a:ext cx="4069080" cy="201168"/>
          </a:xfrm>
          <a:prstGeom prst="rect">
            <a:avLst/>
          </a:prstGeom>
          <a:noFill/>
          <a:ln/>
        </p:spPr>
        <p:txBody>
          <a:bodyPr wrap="square" lIns="0" tIns="0" rIns="0" bIns="0" rtlCol="0" anchor="ctr"/>
          <a:lstStyle/>
          <a:p>
            <a:pPr algn="r" indent="0" marL="0">
              <a:buNone/>
            </a:pPr>
            <a:r>
              <a:rPr lang="en-US" sz="850" dirty="0">
                <a:solidFill>
                  <a:srgbClr val="91A0B8"/>
                </a:solidFill>
                <a:latin typeface="Arial" pitchFamily="34" charset="0"/>
                <a:ea typeface="Arial" pitchFamily="34" charset="-122"/>
                <a:cs typeface="Arial" pitchFamily="34" charset="-120"/>
              </a:rPr>
              <a:t>Adaptive Commitment Timing + Full Stack Demo</a:t>
            </a:r>
            <a:endParaRPr lang="en-US" sz="8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30352" y="438912"/>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PROBLEM STATEMENT MM26AI02  •  FINAL ASSESSMENT</a:t>
            </a:r>
            <a:endParaRPr lang="en-US" sz="900" dirty="0"/>
          </a:p>
        </p:txBody>
      </p:sp>
      <p:sp>
        <p:nvSpPr>
          <p:cNvPr id="3" name="Text 1"/>
          <p:cNvSpPr txBox="1"/>
          <p:nvPr/>
        </p:nvSpPr>
        <p:spPr>
          <a:xfrm>
            <a:off x="530352" y="859536"/>
            <a:ext cx="6583680" cy="594360"/>
          </a:xfrm>
          <a:prstGeom prst="rect">
            <a:avLst/>
          </a:prstGeom>
          <a:noFill/>
          <a:ln/>
        </p:spPr>
        <p:txBody>
          <a:bodyPr wrap="square" lIns="0" tIns="0" rIns="0" bIns="0" rtlCol="0" anchor="ctr">
            <a:normAutofit/>
          </a:bodyPr>
          <a:lstStyle/>
          <a:p>
            <a:pPr algn="l" indent="0" marL="0">
              <a:buNone/>
            </a:pPr>
            <a:r>
              <a:rPr lang="en-US" sz="3300" b="1" dirty="0">
                <a:solidFill>
                  <a:srgbClr val="F6F8FC"/>
                </a:solidFill>
                <a:latin typeface="Arial" pitchFamily="34" charset="0"/>
                <a:ea typeface="Arial" pitchFamily="34" charset="-122"/>
                <a:cs typeface="Arial" pitchFamily="34" charset="-120"/>
              </a:rPr>
              <a:t>Adaptive Commitment Timing</a:t>
            </a:r>
            <a:endParaRPr lang="en-US" sz="3300" dirty="0"/>
          </a:p>
        </p:txBody>
      </p:sp>
      <p:sp>
        <p:nvSpPr>
          <p:cNvPr id="4" name="Text 2"/>
          <p:cNvSpPr txBox="1"/>
          <p:nvPr/>
        </p:nvSpPr>
        <p:spPr>
          <a:xfrm>
            <a:off x="530352" y="1481328"/>
            <a:ext cx="6583680" cy="310896"/>
          </a:xfrm>
          <a:prstGeom prst="rect">
            <a:avLst/>
          </a:prstGeom>
          <a:noFill/>
          <a:ln/>
        </p:spPr>
        <p:txBody>
          <a:bodyPr wrap="square" lIns="0" tIns="0" rIns="0" bIns="0" rtlCol="0" anchor="ctr">
            <a:normAutofit/>
          </a:bodyPr>
          <a:lstStyle/>
          <a:p>
            <a:pPr algn="l" indent="0" marL="0">
              <a:buNone/>
            </a:pPr>
            <a:r>
              <a:rPr lang="en-US" sz="1400" dirty="0">
                <a:solidFill>
                  <a:srgbClr val="25D0B1"/>
                </a:solidFill>
                <a:latin typeface="Arial" pitchFamily="34" charset="0"/>
                <a:ea typeface="Arial" pitchFamily="34" charset="-122"/>
                <a:cs typeface="Arial" pitchFamily="34" charset="-120"/>
              </a:rPr>
              <a:t>Autonomous cluster scheduling with backend + frontend demo</a:t>
            </a:r>
            <a:endParaRPr lang="en-US" sz="1400" dirty="0"/>
          </a:p>
        </p:txBody>
      </p:sp>
      <p:sp>
        <p:nvSpPr>
          <p:cNvPr id="5" name="Shape 3"/>
          <p:cNvSpPr/>
          <p:nvPr/>
        </p:nvSpPr>
        <p:spPr>
          <a:xfrm>
            <a:off x="530352" y="2103120"/>
            <a:ext cx="6537960" cy="1316736"/>
          </a:xfrm>
          <a:prstGeom prst="roundRect">
            <a:avLst>
              <a:gd name="adj" fmla="val 8333"/>
            </a:avLst>
          </a:prstGeom>
          <a:solidFill>
            <a:srgbClr val="0F1726"/>
          </a:solidFill>
          <a:ln w="12700">
            <a:solidFill>
              <a:srgbClr val="2A3954"/>
            </a:solidFill>
            <a:prstDash val="solid"/>
          </a:ln>
        </p:spPr>
      </p:sp>
      <p:sp>
        <p:nvSpPr>
          <p:cNvPr id="6" name="Text 4"/>
          <p:cNvSpPr txBox="1"/>
          <p:nvPr/>
        </p:nvSpPr>
        <p:spPr>
          <a:xfrm>
            <a:off x="731520" y="2286000"/>
            <a:ext cx="1481328" cy="182880"/>
          </a:xfrm>
          <a:prstGeom prst="rect">
            <a:avLst/>
          </a:prstGeom>
          <a:noFill/>
          <a:ln/>
        </p:spPr>
        <p:txBody>
          <a:bodyPr wrap="square" lIns="0" tIns="0" rIns="0" bIns="0" rtlCol="0" anchor="ctr">
            <a:normAutofit/>
          </a:bodyPr>
          <a:lstStyle/>
          <a:p>
            <a:pPr algn="l" indent="0" marL="0">
              <a:buNone/>
            </a:pPr>
            <a:r>
              <a:rPr lang="en-US" sz="900" b="1" dirty="0">
                <a:solidFill>
                  <a:srgbClr val="F6C453"/>
                </a:solidFill>
                <a:latin typeface="Arial" pitchFamily="34" charset="0"/>
                <a:ea typeface="Arial" pitchFamily="34" charset="-122"/>
                <a:cs typeface="Arial" pitchFamily="34" charset="-120"/>
              </a:rPr>
              <a:t>FINAL SYSTEM CLAIM</a:t>
            </a:r>
            <a:endParaRPr lang="en-US" sz="900" dirty="0"/>
          </a:p>
        </p:txBody>
      </p:sp>
      <p:sp>
        <p:nvSpPr>
          <p:cNvPr id="7" name="Text 5"/>
          <p:cNvSpPr txBox="1"/>
          <p:nvPr/>
        </p:nvSpPr>
        <p:spPr>
          <a:xfrm>
            <a:off x="731520" y="2578608"/>
            <a:ext cx="5980176" cy="420624"/>
          </a:xfrm>
          <a:prstGeom prst="rect">
            <a:avLst/>
          </a:prstGeom>
          <a:noFill/>
          <a:ln/>
        </p:spPr>
        <p:txBody>
          <a:bodyPr wrap="square" lIns="0" tIns="0" rIns="0" bIns="0" rtlCol="0" anchor="ctr">
            <a:normAutofit/>
          </a:bodyPr>
          <a:lstStyle/>
          <a:p>
            <a:pPr algn="l" indent="0" marL="0">
              <a:buNone/>
            </a:pPr>
            <a:r>
              <a:rPr lang="en-US" sz="1700" b="1" dirty="0">
                <a:solidFill>
                  <a:srgbClr val="F6F8FC"/>
                </a:solidFill>
                <a:latin typeface="Arial" pitchFamily="34" charset="0"/>
                <a:ea typeface="Arial" pitchFamily="34" charset="-122"/>
                <a:cs typeface="Arial" pitchFamily="34" charset="-120"/>
              </a:rPr>
              <a:t>ACT decides where a task should run and when commitment or rerouting is worth the cost.</a:t>
            </a:r>
            <a:endParaRPr lang="en-US" sz="1700" dirty="0"/>
          </a:p>
        </p:txBody>
      </p:sp>
      <p:sp>
        <p:nvSpPr>
          <p:cNvPr id="8" name="Text 6"/>
          <p:cNvSpPr txBox="1"/>
          <p:nvPr/>
        </p:nvSpPr>
        <p:spPr>
          <a:xfrm>
            <a:off x="731520" y="3026664"/>
            <a:ext cx="5925312" cy="256032"/>
          </a:xfrm>
          <a:prstGeom prst="rect">
            <a:avLst/>
          </a:prstGeom>
          <a:noFill/>
          <a:ln/>
        </p:spPr>
        <p:txBody>
          <a:bodyPr wrap="square" lIns="0" tIns="0" rIns="0" bIns="0" rtlCol="0" anchor="ctr">
            <a:normAutofit/>
          </a:bodyPr>
          <a:lstStyle/>
          <a:p>
            <a:pPr algn="l" indent="0" marL="0">
              <a:buNone/>
            </a:pPr>
            <a:r>
              <a:rPr lang="en-US" sz="1180" dirty="0">
                <a:solidFill>
                  <a:srgbClr val="D5DEEC"/>
                </a:solidFill>
                <a:latin typeface="Arial" pitchFamily="34" charset="0"/>
                <a:ea typeface="Arial" pitchFamily="34" charset="-122"/>
                <a:cs typeface="Arial" pitchFamily="34" charset="-120"/>
              </a:rPr>
              <a:t>The backend executes the scheduler and serves decisions; the frontend makes node health, task risk and reroute reasoning visible.</a:t>
            </a:r>
            <a:endParaRPr lang="en-US" sz="1180" dirty="0"/>
          </a:p>
        </p:txBody>
      </p:sp>
      <p:sp>
        <p:nvSpPr>
          <p:cNvPr id="9" name="Shape 7"/>
          <p:cNvSpPr/>
          <p:nvPr/>
        </p:nvSpPr>
        <p:spPr>
          <a:xfrm>
            <a:off x="7644384" y="768096"/>
            <a:ext cx="4005072" cy="3273552"/>
          </a:xfrm>
          <a:prstGeom prst="roundRect">
            <a:avLst>
              <a:gd name="adj" fmla="val 3352"/>
            </a:avLst>
          </a:prstGeom>
          <a:solidFill>
            <a:srgbClr val="0E1727"/>
          </a:solidFill>
          <a:ln w="12700">
            <a:solidFill>
              <a:srgbClr val="40D9FF"/>
            </a:solidFill>
            <a:prstDash val="solid"/>
          </a:ln>
        </p:spPr>
      </p:sp>
      <p:sp>
        <p:nvSpPr>
          <p:cNvPr id="10" name="Text 8"/>
          <p:cNvSpPr txBox="1"/>
          <p:nvPr/>
        </p:nvSpPr>
        <p:spPr>
          <a:xfrm>
            <a:off x="7845552" y="1005840"/>
            <a:ext cx="1234440" cy="201168"/>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FULL-STACK LOOP</a:t>
            </a:r>
            <a:endParaRPr lang="en-US" sz="900" dirty="0"/>
          </a:p>
        </p:txBody>
      </p:sp>
      <p:sp>
        <p:nvSpPr>
          <p:cNvPr id="11" name="Shape 9"/>
          <p:cNvSpPr/>
          <p:nvPr/>
        </p:nvSpPr>
        <p:spPr>
          <a:xfrm>
            <a:off x="8119872" y="1554480"/>
            <a:ext cx="1051560" cy="502920"/>
          </a:xfrm>
          <a:prstGeom prst="roundRect">
            <a:avLst>
              <a:gd name="adj" fmla="val 21818"/>
            </a:avLst>
          </a:prstGeom>
          <a:solidFill>
            <a:srgbClr val="5D8CFF">
              <a:alpha val="14000"/>
            </a:srgbClr>
          </a:solidFill>
          <a:ln w="13970">
            <a:solidFill>
              <a:srgbClr val="5D8CFF"/>
            </a:solidFill>
            <a:prstDash val="solid"/>
          </a:ln>
        </p:spPr>
      </p:sp>
      <p:sp>
        <p:nvSpPr>
          <p:cNvPr id="12" name="Text 10"/>
          <p:cNvSpPr txBox="1"/>
          <p:nvPr/>
        </p:nvSpPr>
        <p:spPr>
          <a:xfrm>
            <a:off x="8119872" y="1728216"/>
            <a:ext cx="1051560" cy="155448"/>
          </a:xfrm>
          <a:prstGeom prst="rect">
            <a:avLst/>
          </a:prstGeom>
          <a:noFill/>
          <a:ln/>
        </p:spPr>
        <p:txBody>
          <a:bodyPr wrap="square" lIns="0" tIns="0" rIns="0" bIns="0" rtlCol="0" anchor="ctr">
            <a:normAutofit/>
          </a:bodyPr>
          <a:lstStyle/>
          <a:p>
            <a:pPr algn="ctr" indent="0" marL="0">
              <a:buNone/>
            </a:pPr>
            <a:r>
              <a:rPr lang="en-US" sz="880" b="1" dirty="0">
                <a:solidFill>
                  <a:srgbClr val="5D8CFF"/>
                </a:solidFill>
                <a:latin typeface="Arial" pitchFamily="34" charset="0"/>
                <a:ea typeface="Arial" pitchFamily="34" charset="-122"/>
                <a:cs typeface="Arial" pitchFamily="34" charset="-120"/>
              </a:rPr>
              <a:t>Sandbox</a:t>
            </a:r>
            <a:endParaRPr lang="en-US" sz="880" dirty="0"/>
          </a:p>
        </p:txBody>
      </p:sp>
      <p:sp>
        <p:nvSpPr>
          <p:cNvPr id="13" name="Shape 11"/>
          <p:cNvSpPr/>
          <p:nvPr/>
        </p:nvSpPr>
        <p:spPr>
          <a:xfrm>
            <a:off x="9564624" y="1554480"/>
            <a:ext cx="1051560" cy="502920"/>
          </a:xfrm>
          <a:prstGeom prst="roundRect">
            <a:avLst>
              <a:gd name="adj" fmla="val 21818"/>
            </a:avLst>
          </a:prstGeom>
          <a:solidFill>
            <a:srgbClr val="3CE28F">
              <a:alpha val="14000"/>
            </a:srgbClr>
          </a:solidFill>
          <a:ln w="13970">
            <a:solidFill>
              <a:srgbClr val="3CE28F"/>
            </a:solidFill>
            <a:prstDash val="solid"/>
          </a:ln>
        </p:spPr>
      </p:sp>
      <p:sp>
        <p:nvSpPr>
          <p:cNvPr id="14" name="Text 12"/>
          <p:cNvSpPr txBox="1"/>
          <p:nvPr/>
        </p:nvSpPr>
        <p:spPr>
          <a:xfrm>
            <a:off x="9564624" y="1728216"/>
            <a:ext cx="1051560" cy="155448"/>
          </a:xfrm>
          <a:prstGeom prst="rect">
            <a:avLst/>
          </a:prstGeom>
          <a:noFill/>
          <a:ln/>
        </p:spPr>
        <p:txBody>
          <a:bodyPr wrap="square" lIns="0" tIns="0" rIns="0" bIns="0" rtlCol="0" anchor="ctr">
            <a:normAutofit/>
          </a:bodyPr>
          <a:lstStyle/>
          <a:p>
            <a:pPr algn="ctr" indent="0" marL="0">
              <a:buNone/>
            </a:pPr>
            <a:r>
              <a:rPr lang="en-US" sz="880" b="1" dirty="0">
                <a:solidFill>
                  <a:srgbClr val="3CE28F"/>
                </a:solidFill>
                <a:latin typeface="Arial" pitchFamily="34" charset="0"/>
                <a:ea typeface="Arial" pitchFamily="34" charset="-122"/>
                <a:cs typeface="Arial" pitchFamily="34" charset="-120"/>
              </a:rPr>
              <a:t>Backend</a:t>
            </a:r>
            <a:endParaRPr lang="en-US" sz="880" dirty="0"/>
          </a:p>
        </p:txBody>
      </p:sp>
      <p:sp>
        <p:nvSpPr>
          <p:cNvPr id="15" name="Shape 13"/>
          <p:cNvSpPr/>
          <p:nvPr/>
        </p:nvSpPr>
        <p:spPr>
          <a:xfrm>
            <a:off x="9564624" y="2743200"/>
            <a:ext cx="1051560" cy="502920"/>
          </a:xfrm>
          <a:prstGeom prst="roundRect">
            <a:avLst>
              <a:gd name="adj" fmla="val 21818"/>
            </a:avLst>
          </a:prstGeom>
          <a:solidFill>
            <a:srgbClr val="F6C453">
              <a:alpha val="14000"/>
            </a:srgbClr>
          </a:solidFill>
          <a:ln w="13970">
            <a:solidFill>
              <a:srgbClr val="F6C453"/>
            </a:solidFill>
            <a:prstDash val="solid"/>
          </a:ln>
        </p:spPr>
      </p:sp>
      <p:sp>
        <p:nvSpPr>
          <p:cNvPr id="16" name="Text 14"/>
          <p:cNvSpPr txBox="1"/>
          <p:nvPr/>
        </p:nvSpPr>
        <p:spPr>
          <a:xfrm>
            <a:off x="9564624" y="2916936"/>
            <a:ext cx="1051560" cy="155448"/>
          </a:xfrm>
          <a:prstGeom prst="rect">
            <a:avLst/>
          </a:prstGeom>
          <a:noFill/>
          <a:ln/>
        </p:spPr>
        <p:txBody>
          <a:bodyPr wrap="square" lIns="0" tIns="0" rIns="0" bIns="0" rtlCol="0" anchor="ctr">
            <a:normAutofit/>
          </a:bodyPr>
          <a:lstStyle/>
          <a:p>
            <a:pPr algn="ctr" indent="0" marL="0">
              <a:buNone/>
            </a:pPr>
            <a:r>
              <a:rPr lang="en-US" sz="880" b="1" dirty="0">
                <a:solidFill>
                  <a:srgbClr val="F6C453"/>
                </a:solidFill>
                <a:latin typeface="Arial" pitchFamily="34" charset="0"/>
                <a:ea typeface="Arial" pitchFamily="34" charset="-122"/>
                <a:cs typeface="Arial" pitchFamily="34" charset="-120"/>
              </a:rPr>
              <a:t>ACT Core</a:t>
            </a:r>
            <a:endParaRPr lang="en-US" sz="880" dirty="0"/>
          </a:p>
        </p:txBody>
      </p:sp>
      <p:sp>
        <p:nvSpPr>
          <p:cNvPr id="17" name="Shape 15"/>
          <p:cNvSpPr/>
          <p:nvPr/>
        </p:nvSpPr>
        <p:spPr>
          <a:xfrm>
            <a:off x="8119872" y="2743200"/>
            <a:ext cx="1051560" cy="502920"/>
          </a:xfrm>
          <a:prstGeom prst="roundRect">
            <a:avLst>
              <a:gd name="adj" fmla="val 21818"/>
            </a:avLst>
          </a:prstGeom>
          <a:solidFill>
            <a:srgbClr val="A7A1FF">
              <a:alpha val="14000"/>
            </a:srgbClr>
          </a:solidFill>
          <a:ln w="13970">
            <a:solidFill>
              <a:srgbClr val="A7A1FF"/>
            </a:solidFill>
            <a:prstDash val="solid"/>
          </a:ln>
        </p:spPr>
      </p:sp>
      <p:sp>
        <p:nvSpPr>
          <p:cNvPr id="18" name="Text 16"/>
          <p:cNvSpPr txBox="1"/>
          <p:nvPr/>
        </p:nvSpPr>
        <p:spPr>
          <a:xfrm>
            <a:off x="8119872" y="2916936"/>
            <a:ext cx="1051560" cy="155448"/>
          </a:xfrm>
          <a:prstGeom prst="rect">
            <a:avLst/>
          </a:prstGeom>
          <a:noFill/>
          <a:ln/>
        </p:spPr>
        <p:txBody>
          <a:bodyPr wrap="square" lIns="0" tIns="0" rIns="0" bIns="0" rtlCol="0" anchor="ctr">
            <a:normAutofit/>
          </a:bodyPr>
          <a:lstStyle/>
          <a:p>
            <a:pPr algn="ctr" indent="0" marL="0">
              <a:buNone/>
            </a:pPr>
            <a:r>
              <a:rPr lang="en-US" sz="880" b="1" dirty="0">
                <a:solidFill>
                  <a:srgbClr val="A7A1FF"/>
                </a:solidFill>
                <a:latin typeface="Arial" pitchFamily="34" charset="0"/>
                <a:ea typeface="Arial" pitchFamily="34" charset="-122"/>
                <a:cs typeface="Arial" pitchFamily="34" charset="-120"/>
              </a:rPr>
              <a:t>Frontend</a:t>
            </a:r>
            <a:endParaRPr lang="en-US" sz="880" dirty="0"/>
          </a:p>
        </p:txBody>
      </p:sp>
      <p:sp>
        <p:nvSpPr>
          <p:cNvPr id="19" name="Shape 17"/>
          <p:cNvSpPr/>
          <p:nvPr/>
        </p:nvSpPr>
        <p:spPr>
          <a:xfrm>
            <a:off x="9189720" y="1810512"/>
            <a:ext cx="338328" cy="0"/>
          </a:xfrm>
          <a:prstGeom prst="line">
            <a:avLst/>
          </a:prstGeom>
          <a:noFill/>
          <a:ln w="13970">
            <a:solidFill>
              <a:srgbClr val="2A3954"/>
            </a:solidFill>
            <a:prstDash val="solid"/>
            <a:headEnd type="none"/>
            <a:tailEnd type="triangle"/>
          </a:ln>
        </p:spPr>
      </p:sp>
      <p:sp>
        <p:nvSpPr>
          <p:cNvPr id="20" name="Shape 18"/>
          <p:cNvSpPr/>
          <p:nvPr/>
        </p:nvSpPr>
        <p:spPr>
          <a:xfrm>
            <a:off x="10085832" y="2084832"/>
            <a:ext cx="0" cy="621792"/>
          </a:xfrm>
          <a:prstGeom prst="line">
            <a:avLst/>
          </a:prstGeom>
          <a:noFill/>
          <a:ln w="13970">
            <a:solidFill>
              <a:srgbClr val="2A3954"/>
            </a:solidFill>
            <a:prstDash val="solid"/>
            <a:headEnd type="none"/>
            <a:tailEnd type="triangle"/>
          </a:ln>
        </p:spPr>
      </p:sp>
      <p:sp>
        <p:nvSpPr>
          <p:cNvPr id="21" name="Shape 19"/>
          <p:cNvSpPr/>
          <p:nvPr/>
        </p:nvSpPr>
        <p:spPr>
          <a:xfrm>
            <a:off x="9509760" y="2999232"/>
            <a:ext cx="-310896" cy="0"/>
          </a:xfrm>
          <a:prstGeom prst="line">
            <a:avLst/>
          </a:prstGeom>
          <a:noFill/>
          <a:ln w="13970">
            <a:solidFill>
              <a:srgbClr val="2A3954"/>
            </a:solidFill>
            <a:prstDash val="solid"/>
            <a:headEnd type="none"/>
            <a:tailEnd type="triangle"/>
          </a:ln>
        </p:spPr>
      </p:sp>
      <p:sp>
        <p:nvSpPr>
          <p:cNvPr id="22" name="Shape 20"/>
          <p:cNvSpPr/>
          <p:nvPr/>
        </p:nvSpPr>
        <p:spPr>
          <a:xfrm>
            <a:off x="8101584" y="2706624"/>
            <a:ext cx="0" cy="-621792"/>
          </a:xfrm>
          <a:prstGeom prst="line">
            <a:avLst/>
          </a:prstGeom>
          <a:noFill/>
          <a:ln w="13970">
            <a:solidFill>
              <a:srgbClr val="2A3954"/>
            </a:solidFill>
            <a:prstDash val="solid"/>
            <a:headEnd type="none"/>
            <a:tailEnd type="triangle"/>
          </a:ln>
        </p:spPr>
      </p:sp>
      <p:sp>
        <p:nvSpPr>
          <p:cNvPr id="23" name="Text 21"/>
          <p:cNvSpPr txBox="1"/>
          <p:nvPr/>
        </p:nvSpPr>
        <p:spPr>
          <a:xfrm>
            <a:off x="8266176" y="2340864"/>
            <a:ext cx="2423160" cy="228600"/>
          </a:xfrm>
          <a:prstGeom prst="rect">
            <a:avLst/>
          </a:prstGeom>
          <a:noFill/>
          <a:ln/>
        </p:spPr>
        <p:txBody>
          <a:bodyPr wrap="square" lIns="0" tIns="0" rIns="0" bIns="0" rtlCol="0" anchor="ctr">
            <a:normAutofit/>
          </a:bodyPr>
          <a:lstStyle/>
          <a:p>
            <a:pPr algn="ctr" indent="0" marL="0">
              <a:buNone/>
            </a:pPr>
            <a:r>
              <a:rPr lang="en-US" sz="1100" b="1" dirty="0">
                <a:solidFill>
                  <a:srgbClr val="F6F8FC"/>
                </a:solidFill>
                <a:latin typeface="Arial" pitchFamily="34" charset="0"/>
                <a:ea typeface="Arial" pitchFamily="34" charset="-122"/>
                <a:cs typeface="Arial" pitchFamily="34" charset="-120"/>
              </a:rPr>
              <a:t>observe → decide → act → explain</a:t>
            </a:r>
            <a:endParaRPr lang="en-US" sz="1100" dirty="0"/>
          </a:p>
        </p:txBody>
      </p:sp>
      <p:sp>
        <p:nvSpPr>
          <p:cNvPr id="24" name="Shape 22"/>
          <p:cNvSpPr/>
          <p:nvPr/>
        </p:nvSpPr>
        <p:spPr>
          <a:xfrm>
            <a:off x="530352" y="4681728"/>
            <a:ext cx="2450592" cy="1005840"/>
          </a:xfrm>
          <a:prstGeom prst="roundRect">
            <a:avLst>
              <a:gd name="adj" fmla="val 10909"/>
            </a:avLst>
          </a:prstGeom>
          <a:solidFill>
            <a:srgbClr val="0F1726"/>
          </a:solidFill>
          <a:ln w="12700">
            <a:solidFill>
              <a:srgbClr val="3CE28F"/>
            </a:solidFill>
            <a:prstDash val="solid"/>
          </a:ln>
        </p:spPr>
      </p:sp>
      <p:sp>
        <p:nvSpPr>
          <p:cNvPr id="25" name="Text 23"/>
          <p:cNvSpPr txBox="1"/>
          <p:nvPr/>
        </p:nvSpPr>
        <p:spPr>
          <a:xfrm>
            <a:off x="676656" y="4773168"/>
            <a:ext cx="2157984" cy="384048"/>
          </a:xfrm>
          <a:prstGeom prst="rect">
            <a:avLst/>
          </a:prstGeom>
          <a:noFill/>
          <a:ln/>
        </p:spPr>
        <p:txBody>
          <a:bodyPr wrap="square" lIns="0" tIns="0" rIns="0" bIns="0" rtlCol="0" anchor="ctr">
            <a:normAutofit/>
          </a:bodyPr>
          <a:lstStyle/>
          <a:p>
            <a:pPr algn="l" indent="0" marL="0">
              <a:buNone/>
            </a:pPr>
            <a:r>
              <a:rPr lang="en-US" sz="2100" b="1" dirty="0">
                <a:solidFill>
                  <a:srgbClr val="3CE28F"/>
                </a:solidFill>
                <a:latin typeface="Arial" pitchFamily="34" charset="0"/>
                <a:ea typeface="Arial" pitchFamily="34" charset="-122"/>
                <a:cs typeface="Arial" pitchFamily="34" charset="-120"/>
              </a:rPr>
              <a:t>98.1%</a:t>
            </a:r>
            <a:endParaRPr lang="en-US" sz="2100" dirty="0"/>
          </a:p>
        </p:txBody>
      </p:sp>
      <p:sp>
        <p:nvSpPr>
          <p:cNvPr id="26" name="Text 24"/>
          <p:cNvSpPr txBox="1"/>
          <p:nvPr/>
        </p:nvSpPr>
        <p:spPr>
          <a:xfrm>
            <a:off x="676656" y="5193792"/>
            <a:ext cx="2157984" cy="420624"/>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task completion in canonical five-seed benchmark</a:t>
            </a:r>
            <a:endParaRPr lang="en-US" sz="910" dirty="0"/>
          </a:p>
        </p:txBody>
      </p:sp>
      <p:sp>
        <p:nvSpPr>
          <p:cNvPr id="27" name="Shape 25"/>
          <p:cNvSpPr/>
          <p:nvPr/>
        </p:nvSpPr>
        <p:spPr>
          <a:xfrm>
            <a:off x="3136392" y="4681728"/>
            <a:ext cx="2450592" cy="1005840"/>
          </a:xfrm>
          <a:prstGeom prst="roundRect">
            <a:avLst>
              <a:gd name="adj" fmla="val 10909"/>
            </a:avLst>
          </a:prstGeom>
          <a:solidFill>
            <a:srgbClr val="0F1726"/>
          </a:solidFill>
          <a:ln w="12700">
            <a:solidFill>
              <a:srgbClr val="40D9FF"/>
            </a:solidFill>
            <a:prstDash val="solid"/>
          </a:ln>
        </p:spPr>
      </p:sp>
      <p:sp>
        <p:nvSpPr>
          <p:cNvPr id="28" name="Text 26"/>
          <p:cNvSpPr txBox="1"/>
          <p:nvPr/>
        </p:nvSpPr>
        <p:spPr>
          <a:xfrm>
            <a:off x="3282696" y="4773168"/>
            <a:ext cx="2157984" cy="384048"/>
          </a:xfrm>
          <a:prstGeom prst="rect">
            <a:avLst/>
          </a:prstGeom>
          <a:noFill/>
          <a:ln/>
        </p:spPr>
        <p:txBody>
          <a:bodyPr wrap="square" lIns="0" tIns="0" rIns="0" bIns="0" rtlCol="0" anchor="ctr">
            <a:normAutofit/>
          </a:bodyPr>
          <a:lstStyle/>
          <a:p>
            <a:pPr algn="l" indent="0" marL="0">
              <a:buNone/>
            </a:pPr>
            <a:r>
              <a:rPr lang="en-US" sz="2100" b="1" dirty="0">
                <a:solidFill>
                  <a:srgbClr val="40D9FF"/>
                </a:solidFill>
                <a:latin typeface="Arial" pitchFamily="34" charset="0"/>
                <a:ea typeface="Arial" pitchFamily="34" charset="-122"/>
                <a:cs typeface="Arial" pitchFamily="34" charset="-120"/>
              </a:rPr>
              <a:t>-86.3%</a:t>
            </a:r>
            <a:endParaRPr lang="en-US" sz="2100" dirty="0"/>
          </a:p>
        </p:txBody>
      </p:sp>
      <p:sp>
        <p:nvSpPr>
          <p:cNvPr id="29" name="Text 27"/>
          <p:cNvSpPr txBox="1"/>
          <p:nvPr/>
        </p:nvSpPr>
        <p:spPr>
          <a:xfrm>
            <a:off x="3282696" y="5193792"/>
            <a:ext cx="2157984" cy="420624"/>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deadline failures • 577 → 79</a:t>
            </a:r>
            <a:endParaRPr lang="en-US" sz="910" dirty="0"/>
          </a:p>
        </p:txBody>
      </p:sp>
      <p:sp>
        <p:nvSpPr>
          <p:cNvPr id="30" name="Shape 28"/>
          <p:cNvSpPr/>
          <p:nvPr/>
        </p:nvSpPr>
        <p:spPr>
          <a:xfrm>
            <a:off x="5742432" y="4681728"/>
            <a:ext cx="2450592" cy="1005840"/>
          </a:xfrm>
          <a:prstGeom prst="roundRect">
            <a:avLst>
              <a:gd name="adj" fmla="val 10909"/>
            </a:avLst>
          </a:prstGeom>
          <a:solidFill>
            <a:srgbClr val="0F1726"/>
          </a:solidFill>
          <a:ln w="12700">
            <a:solidFill>
              <a:srgbClr val="25D0B1"/>
            </a:solidFill>
            <a:prstDash val="solid"/>
          </a:ln>
        </p:spPr>
      </p:sp>
      <p:sp>
        <p:nvSpPr>
          <p:cNvPr id="31" name="Text 29"/>
          <p:cNvSpPr txBox="1"/>
          <p:nvPr/>
        </p:nvSpPr>
        <p:spPr>
          <a:xfrm>
            <a:off x="5888736" y="4773168"/>
            <a:ext cx="2157984" cy="384048"/>
          </a:xfrm>
          <a:prstGeom prst="rect">
            <a:avLst/>
          </a:prstGeom>
          <a:noFill/>
          <a:ln/>
        </p:spPr>
        <p:txBody>
          <a:bodyPr wrap="square" lIns="0" tIns="0" rIns="0" bIns="0" rtlCol="0" anchor="ctr">
            <a:normAutofit/>
          </a:bodyPr>
          <a:lstStyle/>
          <a:p>
            <a:pPr algn="l" indent="0" marL="0">
              <a:buNone/>
            </a:pPr>
            <a:r>
              <a:rPr lang="en-US" sz="2100" b="1" dirty="0">
                <a:solidFill>
                  <a:srgbClr val="25D0B1"/>
                </a:solidFill>
                <a:latin typeface="Arial" pitchFamily="34" charset="0"/>
                <a:ea typeface="Arial" pitchFamily="34" charset="-122"/>
                <a:cs typeface="Arial" pitchFamily="34" charset="-120"/>
              </a:rPr>
              <a:t>-84.2%</a:t>
            </a:r>
            <a:endParaRPr lang="en-US" sz="2100" dirty="0"/>
          </a:p>
        </p:txBody>
      </p:sp>
      <p:sp>
        <p:nvSpPr>
          <p:cNvPr id="32" name="Text 30"/>
          <p:cNvSpPr txBox="1"/>
          <p:nvPr/>
        </p:nvSpPr>
        <p:spPr>
          <a:xfrm>
            <a:off x="5888736" y="5193792"/>
            <a:ext cx="2157984" cy="420624"/>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traffic sent to dead nodes</a:t>
            </a:r>
            <a:endParaRPr lang="en-US" sz="910" dirty="0"/>
          </a:p>
        </p:txBody>
      </p:sp>
      <p:sp>
        <p:nvSpPr>
          <p:cNvPr id="33" name="Shape 31"/>
          <p:cNvSpPr/>
          <p:nvPr/>
        </p:nvSpPr>
        <p:spPr>
          <a:xfrm>
            <a:off x="8348472" y="4681728"/>
            <a:ext cx="2450592" cy="1005840"/>
          </a:xfrm>
          <a:prstGeom prst="roundRect">
            <a:avLst>
              <a:gd name="adj" fmla="val 10909"/>
            </a:avLst>
          </a:prstGeom>
          <a:solidFill>
            <a:srgbClr val="0F1726"/>
          </a:solidFill>
          <a:ln w="12700">
            <a:solidFill>
              <a:srgbClr val="F6C453"/>
            </a:solidFill>
            <a:prstDash val="solid"/>
          </a:ln>
        </p:spPr>
      </p:sp>
      <p:sp>
        <p:nvSpPr>
          <p:cNvPr id="34" name="Text 32"/>
          <p:cNvSpPr txBox="1"/>
          <p:nvPr/>
        </p:nvSpPr>
        <p:spPr>
          <a:xfrm>
            <a:off x="8494776" y="4773168"/>
            <a:ext cx="2157984" cy="384048"/>
          </a:xfrm>
          <a:prstGeom prst="rect">
            <a:avLst/>
          </a:prstGeom>
          <a:noFill/>
          <a:ln/>
        </p:spPr>
        <p:txBody>
          <a:bodyPr wrap="square" lIns="0" tIns="0" rIns="0" bIns="0" rtlCol="0" anchor="ctr">
            <a:normAutofit/>
          </a:bodyPr>
          <a:lstStyle/>
          <a:p>
            <a:pPr algn="l" indent="0" marL="0">
              <a:buNone/>
            </a:pPr>
            <a:r>
              <a:rPr lang="en-US" sz="2100" b="1" dirty="0">
                <a:solidFill>
                  <a:srgbClr val="F6C453"/>
                </a:solidFill>
                <a:latin typeface="Arial" pitchFamily="34" charset="0"/>
                <a:ea typeface="Arial" pitchFamily="34" charset="-122"/>
                <a:cs typeface="Arial" pitchFamily="34" charset="-120"/>
              </a:rPr>
              <a:t>0.234 ms</a:t>
            </a:r>
            <a:endParaRPr lang="en-US" sz="2100" dirty="0"/>
          </a:p>
        </p:txBody>
      </p:sp>
      <p:sp>
        <p:nvSpPr>
          <p:cNvPr id="35" name="Text 33"/>
          <p:cNvSpPr txBox="1"/>
          <p:nvPr/>
        </p:nvSpPr>
        <p:spPr>
          <a:xfrm>
            <a:off x="8494776" y="5193792"/>
            <a:ext cx="2157984" cy="420624"/>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average compute per step</a:t>
            </a:r>
            <a:endParaRPr lang="en-US" sz="910" dirty="0"/>
          </a:p>
        </p:txBody>
      </p:sp>
      <p:sp>
        <p:nvSpPr>
          <p:cNvPr id="36" name="Text 34"/>
          <p:cNvSpPr txBox="1"/>
          <p:nvPr/>
        </p:nvSpPr>
        <p:spPr>
          <a:xfrm>
            <a:off x="530352" y="6016752"/>
            <a:ext cx="10972800" cy="22860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Prepared using the uploaded MM26AI02 guideline, Review 1 deck, Final Architecture document and full-stack implementation plan.</a:t>
            </a:r>
            <a:endParaRPr lang="en-US" sz="93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ASSESSMENT FLOW</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Final assessment story: algorithm + product demo</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presentation now covers the official problem, ACT scheduler, backend implementation, frontend dashboard, validation and roadmap.</a:t>
            </a:r>
            <a:endParaRPr lang="en-US" sz="1200" dirty="0"/>
          </a:p>
        </p:txBody>
      </p:sp>
      <p:sp>
        <p:nvSpPr>
          <p:cNvPr id="5" name="Shape 3"/>
          <p:cNvSpPr/>
          <p:nvPr/>
        </p:nvSpPr>
        <p:spPr>
          <a:xfrm>
            <a:off x="658368" y="2139696"/>
            <a:ext cx="530352" cy="530352"/>
          </a:xfrm>
          <a:prstGeom prst="ellipse">
            <a:avLst/>
          </a:prstGeom>
          <a:solidFill>
            <a:srgbClr val="40D9FF">
              <a:alpha val="18000"/>
            </a:srgbClr>
          </a:solidFill>
          <a:ln w="13970">
            <a:solidFill>
              <a:srgbClr val="40D9FF"/>
            </a:solidFill>
            <a:prstDash val="solid"/>
          </a:ln>
        </p:spPr>
      </p:sp>
      <p:sp>
        <p:nvSpPr>
          <p:cNvPr id="6" name="Text 4"/>
          <p:cNvSpPr txBox="1"/>
          <p:nvPr/>
        </p:nvSpPr>
        <p:spPr>
          <a:xfrm>
            <a:off x="658368" y="2267712"/>
            <a:ext cx="530352" cy="201168"/>
          </a:xfrm>
          <a:prstGeom prst="rect">
            <a:avLst/>
          </a:prstGeom>
          <a:noFill/>
          <a:ln/>
        </p:spPr>
        <p:txBody>
          <a:bodyPr wrap="square" lIns="0" tIns="0" rIns="0" bIns="0" rtlCol="0" anchor="ctr">
            <a:normAutofit/>
          </a:bodyPr>
          <a:lstStyle/>
          <a:p>
            <a:pPr algn="ctr" indent="0" marL="0">
              <a:buNone/>
            </a:pPr>
            <a:r>
              <a:rPr lang="en-US" sz="1100" b="1" dirty="0">
                <a:solidFill>
                  <a:srgbClr val="40D9FF"/>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316736" y="2121408"/>
            <a:ext cx="1389888" cy="256032"/>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Problem</a:t>
            </a:r>
            <a:endParaRPr lang="en-US" sz="1250" dirty="0"/>
          </a:p>
        </p:txBody>
      </p:sp>
      <p:sp>
        <p:nvSpPr>
          <p:cNvPr id="8" name="Text 6"/>
          <p:cNvSpPr txBox="1"/>
          <p:nvPr/>
        </p:nvSpPr>
        <p:spPr>
          <a:xfrm>
            <a:off x="1316736" y="2441448"/>
            <a:ext cx="1463040" cy="457200"/>
          </a:xfrm>
          <a:prstGeom prst="rect">
            <a:avLst/>
          </a:prstGeom>
          <a:noFill/>
          <a:ln/>
        </p:spPr>
        <p:txBody>
          <a:bodyPr wrap="square" lIns="0" tIns="0" rIns="0" bIns="0" rtlCol="0" anchor="t">
            <a:normAutofit/>
          </a:bodyPr>
          <a:lstStyle/>
          <a:p>
            <a:pPr algn="l" indent="0" marL="0">
              <a:buNone/>
            </a:pPr>
            <a:r>
              <a:rPr lang="en-US" sz="890" dirty="0">
                <a:solidFill>
                  <a:srgbClr val="91A0B8"/>
                </a:solidFill>
                <a:latin typeface="Arial" pitchFamily="34" charset="0"/>
                <a:ea typeface="Arial" pitchFamily="34" charset="-122"/>
                <a:cs typeface="Arial" pitchFamily="34" charset="-120"/>
              </a:rPr>
              <a:t>hidden health, noisy telemetry, deadlines, restart loss</a:t>
            </a:r>
            <a:endParaRPr lang="en-US" sz="890" dirty="0"/>
          </a:p>
        </p:txBody>
      </p:sp>
      <p:sp>
        <p:nvSpPr>
          <p:cNvPr id="9" name="Shape 7"/>
          <p:cNvSpPr/>
          <p:nvPr/>
        </p:nvSpPr>
        <p:spPr>
          <a:xfrm>
            <a:off x="2926080" y="3072384"/>
            <a:ext cx="530352" cy="530352"/>
          </a:xfrm>
          <a:prstGeom prst="ellipse">
            <a:avLst/>
          </a:prstGeom>
          <a:solidFill>
            <a:srgbClr val="25D0B1">
              <a:alpha val="18000"/>
            </a:srgbClr>
          </a:solidFill>
          <a:ln w="13970">
            <a:solidFill>
              <a:srgbClr val="25D0B1"/>
            </a:solidFill>
            <a:prstDash val="solid"/>
          </a:ln>
        </p:spPr>
      </p:sp>
      <p:sp>
        <p:nvSpPr>
          <p:cNvPr id="10" name="Text 8"/>
          <p:cNvSpPr txBox="1"/>
          <p:nvPr/>
        </p:nvSpPr>
        <p:spPr>
          <a:xfrm>
            <a:off x="2926080" y="3200400"/>
            <a:ext cx="530352" cy="201168"/>
          </a:xfrm>
          <a:prstGeom prst="rect">
            <a:avLst/>
          </a:prstGeom>
          <a:noFill/>
          <a:ln/>
        </p:spPr>
        <p:txBody>
          <a:bodyPr wrap="square" lIns="0" tIns="0" rIns="0" bIns="0" rtlCol="0" anchor="ctr">
            <a:normAutofit/>
          </a:bodyPr>
          <a:lstStyle/>
          <a:p>
            <a:pPr algn="ctr" indent="0" marL="0">
              <a:buNone/>
            </a:pPr>
            <a:r>
              <a:rPr lang="en-US" sz="1100" b="1" dirty="0">
                <a:solidFill>
                  <a:srgbClr val="25D0B1"/>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3584448" y="3054096"/>
            <a:ext cx="1389888" cy="256032"/>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ACT idea</a:t>
            </a:r>
            <a:endParaRPr lang="en-US" sz="1250" dirty="0"/>
          </a:p>
        </p:txBody>
      </p:sp>
      <p:sp>
        <p:nvSpPr>
          <p:cNvPr id="12" name="Text 10"/>
          <p:cNvSpPr txBox="1"/>
          <p:nvPr/>
        </p:nvSpPr>
        <p:spPr>
          <a:xfrm>
            <a:off x="3584448" y="3374136"/>
            <a:ext cx="1463040" cy="457200"/>
          </a:xfrm>
          <a:prstGeom prst="rect">
            <a:avLst/>
          </a:prstGeom>
          <a:noFill/>
          <a:ln/>
        </p:spPr>
        <p:txBody>
          <a:bodyPr wrap="square" lIns="0" tIns="0" rIns="0" bIns="0" rtlCol="0" anchor="t">
            <a:normAutofit/>
          </a:bodyPr>
          <a:lstStyle/>
          <a:p>
            <a:pPr algn="l" indent="0" marL="0">
              <a:buNone/>
            </a:pPr>
            <a:r>
              <a:rPr lang="en-US" sz="890" dirty="0">
                <a:solidFill>
                  <a:srgbClr val="91A0B8"/>
                </a:solidFill>
                <a:latin typeface="Arial" pitchFamily="34" charset="0"/>
                <a:ea typeface="Arial" pitchFamily="34" charset="-122"/>
                <a:cs typeface="Arial" pitchFamily="34" charset="-120"/>
              </a:rPr>
              <a:t>where + when scheduling under uncertainty</a:t>
            </a:r>
            <a:endParaRPr lang="en-US" sz="890" dirty="0"/>
          </a:p>
        </p:txBody>
      </p:sp>
      <p:sp>
        <p:nvSpPr>
          <p:cNvPr id="13" name="Shape 11"/>
          <p:cNvSpPr/>
          <p:nvPr/>
        </p:nvSpPr>
        <p:spPr>
          <a:xfrm>
            <a:off x="5193792" y="2139696"/>
            <a:ext cx="530352" cy="530352"/>
          </a:xfrm>
          <a:prstGeom prst="ellipse">
            <a:avLst/>
          </a:prstGeom>
          <a:solidFill>
            <a:srgbClr val="3CE28F">
              <a:alpha val="18000"/>
            </a:srgbClr>
          </a:solidFill>
          <a:ln w="13970">
            <a:solidFill>
              <a:srgbClr val="3CE28F"/>
            </a:solidFill>
            <a:prstDash val="solid"/>
          </a:ln>
        </p:spPr>
      </p:sp>
      <p:sp>
        <p:nvSpPr>
          <p:cNvPr id="14" name="Text 12"/>
          <p:cNvSpPr txBox="1"/>
          <p:nvPr/>
        </p:nvSpPr>
        <p:spPr>
          <a:xfrm>
            <a:off x="5193792" y="2267712"/>
            <a:ext cx="530352" cy="201168"/>
          </a:xfrm>
          <a:prstGeom prst="rect">
            <a:avLst/>
          </a:prstGeom>
          <a:noFill/>
          <a:ln/>
        </p:spPr>
        <p:txBody>
          <a:bodyPr wrap="square" lIns="0" tIns="0" rIns="0" bIns="0" rtlCol="0" anchor="ctr">
            <a:normAutofit/>
          </a:bodyPr>
          <a:lstStyle/>
          <a:p>
            <a:pPr algn="ctr" indent="0" marL="0">
              <a:buNone/>
            </a:pPr>
            <a:r>
              <a:rPr lang="en-US" sz="1100" b="1" dirty="0">
                <a:solidFill>
                  <a:srgbClr val="3CE28F"/>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5852160" y="2121408"/>
            <a:ext cx="1389888" cy="256032"/>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Backend</a:t>
            </a:r>
            <a:endParaRPr lang="en-US" sz="1250" dirty="0"/>
          </a:p>
        </p:txBody>
      </p:sp>
      <p:sp>
        <p:nvSpPr>
          <p:cNvPr id="16" name="Text 14"/>
          <p:cNvSpPr txBox="1"/>
          <p:nvPr/>
        </p:nvSpPr>
        <p:spPr>
          <a:xfrm>
            <a:off x="5852160" y="2441448"/>
            <a:ext cx="1463040" cy="457200"/>
          </a:xfrm>
          <a:prstGeom prst="rect">
            <a:avLst/>
          </a:prstGeom>
          <a:noFill/>
          <a:ln/>
        </p:spPr>
        <p:txBody>
          <a:bodyPr wrap="square" lIns="0" tIns="0" rIns="0" bIns="0" rtlCol="0" anchor="t">
            <a:normAutofit/>
          </a:bodyPr>
          <a:lstStyle/>
          <a:p>
            <a:pPr algn="l" indent="0" marL="0">
              <a:buNone/>
            </a:pPr>
            <a:r>
              <a:rPr lang="en-US" sz="890" dirty="0">
                <a:solidFill>
                  <a:srgbClr val="91A0B8"/>
                </a:solidFill>
                <a:latin typeface="Arial" pitchFamily="34" charset="0"/>
                <a:ea typeface="Arial" pitchFamily="34" charset="-122"/>
                <a:cs typeface="Arial" pitchFamily="34" charset="-120"/>
              </a:rPr>
              <a:t>validated API, run controller, deterministic scheduler</a:t>
            </a:r>
            <a:endParaRPr lang="en-US" sz="890" dirty="0"/>
          </a:p>
        </p:txBody>
      </p:sp>
      <p:sp>
        <p:nvSpPr>
          <p:cNvPr id="17" name="Shape 15"/>
          <p:cNvSpPr/>
          <p:nvPr/>
        </p:nvSpPr>
        <p:spPr>
          <a:xfrm>
            <a:off x="7461504" y="3072384"/>
            <a:ext cx="530352" cy="530352"/>
          </a:xfrm>
          <a:prstGeom prst="ellipse">
            <a:avLst/>
          </a:prstGeom>
          <a:solidFill>
            <a:srgbClr val="A7A1FF">
              <a:alpha val="18000"/>
            </a:srgbClr>
          </a:solidFill>
          <a:ln w="13970">
            <a:solidFill>
              <a:srgbClr val="A7A1FF"/>
            </a:solidFill>
            <a:prstDash val="solid"/>
          </a:ln>
        </p:spPr>
      </p:sp>
      <p:sp>
        <p:nvSpPr>
          <p:cNvPr id="18" name="Text 16"/>
          <p:cNvSpPr txBox="1"/>
          <p:nvPr/>
        </p:nvSpPr>
        <p:spPr>
          <a:xfrm>
            <a:off x="7461504" y="3200400"/>
            <a:ext cx="530352" cy="201168"/>
          </a:xfrm>
          <a:prstGeom prst="rect">
            <a:avLst/>
          </a:prstGeom>
          <a:noFill/>
          <a:ln/>
        </p:spPr>
        <p:txBody>
          <a:bodyPr wrap="square" lIns="0" tIns="0" rIns="0" bIns="0" rtlCol="0" anchor="ctr">
            <a:normAutofit/>
          </a:bodyPr>
          <a:lstStyle/>
          <a:p>
            <a:pPr algn="ctr" indent="0" marL="0">
              <a:buNone/>
            </a:pPr>
            <a:r>
              <a:rPr lang="en-US" sz="1100" b="1" dirty="0">
                <a:solidFill>
                  <a:srgbClr val="A7A1FF"/>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8119872" y="3054096"/>
            <a:ext cx="1389888" cy="256032"/>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Frontend</a:t>
            </a:r>
            <a:endParaRPr lang="en-US" sz="1250" dirty="0"/>
          </a:p>
        </p:txBody>
      </p:sp>
      <p:sp>
        <p:nvSpPr>
          <p:cNvPr id="20" name="Text 18"/>
          <p:cNvSpPr txBox="1"/>
          <p:nvPr/>
        </p:nvSpPr>
        <p:spPr>
          <a:xfrm>
            <a:off x="8119872" y="3374136"/>
            <a:ext cx="1463040" cy="457200"/>
          </a:xfrm>
          <a:prstGeom prst="rect">
            <a:avLst/>
          </a:prstGeom>
          <a:noFill/>
          <a:ln/>
        </p:spPr>
        <p:txBody>
          <a:bodyPr wrap="square" lIns="0" tIns="0" rIns="0" bIns="0" rtlCol="0" anchor="t">
            <a:normAutofit/>
          </a:bodyPr>
          <a:lstStyle/>
          <a:p>
            <a:pPr algn="l" indent="0" marL="0">
              <a:buNone/>
            </a:pPr>
            <a:r>
              <a:rPr lang="en-US" sz="890" dirty="0">
                <a:solidFill>
                  <a:srgbClr val="91A0B8"/>
                </a:solidFill>
                <a:latin typeface="Arial" pitchFamily="34" charset="0"/>
                <a:ea typeface="Arial" pitchFamily="34" charset="-122"/>
                <a:cs typeface="Arial" pitchFamily="34" charset="-120"/>
              </a:rPr>
              <a:t>live dashboard, charts, explanation panels</a:t>
            </a:r>
            <a:endParaRPr lang="en-US" sz="890" dirty="0"/>
          </a:p>
        </p:txBody>
      </p:sp>
      <p:sp>
        <p:nvSpPr>
          <p:cNvPr id="21" name="Shape 19"/>
          <p:cNvSpPr/>
          <p:nvPr/>
        </p:nvSpPr>
        <p:spPr>
          <a:xfrm>
            <a:off x="9729216" y="2139696"/>
            <a:ext cx="530352" cy="530352"/>
          </a:xfrm>
          <a:prstGeom prst="ellipse">
            <a:avLst/>
          </a:prstGeom>
          <a:solidFill>
            <a:srgbClr val="F6C453">
              <a:alpha val="18000"/>
            </a:srgbClr>
          </a:solidFill>
          <a:ln w="13970">
            <a:solidFill>
              <a:srgbClr val="F6C453"/>
            </a:solidFill>
            <a:prstDash val="solid"/>
          </a:ln>
        </p:spPr>
      </p:sp>
      <p:sp>
        <p:nvSpPr>
          <p:cNvPr id="22" name="Text 20"/>
          <p:cNvSpPr txBox="1"/>
          <p:nvPr/>
        </p:nvSpPr>
        <p:spPr>
          <a:xfrm>
            <a:off x="9729216" y="2267712"/>
            <a:ext cx="530352" cy="201168"/>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5</a:t>
            </a:r>
            <a:endParaRPr lang="en-US" sz="1100" dirty="0"/>
          </a:p>
        </p:txBody>
      </p:sp>
      <p:sp>
        <p:nvSpPr>
          <p:cNvPr id="23" name="Text 21"/>
          <p:cNvSpPr txBox="1"/>
          <p:nvPr/>
        </p:nvSpPr>
        <p:spPr>
          <a:xfrm>
            <a:off x="10387584" y="2121408"/>
            <a:ext cx="1389888" cy="256032"/>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Evaluation</a:t>
            </a:r>
            <a:endParaRPr lang="en-US" sz="1250" dirty="0"/>
          </a:p>
        </p:txBody>
      </p:sp>
      <p:sp>
        <p:nvSpPr>
          <p:cNvPr id="24" name="Text 22"/>
          <p:cNvSpPr txBox="1"/>
          <p:nvPr/>
        </p:nvSpPr>
        <p:spPr>
          <a:xfrm>
            <a:off x="10387584" y="2441448"/>
            <a:ext cx="1463040" cy="457200"/>
          </a:xfrm>
          <a:prstGeom prst="rect">
            <a:avLst/>
          </a:prstGeom>
          <a:noFill/>
          <a:ln/>
        </p:spPr>
        <p:txBody>
          <a:bodyPr wrap="square" lIns="0" tIns="0" rIns="0" bIns="0" rtlCol="0" anchor="t">
            <a:normAutofit/>
          </a:bodyPr>
          <a:lstStyle/>
          <a:p>
            <a:pPr algn="l" indent="0" marL="0">
              <a:buNone/>
            </a:pPr>
            <a:r>
              <a:rPr lang="en-US" sz="890" dirty="0">
                <a:solidFill>
                  <a:srgbClr val="91A0B8"/>
                </a:solidFill>
                <a:latin typeface="Arial" pitchFamily="34" charset="0"/>
                <a:ea typeface="Arial" pitchFamily="34" charset="-122"/>
                <a:cs typeface="Arial" pitchFamily="34" charset="-120"/>
              </a:rPr>
              <a:t>completion, detection latency, churn, speed</a:t>
            </a:r>
            <a:endParaRPr lang="en-US" sz="890" dirty="0"/>
          </a:p>
        </p:txBody>
      </p:sp>
      <p:sp>
        <p:nvSpPr>
          <p:cNvPr id="25" name="Shape 23"/>
          <p:cNvSpPr/>
          <p:nvPr/>
        </p:nvSpPr>
        <p:spPr>
          <a:xfrm>
            <a:off x="914400" y="4791456"/>
            <a:ext cx="10332720" cy="804672"/>
          </a:xfrm>
          <a:prstGeom prst="roundRect">
            <a:avLst>
              <a:gd name="adj" fmla="val 13636"/>
            </a:avLst>
          </a:prstGeom>
          <a:solidFill>
            <a:srgbClr val="0D1B23"/>
          </a:solidFill>
          <a:ln w="12700">
            <a:solidFill>
              <a:srgbClr val="25D0B1"/>
            </a:solidFill>
            <a:prstDash val="solid"/>
          </a:ln>
        </p:spPr>
      </p:sp>
      <p:sp>
        <p:nvSpPr>
          <p:cNvPr id="26" name="Text 24"/>
          <p:cNvSpPr txBox="1"/>
          <p:nvPr/>
        </p:nvSpPr>
        <p:spPr>
          <a:xfrm>
            <a:off x="1143000" y="4937760"/>
            <a:ext cx="1325880" cy="201168"/>
          </a:xfrm>
          <a:prstGeom prst="rect">
            <a:avLst/>
          </a:prstGeom>
          <a:noFill/>
          <a:ln/>
        </p:spPr>
        <p:txBody>
          <a:bodyPr wrap="square" lIns="0" tIns="0" rIns="0" bIns="0" rtlCol="0" anchor="ctr">
            <a:normAutofit/>
          </a:bodyPr>
          <a:lstStyle/>
          <a:p>
            <a:pPr algn="l" indent="0" marL="0">
              <a:buNone/>
            </a:pPr>
            <a:r>
              <a:rPr lang="en-US" sz="900" b="1" dirty="0">
                <a:solidFill>
                  <a:srgbClr val="25D0B1"/>
                </a:solidFill>
                <a:latin typeface="Arial" pitchFamily="34" charset="0"/>
                <a:ea typeface="Arial" pitchFamily="34" charset="-122"/>
                <a:cs typeface="Arial" pitchFamily="34" charset="-120"/>
              </a:rPr>
              <a:t>End-to-end story</a:t>
            </a:r>
            <a:endParaRPr lang="en-US" sz="900" dirty="0"/>
          </a:p>
        </p:txBody>
      </p:sp>
      <p:sp>
        <p:nvSpPr>
          <p:cNvPr id="27" name="Text 25"/>
          <p:cNvSpPr txBox="1"/>
          <p:nvPr/>
        </p:nvSpPr>
        <p:spPr>
          <a:xfrm>
            <a:off x="2670048" y="4892040"/>
            <a:ext cx="8156448" cy="310896"/>
          </a:xfrm>
          <a:prstGeom prst="rect">
            <a:avLst/>
          </a:prstGeom>
          <a:noFill/>
          <a:ln/>
        </p:spPr>
        <p:txBody>
          <a:bodyPr wrap="square" lIns="0" tIns="0" rIns="0" bIns="0" rtlCol="0" anchor="ctr">
            <a:normAutofit/>
          </a:bodyPr>
          <a:lstStyle/>
          <a:p>
            <a:pPr algn="l" indent="0" marL="0">
              <a:buNone/>
            </a:pPr>
            <a:r>
              <a:rPr lang="en-US" sz="1300" b="1" dirty="0">
                <a:solidFill>
                  <a:srgbClr val="F6F8FC"/>
                </a:solidFill>
                <a:latin typeface="Arial" pitchFamily="34" charset="0"/>
                <a:ea typeface="Arial" pitchFamily="34" charset="-122"/>
                <a:cs typeface="Arial" pitchFamily="34" charset="-120"/>
              </a:rPr>
              <a:t>Telemetry enters the backend, ACT produces assignment/reroute decisions, and the frontend explains why each decision was made.</a:t>
            </a:r>
            <a:endParaRPr lang="en-US" sz="13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OFFICIAL GUIDELINE MAPPING</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What MM26AI02 asks us to build</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uploaded guideline defines an unattended agent that monitors telemetry, infers health and reroutes only when justified.</a:t>
            </a:r>
            <a:endParaRPr lang="en-US" sz="1200" dirty="0"/>
          </a:p>
        </p:txBody>
      </p:sp>
      <p:sp>
        <p:nvSpPr>
          <p:cNvPr id="5" name="Shape 3"/>
          <p:cNvSpPr/>
          <p:nvPr/>
        </p:nvSpPr>
        <p:spPr>
          <a:xfrm>
            <a:off x="566928" y="1572768"/>
            <a:ext cx="3611880" cy="4526280"/>
          </a:xfrm>
          <a:prstGeom prst="roundRect">
            <a:avLst>
              <a:gd name="adj" fmla="val 3038"/>
            </a:avLst>
          </a:prstGeom>
          <a:solidFill>
            <a:srgbClr val="101827"/>
          </a:solidFill>
          <a:ln w="12700">
            <a:solidFill>
              <a:srgbClr val="40D9FF"/>
            </a:solidFill>
            <a:prstDash val="solid"/>
          </a:ln>
        </p:spPr>
      </p:sp>
      <p:sp>
        <p:nvSpPr>
          <p:cNvPr id="6" name="Shape 4"/>
          <p:cNvSpPr/>
          <p:nvPr/>
        </p:nvSpPr>
        <p:spPr>
          <a:xfrm>
            <a:off x="822960" y="1792224"/>
            <a:ext cx="1133856"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7" name="Text 5"/>
          <p:cNvSpPr txBox="1"/>
          <p:nvPr/>
        </p:nvSpPr>
        <p:spPr>
          <a:xfrm>
            <a:off x="877824" y="1833372"/>
            <a:ext cx="1024128"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MUST MONITOR</a:t>
            </a:r>
            <a:endParaRPr lang="en-US" sz="810" dirty="0"/>
          </a:p>
        </p:txBody>
      </p:sp>
      <p:sp>
        <p:nvSpPr>
          <p:cNvPr id="8" name="Shape 6"/>
          <p:cNvSpPr/>
          <p:nvPr/>
        </p:nvSpPr>
        <p:spPr>
          <a:xfrm>
            <a:off x="914400" y="2359152"/>
            <a:ext cx="82296" cy="82296"/>
          </a:xfrm>
          <a:prstGeom prst="ellipse">
            <a:avLst/>
          </a:prstGeom>
          <a:solidFill>
            <a:srgbClr val="40D9FF"/>
          </a:solidFill>
          <a:ln w="12700">
            <a:solidFill>
              <a:srgbClr val="40D9FF"/>
            </a:solidFill>
            <a:prstDash val="solid"/>
          </a:ln>
        </p:spPr>
      </p:sp>
      <p:sp>
        <p:nvSpPr>
          <p:cNvPr id="9" name="Text 7"/>
          <p:cNvSpPr txBox="1"/>
          <p:nvPr/>
        </p:nvSpPr>
        <p:spPr>
          <a:xfrm>
            <a:off x="1078992" y="2295144"/>
            <a:ext cx="192024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heartbeats</a:t>
            </a:r>
            <a:endParaRPr lang="en-US" sz="1080" dirty="0"/>
          </a:p>
        </p:txBody>
      </p:sp>
      <p:sp>
        <p:nvSpPr>
          <p:cNvPr id="10" name="Shape 8"/>
          <p:cNvSpPr/>
          <p:nvPr/>
        </p:nvSpPr>
        <p:spPr>
          <a:xfrm>
            <a:off x="914400" y="2816352"/>
            <a:ext cx="82296" cy="82296"/>
          </a:xfrm>
          <a:prstGeom prst="ellipse">
            <a:avLst/>
          </a:prstGeom>
          <a:solidFill>
            <a:srgbClr val="40D9FF"/>
          </a:solidFill>
          <a:ln w="12700">
            <a:solidFill>
              <a:srgbClr val="40D9FF"/>
            </a:solidFill>
            <a:prstDash val="solid"/>
          </a:ln>
        </p:spPr>
      </p:sp>
      <p:sp>
        <p:nvSpPr>
          <p:cNvPr id="11" name="Text 9"/>
          <p:cNvSpPr txBox="1"/>
          <p:nvPr/>
        </p:nvSpPr>
        <p:spPr>
          <a:xfrm>
            <a:off x="1078992" y="2752344"/>
            <a:ext cx="192024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latency</a:t>
            </a:r>
            <a:endParaRPr lang="en-US" sz="1080" dirty="0"/>
          </a:p>
        </p:txBody>
      </p:sp>
      <p:sp>
        <p:nvSpPr>
          <p:cNvPr id="12" name="Shape 10"/>
          <p:cNvSpPr/>
          <p:nvPr/>
        </p:nvSpPr>
        <p:spPr>
          <a:xfrm>
            <a:off x="914400" y="3273552"/>
            <a:ext cx="82296" cy="82296"/>
          </a:xfrm>
          <a:prstGeom prst="ellipse">
            <a:avLst/>
          </a:prstGeom>
          <a:solidFill>
            <a:srgbClr val="40D9FF"/>
          </a:solidFill>
          <a:ln w="12700">
            <a:solidFill>
              <a:srgbClr val="40D9FF"/>
            </a:solidFill>
            <a:prstDash val="solid"/>
          </a:ln>
        </p:spPr>
      </p:sp>
      <p:sp>
        <p:nvSpPr>
          <p:cNvPr id="13" name="Text 11"/>
          <p:cNvSpPr txBox="1"/>
          <p:nvPr/>
        </p:nvSpPr>
        <p:spPr>
          <a:xfrm>
            <a:off x="1078992" y="3209544"/>
            <a:ext cx="192024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error rates</a:t>
            </a:r>
            <a:endParaRPr lang="en-US" sz="1080" dirty="0"/>
          </a:p>
        </p:txBody>
      </p:sp>
      <p:sp>
        <p:nvSpPr>
          <p:cNvPr id="14" name="Shape 12"/>
          <p:cNvSpPr/>
          <p:nvPr/>
        </p:nvSpPr>
        <p:spPr>
          <a:xfrm>
            <a:off x="914400" y="3730752"/>
            <a:ext cx="82296" cy="82296"/>
          </a:xfrm>
          <a:prstGeom prst="ellipse">
            <a:avLst/>
          </a:prstGeom>
          <a:solidFill>
            <a:srgbClr val="40D9FF"/>
          </a:solidFill>
          <a:ln w="12700">
            <a:solidFill>
              <a:srgbClr val="40D9FF"/>
            </a:solidFill>
            <a:prstDash val="solid"/>
          </a:ln>
        </p:spPr>
      </p:sp>
      <p:sp>
        <p:nvSpPr>
          <p:cNvPr id="15" name="Text 13"/>
          <p:cNvSpPr txBox="1"/>
          <p:nvPr/>
        </p:nvSpPr>
        <p:spPr>
          <a:xfrm>
            <a:off x="1078992" y="3666744"/>
            <a:ext cx="192024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queue depth</a:t>
            </a:r>
            <a:endParaRPr lang="en-US" sz="1080" dirty="0"/>
          </a:p>
        </p:txBody>
      </p:sp>
      <p:sp>
        <p:nvSpPr>
          <p:cNvPr id="16" name="Shape 14"/>
          <p:cNvSpPr/>
          <p:nvPr/>
        </p:nvSpPr>
        <p:spPr>
          <a:xfrm>
            <a:off x="914400" y="4187952"/>
            <a:ext cx="82296" cy="82296"/>
          </a:xfrm>
          <a:prstGeom prst="ellipse">
            <a:avLst/>
          </a:prstGeom>
          <a:solidFill>
            <a:srgbClr val="40D9FF"/>
          </a:solidFill>
          <a:ln w="12700">
            <a:solidFill>
              <a:srgbClr val="40D9FF"/>
            </a:solidFill>
            <a:prstDash val="solid"/>
          </a:ln>
        </p:spPr>
      </p:sp>
      <p:sp>
        <p:nvSpPr>
          <p:cNvPr id="17" name="Text 15"/>
          <p:cNvSpPr txBox="1"/>
          <p:nvPr/>
        </p:nvSpPr>
        <p:spPr>
          <a:xfrm>
            <a:off x="1078992" y="4123944"/>
            <a:ext cx="192024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current task list</a:t>
            </a:r>
            <a:endParaRPr lang="en-US" sz="1080" dirty="0"/>
          </a:p>
        </p:txBody>
      </p:sp>
      <p:sp>
        <p:nvSpPr>
          <p:cNvPr id="18" name="Text 16"/>
          <p:cNvSpPr txBox="1"/>
          <p:nvPr/>
        </p:nvSpPr>
        <p:spPr>
          <a:xfrm>
            <a:off x="896112" y="4937760"/>
            <a:ext cx="2633472" cy="402336"/>
          </a:xfrm>
          <a:prstGeom prst="rect">
            <a:avLst/>
          </a:prstGeom>
          <a:noFill/>
          <a:ln/>
        </p:spPr>
        <p:txBody>
          <a:bodyPr wrap="square" lIns="0" tIns="0" rIns="0" bIns="0" rtlCol="0" anchor="ctr">
            <a:normAutofit/>
          </a:bodyPr>
          <a:lstStyle/>
          <a:p>
            <a:pPr algn="ctr" indent="0" marL="0">
              <a:buNone/>
            </a:pPr>
            <a:r>
              <a:rPr lang="en-US" sz="1200" b="1" dirty="0">
                <a:solidFill>
                  <a:srgbClr val="F6F8FC"/>
                </a:solidFill>
                <a:latin typeface="Arial" pitchFamily="34" charset="0"/>
                <a:ea typeface="Arial" pitchFamily="34" charset="-122"/>
                <a:cs typeface="Arial" pitchFamily="34" charset="-120"/>
              </a:rPr>
              <a:t>The agent never sees true node health directly.</a:t>
            </a:r>
            <a:endParaRPr lang="en-US" sz="1200" dirty="0"/>
          </a:p>
        </p:txBody>
      </p:sp>
      <p:sp>
        <p:nvSpPr>
          <p:cNvPr id="19" name="Shape 17"/>
          <p:cNvSpPr/>
          <p:nvPr/>
        </p:nvSpPr>
        <p:spPr>
          <a:xfrm>
            <a:off x="4425696" y="1572768"/>
            <a:ext cx="3611880" cy="4526280"/>
          </a:xfrm>
          <a:prstGeom prst="roundRect">
            <a:avLst>
              <a:gd name="adj" fmla="val 3038"/>
            </a:avLst>
          </a:prstGeom>
          <a:solidFill>
            <a:srgbClr val="101827"/>
          </a:solidFill>
          <a:ln w="12700">
            <a:solidFill>
              <a:srgbClr val="3CE28F"/>
            </a:solidFill>
            <a:prstDash val="solid"/>
          </a:ln>
        </p:spPr>
      </p:sp>
      <p:sp>
        <p:nvSpPr>
          <p:cNvPr id="20" name="Shape 18"/>
          <p:cNvSpPr/>
          <p:nvPr/>
        </p:nvSpPr>
        <p:spPr>
          <a:xfrm>
            <a:off x="4681728" y="1792224"/>
            <a:ext cx="1060704" cy="274320"/>
          </a:xfrm>
          <a:prstGeom prst="roundRect">
            <a:avLst>
              <a:gd name="adj" fmla="val 46667"/>
            </a:avLst>
          </a:prstGeom>
          <a:solidFill>
            <a:srgbClr val="3CE28F">
              <a:alpha val="14000"/>
            </a:srgbClr>
          </a:solidFill>
          <a:ln w="11430">
            <a:solidFill>
              <a:srgbClr val="3CE28F">
                <a:alpha val="65000"/>
              </a:srgbClr>
            </a:solidFill>
            <a:prstDash val="solid"/>
          </a:ln>
        </p:spPr>
      </p:sp>
      <p:sp>
        <p:nvSpPr>
          <p:cNvPr id="21" name="Text 19"/>
          <p:cNvSpPr txBox="1"/>
          <p:nvPr/>
        </p:nvSpPr>
        <p:spPr>
          <a:xfrm>
            <a:off x="4736592" y="1833372"/>
            <a:ext cx="950976" cy="164592"/>
          </a:xfrm>
          <a:prstGeom prst="rect">
            <a:avLst/>
          </a:prstGeom>
          <a:noFill/>
          <a:ln/>
        </p:spPr>
        <p:txBody>
          <a:bodyPr wrap="square" lIns="0" tIns="0" rIns="0" bIns="0" rtlCol="0" anchor="ctr">
            <a:normAutofit/>
          </a:bodyPr>
          <a:lstStyle/>
          <a:p>
            <a:pPr algn="ctr" indent="0" marL="0">
              <a:buNone/>
            </a:pPr>
            <a:r>
              <a:rPr lang="en-US" sz="810" b="1" dirty="0">
                <a:solidFill>
                  <a:srgbClr val="3CE28F"/>
                </a:solidFill>
                <a:latin typeface="Arial" pitchFamily="34" charset="0"/>
                <a:ea typeface="Arial" pitchFamily="34" charset="-122"/>
                <a:cs typeface="Arial" pitchFamily="34" charset="-120"/>
              </a:rPr>
              <a:t>MUST DECIDE</a:t>
            </a:r>
            <a:endParaRPr lang="en-US" sz="810" dirty="0"/>
          </a:p>
        </p:txBody>
      </p:sp>
      <p:sp>
        <p:nvSpPr>
          <p:cNvPr id="22" name="Shape 20"/>
          <p:cNvSpPr/>
          <p:nvPr/>
        </p:nvSpPr>
        <p:spPr>
          <a:xfrm>
            <a:off x="4773168" y="2359152"/>
            <a:ext cx="82296" cy="82296"/>
          </a:xfrm>
          <a:prstGeom prst="ellipse">
            <a:avLst/>
          </a:prstGeom>
          <a:solidFill>
            <a:srgbClr val="3CE28F"/>
          </a:solidFill>
          <a:ln w="12700">
            <a:solidFill>
              <a:srgbClr val="3CE28F"/>
            </a:solidFill>
            <a:prstDash val="solid"/>
          </a:ln>
        </p:spPr>
      </p:sp>
      <p:sp>
        <p:nvSpPr>
          <p:cNvPr id="23" name="Text 21"/>
          <p:cNvSpPr txBox="1"/>
          <p:nvPr/>
        </p:nvSpPr>
        <p:spPr>
          <a:xfrm>
            <a:off x="4937760" y="2295144"/>
            <a:ext cx="228600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estimate node health</a:t>
            </a:r>
            <a:endParaRPr lang="en-US" sz="1080" dirty="0"/>
          </a:p>
        </p:txBody>
      </p:sp>
      <p:sp>
        <p:nvSpPr>
          <p:cNvPr id="24" name="Shape 22"/>
          <p:cNvSpPr/>
          <p:nvPr/>
        </p:nvSpPr>
        <p:spPr>
          <a:xfrm>
            <a:off x="4773168" y="2816352"/>
            <a:ext cx="82296" cy="82296"/>
          </a:xfrm>
          <a:prstGeom prst="ellipse">
            <a:avLst/>
          </a:prstGeom>
          <a:solidFill>
            <a:srgbClr val="3CE28F"/>
          </a:solidFill>
          <a:ln w="12700">
            <a:solidFill>
              <a:srgbClr val="3CE28F"/>
            </a:solidFill>
            <a:prstDash val="solid"/>
          </a:ln>
        </p:spPr>
      </p:sp>
      <p:sp>
        <p:nvSpPr>
          <p:cNvPr id="25" name="Text 23"/>
          <p:cNvSpPr txBox="1"/>
          <p:nvPr/>
        </p:nvSpPr>
        <p:spPr>
          <a:xfrm>
            <a:off x="4937760" y="2752344"/>
            <a:ext cx="228600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detect degradation/failure</a:t>
            </a:r>
            <a:endParaRPr lang="en-US" sz="1080" dirty="0"/>
          </a:p>
        </p:txBody>
      </p:sp>
      <p:sp>
        <p:nvSpPr>
          <p:cNvPr id="26" name="Shape 24"/>
          <p:cNvSpPr/>
          <p:nvPr/>
        </p:nvSpPr>
        <p:spPr>
          <a:xfrm>
            <a:off x="4773168" y="3273552"/>
            <a:ext cx="82296" cy="82296"/>
          </a:xfrm>
          <a:prstGeom prst="ellipse">
            <a:avLst/>
          </a:prstGeom>
          <a:solidFill>
            <a:srgbClr val="3CE28F"/>
          </a:solidFill>
          <a:ln w="12700">
            <a:solidFill>
              <a:srgbClr val="3CE28F"/>
            </a:solidFill>
            <a:prstDash val="solid"/>
          </a:ln>
        </p:spPr>
      </p:sp>
      <p:sp>
        <p:nvSpPr>
          <p:cNvPr id="27" name="Text 25"/>
          <p:cNvSpPr txBox="1"/>
          <p:nvPr/>
        </p:nvSpPr>
        <p:spPr>
          <a:xfrm>
            <a:off x="4937760" y="3209544"/>
            <a:ext cx="228600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identify affected tasks</a:t>
            </a:r>
            <a:endParaRPr lang="en-US" sz="1080" dirty="0"/>
          </a:p>
        </p:txBody>
      </p:sp>
      <p:sp>
        <p:nvSpPr>
          <p:cNvPr id="28" name="Shape 26"/>
          <p:cNvSpPr/>
          <p:nvPr/>
        </p:nvSpPr>
        <p:spPr>
          <a:xfrm>
            <a:off x="4773168" y="3730752"/>
            <a:ext cx="82296" cy="82296"/>
          </a:xfrm>
          <a:prstGeom prst="ellipse">
            <a:avLst/>
          </a:prstGeom>
          <a:solidFill>
            <a:srgbClr val="3CE28F"/>
          </a:solidFill>
          <a:ln w="12700">
            <a:solidFill>
              <a:srgbClr val="3CE28F"/>
            </a:solidFill>
            <a:prstDash val="solid"/>
          </a:ln>
        </p:spPr>
      </p:sp>
      <p:sp>
        <p:nvSpPr>
          <p:cNvPr id="29" name="Text 27"/>
          <p:cNvSpPr txBox="1"/>
          <p:nvPr/>
        </p:nvSpPr>
        <p:spPr>
          <a:xfrm>
            <a:off x="4937760" y="3666744"/>
            <a:ext cx="228600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assign new work sensibly</a:t>
            </a:r>
            <a:endParaRPr lang="en-US" sz="1080" dirty="0"/>
          </a:p>
        </p:txBody>
      </p:sp>
      <p:sp>
        <p:nvSpPr>
          <p:cNvPr id="30" name="Shape 28"/>
          <p:cNvSpPr/>
          <p:nvPr/>
        </p:nvSpPr>
        <p:spPr>
          <a:xfrm>
            <a:off x="4773168" y="4187952"/>
            <a:ext cx="82296" cy="82296"/>
          </a:xfrm>
          <a:prstGeom prst="ellipse">
            <a:avLst/>
          </a:prstGeom>
          <a:solidFill>
            <a:srgbClr val="3CE28F"/>
          </a:solidFill>
          <a:ln w="12700">
            <a:solidFill>
              <a:srgbClr val="3CE28F"/>
            </a:solidFill>
            <a:prstDash val="solid"/>
          </a:ln>
        </p:spPr>
      </p:sp>
      <p:sp>
        <p:nvSpPr>
          <p:cNvPr id="31" name="Text 29"/>
          <p:cNvSpPr txBox="1"/>
          <p:nvPr/>
        </p:nvSpPr>
        <p:spPr>
          <a:xfrm>
            <a:off x="4937760" y="4123944"/>
            <a:ext cx="2286000" cy="219456"/>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reroute only when justified</a:t>
            </a:r>
            <a:endParaRPr lang="en-US" sz="1080" dirty="0"/>
          </a:p>
        </p:txBody>
      </p:sp>
      <p:sp>
        <p:nvSpPr>
          <p:cNvPr id="32" name="Text 30"/>
          <p:cNvSpPr txBox="1"/>
          <p:nvPr/>
        </p:nvSpPr>
        <p:spPr>
          <a:xfrm>
            <a:off x="4718304" y="4864608"/>
            <a:ext cx="2670048" cy="530352"/>
          </a:xfrm>
          <a:prstGeom prst="rect">
            <a:avLst/>
          </a:prstGeom>
          <a:noFill/>
          <a:ln/>
        </p:spPr>
        <p:txBody>
          <a:bodyPr wrap="square" lIns="0" tIns="0" rIns="0" bIns="0" rtlCol="0" anchor="ctr">
            <a:normAutofit/>
          </a:bodyPr>
          <a:lstStyle/>
          <a:p>
            <a:pPr algn="ctr" indent="0" marL="0">
              <a:buNone/>
            </a:pPr>
            <a:r>
              <a:rPr lang="en-US" sz="1200" b="1" dirty="0">
                <a:solidFill>
                  <a:srgbClr val="F6F8FC"/>
                </a:solidFill>
                <a:latin typeface="Arial" pitchFamily="34" charset="0"/>
                <a:ea typeface="Arial" pitchFamily="34" charset="-122"/>
                <a:cs typeface="Arial" pitchFamily="34" charset="-120"/>
              </a:rPr>
              <a:t>Cold restarting a task has real cost, so rerouting must be evidence driven.</a:t>
            </a:r>
            <a:endParaRPr lang="en-US" sz="1200" dirty="0"/>
          </a:p>
        </p:txBody>
      </p:sp>
      <p:sp>
        <p:nvSpPr>
          <p:cNvPr id="33" name="Shape 31"/>
          <p:cNvSpPr/>
          <p:nvPr/>
        </p:nvSpPr>
        <p:spPr>
          <a:xfrm>
            <a:off x="8284464" y="1572768"/>
            <a:ext cx="3337560" cy="4526280"/>
          </a:xfrm>
          <a:prstGeom prst="roundRect">
            <a:avLst>
              <a:gd name="adj" fmla="val 3288"/>
            </a:avLst>
          </a:prstGeom>
          <a:solidFill>
            <a:srgbClr val="101827"/>
          </a:solidFill>
          <a:ln w="12700">
            <a:solidFill>
              <a:srgbClr val="F6C453"/>
            </a:solidFill>
            <a:prstDash val="solid"/>
          </a:ln>
        </p:spPr>
      </p:sp>
      <p:sp>
        <p:nvSpPr>
          <p:cNvPr id="34" name="Shape 32"/>
          <p:cNvSpPr/>
          <p:nvPr/>
        </p:nvSpPr>
        <p:spPr>
          <a:xfrm>
            <a:off x="8540496" y="1792224"/>
            <a:ext cx="1042416" cy="274320"/>
          </a:xfrm>
          <a:prstGeom prst="roundRect">
            <a:avLst>
              <a:gd name="adj" fmla="val 46667"/>
            </a:avLst>
          </a:prstGeom>
          <a:solidFill>
            <a:srgbClr val="F6C453">
              <a:alpha val="14000"/>
            </a:srgbClr>
          </a:solidFill>
          <a:ln w="11430">
            <a:solidFill>
              <a:srgbClr val="F6C453">
                <a:alpha val="65000"/>
              </a:srgbClr>
            </a:solidFill>
            <a:prstDash val="solid"/>
          </a:ln>
        </p:spPr>
      </p:sp>
      <p:sp>
        <p:nvSpPr>
          <p:cNvPr id="35" name="Text 33"/>
          <p:cNvSpPr txBox="1"/>
          <p:nvPr/>
        </p:nvSpPr>
        <p:spPr>
          <a:xfrm>
            <a:off x="8595360" y="1833372"/>
            <a:ext cx="932688" cy="164592"/>
          </a:xfrm>
          <a:prstGeom prst="rect">
            <a:avLst/>
          </a:prstGeom>
          <a:noFill/>
          <a:ln/>
        </p:spPr>
        <p:txBody>
          <a:bodyPr wrap="square" lIns="0" tIns="0" rIns="0" bIns="0" rtlCol="0" anchor="ctr">
            <a:normAutofit/>
          </a:bodyPr>
          <a:lstStyle/>
          <a:p>
            <a:pPr algn="ctr" indent="0" marL="0">
              <a:buNone/>
            </a:pPr>
            <a:r>
              <a:rPr lang="en-US" sz="810" b="1" dirty="0">
                <a:solidFill>
                  <a:srgbClr val="F6C453"/>
                </a:solidFill>
                <a:latin typeface="Arial" pitchFamily="34" charset="0"/>
                <a:ea typeface="Arial" pitchFamily="34" charset="-122"/>
                <a:cs typeface="Arial" pitchFamily="34" charset="-120"/>
              </a:rPr>
              <a:t>JUDGED ON</a:t>
            </a:r>
            <a:endParaRPr lang="en-US" sz="810" dirty="0"/>
          </a:p>
        </p:txBody>
      </p:sp>
      <p:sp>
        <p:nvSpPr>
          <p:cNvPr id="36" name="Shape 34"/>
          <p:cNvSpPr/>
          <p:nvPr/>
        </p:nvSpPr>
        <p:spPr>
          <a:xfrm>
            <a:off x="8613648" y="2414016"/>
            <a:ext cx="310896" cy="310896"/>
          </a:xfrm>
          <a:prstGeom prst="ellipse">
            <a:avLst/>
          </a:prstGeom>
          <a:solidFill>
            <a:srgbClr val="F6C453">
              <a:alpha val="14000"/>
            </a:srgbClr>
          </a:solidFill>
          <a:ln w="12700">
            <a:solidFill>
              <a:srgbClr val="F6C453"/>
            </a:solidFill>
            <a:prstDash val="solid"/>
          </a:ln>
        </p:spPr>
      </p:sp>
      <p:sp>
        <p:nvSpPr>
          <p:cNvPr id="37" name="Text 35"/>
          <p:cNvSpPr txBox="1"/>
          <p:nvPr/>
        </p:nvSpPr>
        <p:spPr>
          <a:xfrm>
            <a:off x="8613648" y="2478024"/>
            <a:ext cx="310896" cy="109728"/>
          </a:xfrm>
          <a:prstGeom prst="rect">
            <a:avLst/>
          </a:prstGeom>
          <a:noFill/>
          <a:ln/>
        </p:spPr>
        <p:txBody>
          <a:bodyPr wrap="square" lIns="0" tIns="0" rIns="0" bIns="0" rtlCol="0" anchor="ctr">
            <a:normAutofit/>
          </a:bodyPr>
          <a:lstStyle/>
          <a:p>
            <a:pPr algn="ctr" indent="0" marL="0">
              <a:buNone/>
            </a:pPr>
            <a:r>
              <a:rPr lang="en-US" sz="800" b="1" dirty="0">
                <a:solidFill>
                  <a:srgbClr val="F6C453"/>
                </a:solidFill>
                <a:latin typeface="Arial" pitchFamily="34" charset="0"/>
                <a:ea typeface="Arial" pitchFamily="34" charset="-122"/>
                <a:cs typeface="Arial" pitchFamily="34" charset="-120"/>
              </a:rPr>
              <a:t>1</a:t>
            </a:r>
            <a:endParaRPr lang="en-US" sz="800" dirty="0"/>
          </a:p>
        </p:txBody>
      </p:sp>
      <p:sp>
        <p:nvSpPr>
          <p:cNvPr id="38" name="Text 36"/>
          <p:cNvSpPr txBox="1"/>
          <p:nvPr/>
        </p:nvSpPr>
        <p:spPr>
          <a:xfrm>
            <a:off x="9070848" y="2368296"/>
            <a:ext cx="1993392" cy="219456"/>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work completed on time</a:t>
            </a:r>
            <a:endParaRPr lang="en-US" sz="1070" dirty="0"/>
          </a:p>
        </p:txBody>
      </p:sp>
      <p:sp>
        <p:nvSpPr>
          <p:cNvPr id="39" name="Shape 37"/>
          <p:cNvSpPr/>
          <p:nvPr/>
        </p:nvSpPr>
        <p:spPr>
          <a:xfrm>
            <a:off x="8613648" y="3008376"/>
            <a:ext cx="310896" cy="310896"/>
          </a:xfrm>
          <a:prstGeom prst="ellipse">
            <a:avLst/>
          </a:prstGeom>
          <a:solidFill>
            <a:srgbClr val="F6C453">
              <a:alpha val="14000"/>
            </a:srgbClr>
          </a:solidFill>
          <a:ln w="12700">
            <a:solidFill>
              <a:srgbClr val="F6C453"/>
            </a:solidFill>
            <a:prstDash val="solid"/>
          </a:ln>
        </p:spPr>
      </p:sp>
      <p:sp>
        <p:nvSpPr>
          <p:cNvPr id="40" name="Text 38"/>
          <p:cNvSpPr txBox="1"/>
          <p:nvPr/>
        </p:nvSpPr>
        <p:spPr>
          <a:xfrm>
            <a:off x="8613648" y="3072384"/>
            <a:ext cx="310896" cy="109728"/>
          </a:xfrm>
          <a:prstGeom prst="rect">
            <a:avLst/>
          </a:prstGeom>
          <a:noFill/>
          <a:ln/>
        </p:spPr>
        <p:txBody>
          <a:bodyPr wrap="square" lIns="0" tIns="0" rIns="0" bIns="0" rtlCol="0" anchor="ctr">
            <a:normAutofit/>
          </a:bodyPr>
          <a:lstStyle/>
          <a:p>
            <a:pPr algn="ctr" indent="0" marL="0">
              <a:buNone/>
            </a:pPr>
            <a:r>
              <a:rPr lang="en-US" sz="800" b="1" dirty="0">
                <a:solidFill>
                  <a:srgbClr val="F6C453"/>
                </a:solidFill>
                <a:latin typeface="Arial" pitchFamily="34" charset="0"/>
                <a:ea typeface="Arial" pitchFamily="34" charset="-122"/>
                <a:cs typeface="Arial" pitchFamily="34" charset="-120"/>
              </a:rPr>
              <a:t>2</a:t>
            </a:r>
            <a:endParaRPr lang="en-US" sz="800" dirty="0"/>
          </a:p>
        </p:txBody>
      </p:sp>
      <p:sp>
        <p:nvSpPr>
          <p:cNvPr id="41" name="Text 39"/>
          <p:cNvSpPr txBox="1"/>
          <p:nvPr/>
        </p:nvSpPr>
        <p:spPr>
          <a:xfrm>
            <a:off x="9070848" y="2962656"/>
            <a:ext cx="1993392" cy="219456"/>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failure detection latency</a:t>
            </a:r>
            <a:endParaRPr lang="en-US" sz="1070" dirty="0"/>
          </a:p>
        </p:txBody>
      </p:sp>
      <p:sp>
        <p:nvSpPr>
          <p:cNvPr id="42" name="Shape 40"/>
          <p:cNvSpPr/>
          <p:nvPr/>
        </p:nvSpPr>
        <p:spPr>
          <a:xfrm>
            <a:off x="8613648" y="3602736"/>
            <a:ext cx="310896" cy="310896"/>
          </a:xfrm>
          <a:prstGeom prst="ellipse">
            <a:avLst/>
          </a:prstGeom>
          <a:solidFill>
            <a:srgbClr val="F6C453">
              <a:alpha val="14000"/>
            </a:srgbClr>
          </a:solidFill>
          <a:ln w="12700">
            <a:solidFill>
              <a:srgbClr val="F6C453"/>
            </a:solidFill>
            <a:prstDash val="solid"/>
          </a:ln>
        </p:spPr>
      </p:sp>
      <p:sp>
        <p:nvSpPr>
          <p:cNvPr id="43" name="Text 41"/>
          <p:cNvSpPr txBox="1"/>
          <p:nvPr/>
        </p:nvSpPr>
        <p:spPr>
          <a:xfrm>
            <a:off x="8613648" y="3666744"/>
            <a:ext cx="310896" cy="109728"/>
          </a:xfrm>
          <a:prstGeom prst="rect">
            <a:avLst/>
          </a:prstGeom>
          <a:noFill/>
          <a:ln/>
        </p:spPr>
        <p:txBody>
          <a:bodyPr wrap="square" lIns="0" tIns="0" rIns="0" bIns="0" rtlCol="0" anchor="ctr">
            <a:normAutofit/>
          </a:bodyPr>
          <a:lstStyle/>
          <a:p>
            <a:pPr algn="ctr" indent="0" marL="0">
              <a:buNone/>
            </a:pPr>
            <a:r>
              <a:rPr lang="en-US" sz="800" b="1" dirty="0">
                <a:solidFill>
                  <a:srgbClr val="F6C453"/>
                </a:solidFill>
                <a:latin typeface="Arial" pitchFamily="34" charset="0"/>
                <a:ea typeface="Arial" pitchFamily="34" charset="-122"/>
                <a:cs typeface="Arial" pitchFamily="34" charset="-120"/>
              </a:rPr>
              <a:t>3</a:t>
            </a:r>
            <a:endParaRPr lang="en-US" sz="800" dirty="0"/>
          </a:p>
        </p:txBody>
      </p:sp>
      <p:sp>
        <p:nvSpPr>
          <p:cNvPr id="44" name="Text 42"/>
          <p:cNvSpPr txBox="1"/>
          <p:nvPr/>
        </p:nvSpPr>
        <p:spPr>
          <a:xfrm>
            <a:off x="9070848" y="3557016"/>
            <a:ext cx="1993392" cy="219456"/>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low unnecessary churn</a:t>
            </a:r>
            <a:endParaRPr lang="en-US" sz="1070" dirty="0"/>
          </a:p>
        </p:txBody>
      </p:sp>
      <p:sp>
        <p:nvSpPr>
          <p:cNvPr id="45" name="Shape 43"/>
          <p:cNvSpPr/>
          <p:nvPr/>
        </p:nvSpPr>
        <p:spPr>
          <a:xfrm>
            <a:off x="8613648" y="4197096"/>
            <a:ext cx="310896" cy="310896"/>
          </a:xfrm>
          <a:prstGeom prst="ellipse">
            <a:avLst/>
          </a:prstGeom>
          <a:solidFill>
            <a:srgbClr val="F6C453">
              <a:alpha val="14000"/>
            </a:srgbClr>
          </a:solidFill>
          <a:ln w="12700">
            <a:solidFill>
              <a:srgbClr val="F6C453"/>
            </a:solidFill>
            <a:prstDash val="solid"/>
          </a:ln>
        </p:spPr>
      </p:sp>
      <p:sp>
        <p:nvSpPr>
          <p:cNvPr id="46" name="Text 44"/>
          <p:cNvSpPr txBox="1"/>
          <p:nvPr/>
        </p:nvSpPr>
        <p:spPr>
          <a:xfrm>
            <a:off x="8613648" y="4261104"/>
            <a:ext cx="310896" cy="109728"/>
          </a:xfrm>
          <a:prstGeom prst="rect">
            <a:avLst/>
          </a:prstGeom>
          <a:noFill/>
          <a:ln/>
        </p:spPr>
        <p:txBody>
          <a:bodyPr wrap="square" lIns="0" tIns="0" rIns="0" bIns="0" rtlCol="0" anchor="ctr">
            <a:normAutofit/>
          </a:bodyPr>
          <a:lstStyle/>
          <a:p>
            <a:pPr algn="ctr" indent="0" marL="0">
              <a:buNone/>
            </a:pPr>
            <a:r>
              <a:rPr lang="en-US" sz="800" b="1" dirty="0">
                <a:solidFill>
                  <a:srgbClr val="F6C453"/>
                </a:solidFill>
                <a:latin typeface="Arial" pitchFamily="34" charset="0"/>
                <a:ea typeface="Arial" pitchFamily="34" charset="-122"/>
                <a:cs typeface="Arial" pitchFamily="34" charset="-120"/>
              </a:rPr>
              <a:t>4</a:t>
            </a:r>
            <a:endParaRPr lang="en-US" sz="800" dirty="0"/>
          </a:p>
        </p:txBody>
      </p:sp>
      <p:sp>
        <p:nvSpPr>
          <p:cNvPr id="47" name="Text 45"/>
          <p:cNvSpPr txBox="1"/>
          <p:nvPr/>
        </p:nvSpPr>
        <p:spPr>
          <a:xfrm>
            <a:off x="9070848" y="4151376"/>
            <a:ext cx="1993392" cy="219456"/>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wall-clock compute budget</a:t>
            </a:r>
            <a:endParaRPr lang="en-US" sz="1070" dirty="0"/>
          </a:p>
        </p:txBody>
      </p:sp>
      <p:sp>
        <p:nvSpPr>
          <p:cNvPr id="48" name="Text 46"/>
          <p:cNvSpPr txBox="1"/>
          <p:nvPr/>
        </p:nvSpPr>
        <p:spPr>
          <a:xfrm>
            <a:off x="8613648" y="5074920"/>
            <a:ext cx="2231136" cy="365760"/>
          </a:xfrm>
          <a:prstGeom prst="rect">
            <a:avLst/>
          </a:prstGeom>
          <a:noFill/>
          <a:ln/>
        </p:spPr>
        <p:txBody>
          <a:bodyPr wrap="square" lIns="0" tIns="0" rIns="0" bIns="0" rtlCol="0" anchor="ctr">
            <a:normAutofit/>
          </a:bodyPr>
          <a:lstStyle/>
          <a:p>
            <a:pPr algn="ctr" indent="0" marL="0">
              <a:buNone/>
            </a:pPr>
            <a:r>
              <a:rPr lang="en-US" sz="1150" b="1" dirty="0">
                <a:solidFill>
                  <a:srgbClr val="F6F8FC"/>
                </a:solidFill>
                <a:latin typeface="Arial" pitchFamily="34" charset="0"/>
                <a:ea typeface="Arial" pitchFamily="34" charset="-122"/>
                <a:cs typeface="Arial" pitchFamily="34" charset="-120"/>
              </a:rPr>
              <a:t>ACT directly targets all three scoring goals plus runtime safety.</a:t>
            </a:r>
            <a:endParaRPr lang="en-US" sz="11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PROBLEM STATEMENT</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Keep the Cluster Alive — Detect, Reroute, Recover</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Distributed systems fail in pieces: one node slows down or goes silent while the rest of the cluster keeps running.</a:t>
            </a:r>
            <a:endParaRPr lang="en-US" sz="1200" dirty="0"/>
          </a:p>
        </p:txBody>
      </p:sp>
      <p:sp>
        <p:nvSpPr>
          <p:cNvPr id="5" name="Shape 3"/>
          <p:cNvSpPr/>
          <p:nvPr/>
        </p:nvSpPr>
        <p:spPr>
          <a:xfrm>
            <a:off x="566928" y="1627632"/>
            <a:ext cx="3456432" cy="4434840"/>
          </a:xfrm>
          <a:prstGeom prst="roundRect">
            <a:avLst>
              <a:gd name="adj" fmla="val 3175"/>
            </a:avLst>
          </a:prstGeom>
          <a:solidFill>
            <a:srgbClr val="101827"/>
          </a:solidFill>
          <a:ln w="12700">
            <a:solidFill>
              <a:srgbClr val="40D9FF"/>
            </a:solidFill>
            <a:prstDash val="solid"/>
          </a:ln>
        </p:spPr>
      </p:sp>
      <p:sp>
        <p:nvSpPr>
          <p:cNvPr id="6" name="Shape 4"/>
          <p:cNvSpPr/>
          <p:nvPr/>
        </p:nvSpPr>
        <p:spPr>
          <a:xfrm>
            <a:off x="822960" y="1847088"/>
            <a:ext cx="841248"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7" name="Text 5"/>
          <p:cNvSpPr txBox="1"/>
          <p:nvPr/>
        </p:nvSpPr>
        <p:spPr>
          <a:xfrm>
            <a:off x="877824" y="1888236"/>
            <a:ext cx="731520"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INPUTS</a:t>
            </a:r>
            <a:endParaRPr lang="en-US" sz="810" dirty="0"/>
          </a:p>
        </p:txBody>
      </p:sp>
      <p:sp>
        <p:nvSpPr>
          <p:cNvPr id="8" name="Shape 6"/>
          <p:cNvSpPr/>
          <p:nvPr/>
        </p:nvSpPr>
        <p:spPr>
          <a:xfrm>
            <a:off x="877824" y="2386584"/>
            <a:ext cx="91440" cy="91440"/>
          </a:xfrm>
          <a:prstGeom prst="ellipse">
            <a:avLst/>
          </a:prstGeom>
          <a:solidFill>
            <a:srgbClr val="40D9FF"/>
          </a:solidFill>
          <a:ln w="12700">
            <a:solidFill>
              <a:srgbClr val="40D9FF"/>
            </a:solidFill>
            <a:prstDash val="solid"/>
          </a:ln>
        </p:spPr>
      </p:sp>
      <p:sp>
        <p:nvSpPr>
          <p:cNvPr id="9" name="Text 7"/>
          <p:cNvSpPr txBox="1"/>
          <p:nvPr/>
        </p:nvSpPr>
        <p:spPr>
          <a:xfrm>
            <a:off x="1042416" y="2322576"/>
            <a:ext cx="960120"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Heartbeat</a:t>
            </a:r>
            <a:endParaRPr lang="en-US" sz="1030" dirty="0"/>
          </a:p>
        </p:txBody>
      </p:sp>
      <p:sp>
        <p:nvSpPr>
          <p:cNvPr id="10" name="Text 8"/>
          <p:cNvSpPr txBox="1"/>
          <p:nvPr/>
        </p:nvSpPr>
        <p:spPr>
          <a:xfrm>
            <a:off x="2057400" y="2322576"/>
            <a:ext cx="1261872" cy="219456"/>
          </a:xfrm>
          <a:prstGeom prst="rect">
            <a:avLst/>
          </a:prstGeom>
          <a:noFill/>
          <a:ln/>
        </p:spPr>
        <p:txBody>
          <a:bodyPr wrap="square" lIns="0" tIns="0" rIns="0" bIns="0" rtlCol="0" anchor="ctr">
            <a:normAutofit/>
          </a:bodyPr>
          <a:lstStyle/>
          <a:p>
            <a:pPr algn="l" indent="0" marL="0">
              <a:buNone/>
            </a:pPr>
            <a:r>
              <a:rPr lang="en-US" sz="940" dirty="0">
                <a:solidFill>
                  <a:srgbClr val="91A0B8"/>
                </a:solidFill>
                <a:latin typeface="Arial" pitchFamily="34" charset="0"/>
                <a:ea typeface="Arial" pitchFamily="34" charset="-122"/>
                <a:cs typeface="Arial" pitchFamily="34" charset="-120"/>
              </a:rPr>
              <a:t>responding?</a:t>
            </a:r>
            <a:endParaRPr lang="en-US" sz="940" dirty="0"/>
          </a:p>
        </p:txBody>
      </p:sp>
      <p:sp>
        <p:nvSpPr>
          <p:cNvPr id="11" name="Shape 9"/>
          <p:cNvSpPr/>
          <p:nvPr/>
        </p:nvSpPr>
        <p:spPr>
          <a:xfrm>
            <a:off x="877824" y="2916936"/>
            <a:ext cx="91440" cy="91440"/>
          </a:xfrm>
          <a:prstGeom prst="ellipse">
            <a:avLst/>
          </a:prstGeom>
          <a:solidFill>
            <a:srgbClr val="A7A1FF"/>
          </a:solidFill>
          <a:ln w="12700">
            <a:solidFill>
              <a:srgbClr val="A7A1FF"/>
            </a:solidFill>
            <a:prstDash val="solid"/>
          </a:ln>
        </p:spPr>
      </p:sp>
      <p:sp>
        <p:nvSpPr>
          <p:cNvPr id="12" name="Text 10"/>
          <p:cNvSpPr txBox="1"/>
          <p:nvPr/>
        </p:nvSpPr>
        <p:spPr>
          <a:xfrm>
            <a:off x="1042416" y="2852928"/>
            <a:ext cx="960120"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Latency</a:t>
            </a:r>
            <a:endParaRPr lang="en-US" sz="1030" dirty="0"/>
          </a:p>
        </p:txBody>
      </p:sp>
      <p:sp>
        <p:nvSpPr>
          <p:cNvPr id="13" name="Text 11"/>
          <p:cNvSpPr txBox="1"/>
          <p:nvPr/>
        </p:nvSpPr>
        <p:spPr>
          <a:xfrm>
            <a:off x="2057400" y="2852928"/>
            <a:ext cx="1261872" cy="219456"/>
          </a:xfrm>
          <a:prstGeom prst="rect">
            <a:avLst/>
          </a:prstGeom>
          <a:noFill/>
          <a:ln/>
        </p:spPr>
        <p:txBody>
          <a:bodyPr wrap="square" lIns="0" tIns="0" rIns="0" bIns="0" rtlCol="0" anchor="ctr">
            <a:normAutofit/>
          </a:bodyPr>
          <a:lstStyle/>
          <a:p>
            <a:pPr algn="l" indent="0" marL="0">
              <a:buNone/>
            </a:pPr>
            <a:r>
              <a:rPr lang="en-US" sz="940" dirty="0">
                <a:solidFill>
                  <a:srgbClr val="91A0B8"/>
                </a:solidFill>
                <a:latin typeface="Arial" pitchFamily="34" charset="0"/>
                <a:ea typeface="Arial" pitchFamily="34" charset="-122"/>
                <a:cs typeface="Arial" pitchFamily="34" charset="-120"/>
              </a:rPr>
              <a:t>response delay</a:t>
            </a:r>
            <a:endParaRPr lang="en-US" sz="940" dirty="0"/>
          </a:p>
        </p:txBody>
      </p:sp>
      <p:sp>
        <p:nvSpPr>
          <p:cNvPr id="14" name="Shape 12"/>
          <p:cNvSpPr/>
          <p:nvPr/>
        </p:nvSpPr>
        <p:spPr>
          <a:xfrm>
            <a:off x="877824" y="3447288"/>
            <a:ext cx="91440" cy="91440"/>
          </a:xfrm>
          <a:prstGeom prst="ellipse">
            <a:avLst/>
          </a:prstGeom>
          <a:solidFill>
            <a:srgbClr val="F6C453"/>
          </a:solidFill>
          <a:ln w="12700">
            <a:solidFill>
              <a:srgbClr val="F6C453"/>
            </a:solidFill>
            <a:prstDash val="solid"/>
          </a:ln>
        </p:spPr>
      </p:sp>
      <p:sp>
        <p:nvSpPr>
          <p:cNvPr id="15" name="Text 13"/>
          <p:cNvSpPr txBox="1"/>
          <p:nvPr/>
        </p:nvSpPr>
        <p:spPr>
          <a:xfrm>
            <a:off x="1042416" y="3383280"/>
            <a:ext cx="960120"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Error rate</a:t>
            </a:r>
            <a:endParaRPr lang="en-US" sz="1030" dirty="0"/>
          </a:p>
        </p:txBody>
      </p:sp>
      <p:sp>
        <p:nvSpPr>
          <p:cNvPr id="16" name="Text 14"/>
          <p:cNvSpPr txBox="1"/>
          <p:nvPr/>
        </p:nvSpPr>
        <p:spPr>
          <a:xfrm>
            <a:off x="2057400" y="3383280"/>
            <a:ext cx="1261872" cy="219456"/>
          </a:xfrm>
          <a:prstGeom prst="rect">
            <a:avLst/>
          </a:prstGeom>
          <a:noFill/>
          <a:ln/>
        </p:spPr>
        <p:txBody>
          <a:bodyPr wrap="square" lIns="0" tIns="0" rIns="0" bIns="0" rtlCol="0" anchor="ctr">
            <a:normAutofit/>
          </a:bodyPr>
          <a:lstStyle/>
          <a:p>
            <a:pPr algn="l" indent="0" marL="0">
              <a:buNone/>
            </a:pPr>
            <a:r>
              <a:rPr lang="en-US" sz="940" dirty="0">
                <a:solidFill>
                  <a:srgbClr val="91A0B8"/>
                </a:solidFill>
                <a:latin typeface="Arial" pitchFamily="34" charset="0"/>
                <a:ea typeface="Arial" pitchFamily="34" charset="-122"/>
                <a:cs typeface="Arial" pitchFamily="34" charset="-120"/>
              </a:rPr>
              <a:t>request failures</a:t>
            </a:r>
            <a:endParaRPr lang="en-US" sz="940" dirty="0"/>
          </a:p>
        </p:txBody>
      </p:sp>
      <p:sp>
        <p:nvSpPr>
          <p:cNvPr id="17" name="Shape 15"/>
          <p:cNvSpPr/>
          <p:nvPr/>
        </p:nvSpPr>
        <p:spPr>
          <a:xfrm>
            <a:off x="877824" y="3977640"/>
            <a:ext cx="91440" cy="91440"/>
          </a:xfrm>
          <a:prstGeom prst="ellipse">
            <a:avLst/>
          </a:prstGeom>
          <a:solidFill>
            <a:srgbClr val="25D0B1"/>
          </a:solidFill>
          <a:ln w="12700">
            <a:solidFill>
              <a:srgbClr val="25D0B1"/>
            </a:solidFill>
            <a:prstDash val="solid"/>
          </a:ln>
        </p:spPr>
      </p:sp>
      <p:sp>
        <p:nvSpPr>
          <p:cNvPr id="18" name="Text 16"/>
          <p:cNvSpPr txBox="1"/>
          <p:nvPr/>
        </p:nvSpPr>
        <p:spPr>
          <a:xfrm>
            <a:off x="1042416" y="3913632"/>
            <a:ext cx="960120"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Queue depth</a:t>
            </a:r>
            <a:endParaRPr lang="en-US" sz="1030" dirty="0"/>
          </a:p>
        </p:txBody>
      </p:sp>
      <p:sp>
        <p:nvSpPr>
          <p:cNvPr id="19" name="Text 17"/>
          <p:cNvSpPr txBox="1"/>
          <p:nvPr/>
        </p:nvSpPr>
        <p:spPr>
          <a:xfrm>
            <a:off x="2057400" y="3913632"/>
            <a:ext cx="1261872" cy="219456"/>
          </a:xfrm>
          <a:prstGeom prst="rect">
            <a:avLst/>
          </a:prstGeom>
          <a:noFill/>
          <a:ln/>
        </p:spPr>
        <p:txBody>
          <a:bodyPr wrap="square" lIns="0" tIns="0" rIns="0" bIns="0" rtlCol="0" anchor="ctr">
            <a:normAutofit/>
          </a:bodyPr>
          <a:lstStyle/>
          <a:p>
            <a:pPr algn="l" indent="0" marL="0">
              <a:buNone/>
            </a:pPr>
            <a:r>
              <a:rPr lang="en-US" sz="940" dirty="0">
                <a:solidFill>
                  <a:srgbClr val="91A0B8"/>
                </a:solidFill>
                <a:latin typeface="Arial" pitchFamily="34" charset="0"/>
                <a:ea typeface="Arial" pitchFamily="34" charset="-122"/>
                <a:cs typeface="Arial" pitchFamily="34" charset="-120"/>
              </a:rPr>
              <a:t>waiting work</a:t>
            </a:r>
            <a:endParaRPr lang="en-US" sz="940" dirty="0"/>
          </a:p>
        </p:txBody>
      </p:sp>
      <p:sp>
        <p:nvSpPr>
          <p:cNvPr id="20" name="Shape 18"/>
          <p:cNvSpPr/>
          <p:nvPr/>
        </p:nvSpPr>
        <p:spPr>
          <a:xfrm>
            <a:off x="877824" y="4507992"/>
            <a:ext cx="91440" cy="91440"/>
          </a:xfrm>
          <a:prstGeom prst="ellipse">
            <a:avLst/>
          </a:prstGeom>
          <a:solidFill>
            <a:srgbClr val="3CE28F"/>
          </a:solidFill>
          <a:ln w="12700">
            <a:solidFill>
              <a:srgbClr val="3CE28F"/>
            </a:solidFill>
            <a:prstDash val="solid"/>
          </a:ln>
        </p:spPr>
      </p:sp>
      <p:sp>
        <p:nvSpPr>
          <p:cNvPr id="21" name="Text 19"/>
          <p:cNvSpPr txBox="1"/>
          <p:nvPr/>
        </p:nvSpPr>
        <p:spPr>
          <a:xfrm>
            <a:off x="1042416" y="4443984"/>
            <a:ext cx="960120"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Task state</a:t>
            </a:r>
            <a:endParaRPr lang="en-US" sz="1030" dirty="0"/>
          </a:p>
        </p:txBody>
      </p:sp>
      <p:sp>
        <p:nvSpPr>
          <p:cNvPr id="22" name="Text 20"/>
          <p:cNvSpPr txBox="1"/>
          <p:nvPr/>
        </p:nvSpPr>
        <p:spPr>
          <a:xfrm>
            <a:off x="2057400" y="4443984"/>
            <a:ext cx="1261872" cy="219456"/>
          </a:xfrm>
          <a:prstGeom prst="rect">
            <a:avLst/>
          </a:prstGeom>
          <a:noFill/>
          <a:ln/>
        </p:spPr>
        <p:txBody>
          <a:bodyPr wrap="square" lIns="0" tIns="0" rIns="0" bIns="0" rtlCol="0" anchor="ctr">
            <a:normAutofit/>
          </a:bodyPr>
          <a:lstStyle/>
          <a:p>
            <a:pPr algn="l" indent="0" marL="0">
              <a:buNone/>
            </a:pPr>
            <a:r>
              <a:rPr lang="en-US" sz="940" dirty="0">
                <a:solidFill>
                  <a:srgbClr val="91A0B8"/>
                </a:solidFill>
                <a:latin typeface="Arial" pitchFamily="34" charset="0"/>
                <a:ea typeface="Arial" pitchFamily="34" charset="-122"/>
                <a:cs typeface="Arial" pitchFamily="34" charset="-120"/>
              </a:rPr>
              <a:t>deadline + progress</a:t>
            </a:r>
            <a:endParaRPr lang="en-US" sz="940" dirty="0"/>
          </a:p>
        </p:txBody>
      </p:sp>
      <p:sp>
        <p:nvSpPr>
          <p:cNvPr id="23" name="Shape 21"/>
          <p:cNvSpPr/>
          <p:nvPr/>
        </p:nvSpPr>
        <p:spPr>
          <a:xfrm>
            <a:off x="4334256" y="1627632"/>
            <a:ext cx="3529584" cy="4434840"/>
          </a:xfrm>
          <a:prstGeom prst="roundRect">
            <a:avLst>
              <a:gd name="adj" fmla="val 3109"/>
            </a:avLst>
          </a:prstGeom>
          <a:solidFill>
            <a:srgbClr val="101827"/>
          </a:solidFill>
          <a:ln w="12700">
            <a:solidFill>
              <a:srgbClr val="A7A1FF"/>
            </a:solidFill>
            <a:prstDash val="solid"/>
          </a:ln>
        </p:spPr>
      </p:sp>
      <p:sp>
        <p:nvSpPr>
          <p:cNvPr id="24" name="Shape 22"/>
          <p:cNvSpPr/>
          <p:nvPr/>
        </p:nvSpPr>
        <p:spPr>
          <a:xfrm>
            <a:off x="4590288" y="1847088"/>
            <a:ext cx="1207008" cy="274320"/>
          </a:xfrm>
          <a:prstGeom prst="roundRect">
            <a:avLst>
              <a:gd name="adj" fmla="val 46667"/>
            </a:avLst>
          </a:prstGeom>
          <a:solidFill>
            <a:srgbClr val="A7A1FF">
              <a:alpha val="14000"/>
            </a:srgbClr>
          </a:solidFill>
          <a:ln w="11430">
            <a:solidFill>
              <a:srgbClr val="A7A1FF">
                <a:alpha val="65000"/>
              </a:srgbClr>
            </a:solidFill>
            <a:prstDash val="solid"/>
          </a:ln>
        </p:spPr>
      </p:sp>
      <p:sp>
        <p:nvSpPr>
          <p:cNvPr id="25" name="Text 23"/>
          <p:cNvSpPr txBox="1"/>
          <p:nvPr/>
        </p:nvSpPr>
        <p:spPr>
          <a:xfrm>
            <a:off x="4645152" y="1888236"/>
            <a:ext cx="1097280" cy="164592"/>
          </a:xfrm>
          <a:prstGeom prst="rect">
            <a:avLst/>
          </a:prstGeom>
          <a:noFill/>
          <a:ln/>
        </p:spPr>
        <p:txBody>
          <a:bodyPr wrap="square" lIns="0" tIns="0" rIns="0" bIns="0" rtlCol="0" anchor="ctr">
            <a:normAutofit/>
          </a:bodyPr>
          <a:lstStyle/>
          <a:p>
            <a:pPr algn="ctr" indent="0" marL="0">
              <a:buNone/>
            </a:pPr>
            <a:r>
              <a:rPr lang="en-US" sz="810" b="1" dirty="0">
                <a:solidFill>
                  <a:srgbClr val="A7A1FF"/>
                </a:solidFill>
                <a:latin typeface="Arial" pitchFamily="34" charset="0"/>
                <a:ea typeface="Arial" pitchFamily="34" charset="-122"/>
                <a:cs typeface="Arial" pitchFamily="34" charset="-120"/>
              </a:rPr>
              <a:t>HIDDEN STATE</a:t>
            </a:r>
            <a:endParaRPr lang="en-US" sz="810" dirty="0"/>
          </a:p>
        </p:txBody>
      </p:sp>
      <p:sp>
        <p:nvSpPr>
          <p:cNvPr id="26" name="Text 24"/>
          <p:cNvSpPr txBox="1"/>
          <p:nvPr/>
        </p:nvSpPr>
        <p:spPr>
          <a:xfrm>
            <a:off x="4700016" y="2542032"/>
            <a:ext cx="2724912" cy="384048"/>
          </a:xfrm>
          <a:prstGeom prst="rect">
            <a:avLst/>
          </a:prstGeom>
          <a:noFill/>
          <a:ln/>
        </p:spPr>
        <p:txBody>
          <a:bodyPr wrap="square" lIns="0" tIns="0" rIns="0" bIns="0" rtlCol="0" anchor="ctr">
            <a:normAutofit/>
          </a:bodyPr>
          <a:lstStyle/>
          <a:p>
            <a:pPr algn="ctr" indent="0" marL="0">
              <a:buNone/>
            </a:pPr>
            <a:r>
              <a:rPr lang="en-US" sz="2200" b="1" dirty="0">
                <a:solidFill>
                  <a:srgbClr val="F6F8FC"/>
                </a:solidFill>
                <a:latin typeface="Arial" pitchFamily="34" charset="0"/>
                <a:ea typeface="Arial" pitchFamily="34" charset="-122"/>
                <a:cs typeface="Arial" pitchFamily="34" charset="-120"/>
              </a:rPr>
              <a:t>Sⱼ(t) ∈ { H, D, X }</a:t>
            </a:r>
            <a:endParaRPr lang="en-US" sz="2200" dirty="0"/>
          </a:p>
        </p:txBody>
      </p:sp>
      <p:sp>
        <p:nvSpPr>
          <p:cNvPr id="27" name="Text 25"/>
          <p:cNvSpPr txBox="1"/>
          <p:nvPr/>
        </p:nvSpPr>
        <p:spPr>
          <a:xfrm>
            <a:off x="4700016" y="3063240"/>
            <a:ext cx="2724912" cy="219456"/>
          </a:xfrm>
          <a:prstGeom prst="rect">
            <a:avLst/>
          </a:prstGeom>
          <a:noFill/>
          <a:ln/>
        </p:spPr>
        <p:txBody>
          <a:bodyPr wrap="square" lIns="0" tIns="0" rIns="0" bIns="0" rtlCol="0" anchor="ctr">
            <a:normAutofit/>
          </a:bodyPr>
          <a:lstStyle/>
          <a:p>
            <a:pPr algn="ctr" indent="0" marL="0">
              <a:buNone/>
            </a:pPr>
            <a:r>
              <a:rPr lang="en-US" sz="1000" dirty="0">
                <a:solidFill>
                  <a:srgbClr val="D5DEEC"/>
                </a:solidFill>
                <a:latin typeface="Arial" pitchFamily="34" charset="0"/>
                <a:ea typeface="Arial" pitchFamily="34" charset="-122"/>
                <a:cs typeface="Arial" pitchFamily="34" charset="-120"/>
              </a:rPr>
              <a:t>H = Healthy     D = Degraded     X = Down</a:t>
            </a:r>
            <a:endParaRPr lang="en-US" sz="1000" dirty="0"/>
          </a:p>
        </p:txBody>
      </p:sp>
      <p:sp>
        <p:nvSpPr>
          <p:cNvPr id="28" name="Text 26"/>
          <p:cNvSpPr txBox="1"/>
          <p:nvPr/>
        </p:nvSpPr>
        <p:spPr>
          <a:xfrm>
            <a:off x="4754880" y="3822192"/>
            <a:ext cx="2606040" cy="438912"/>
          </a:xfrm>
          <a:prstGeom prst="rect">
            <a:avLst/>
          </a:prstGeom>
          <a:noFill/>
          <a:ln/>
        </p:spPr>
        <p:txBody>
          <a:bodyPr wrap="square" lIns="0" tIns="0" rIns="0" bIns="0" rtlCol="0" anchor="ctr">
            <a:normAutofit/>
          </a:bodyPr>
          <a:lstStyle/>
          <a:p>
            <a:pPr algn="ctr" indent="0" marL="0">
              <a:buNone/>
            </a:pPr>
            <a:r>
              <a:rPr lang="en-US" sz="1200" dirty="0">
                <a:solidFill>
                  <a:srgbClr val="D5DEEC"/>
                </a:solidFill>
                <a:latin typeface="Arial" pitchFamily="34" charset="0"/>
                <a:ea typeface="Arial" pitchFamily="34" charset="-122"/>
                <a:cs typeface="Arial" pitchFamily="34" charset="-120"/>
              </a:rPr>
              <a:t>The agent is never told when or where a failure occurred.</a:t>
            </a:r>
            <a:endParaRPr lang="en-US" sz="1200" dirty="0"/>
          </a:p>
        </p:txBody>
      </p:sp>
      <p:sp>
        <p:nvSpPr>
          <p:cNvPr id="29" name="Text 27"/>
          <p:cNvSpPr txBox="1"/>
          <p:nvPr/>
        </p:nvSpPr>
        <p:spPr>
          <a:xfrm>
            <a:off x="4754880" y="4809744"/>
            <a:ext cx="2606040" cy="329184"/>
          </a:xfrm>
          <a:prstGeom prst="rect">
            <a:avLst/>
          </a:prstGeom>
          <a:noFill/>
          <a:ln/>
        </p:spPr>
        <p:txBody>
          <a:bodyPr wrap="square" lIns="0" tIns="0" rIns="0" bIns="0" rtlCol="0" anchor="ctr">
            <a:normAutofit/>
          </a:bodyPr>
          <a:lstStyle/>
          <a:p>
            <a:pPr algn="ctr" indent="0" marL="0">
              <a:buNone/>
            </a:pPr>
            <a:r>
              <a:rPr lang="en-US" sz="1450" b="1" dirty="0">
                <a:solidFill>
                  <a:srgbClr val="40D9FF"/>
                </a:solidFill>
                <a:latin typeface="Arial" pitchFamily="34" charset="0"/>
                <a:ea typeface="Arial" pitchFamily="34" charset="-122"/>
                <a:cs typeface="Arial" pitchFamily="34" charset="-120"/>
              </a:rPr>
              <a:t>bⱼ(t) = [P(H), P(D), P(X)]</a:t>
            </a:r>
            <a:endParaRPr lang="en-US" sz="1450" dirty="0"/>
          </a:p>
        </p:txBody>
      </p:sp>
      <p:sp>
        <p:nvSpPr>
          <p:cNvPr id="30" name="Shape 28"/>
          <p:cNvSpPr/>
          <p:nvPr/>
        </p:nvSpPr>
        <p:spPr>
          <a:xfrm>
            <a:off x="8174736" y="1627632"/>
            <a:ext cx="3456432" cy="4434840"/>
          </a:xfrm>
          <a:prstGeom prst="roundRect">
            <a:avLst>
              <a:gd name="adj" fmla="val 3175"/>
            </a:avLst>
          </a:prstGeom>
          <a:solidFill>
            <a:srgbClr val="101827"/>
          </a:solidFill>
          <a:ln w="12700">
            <a:solidFill>
              <a:srgbClr val="3CE28F"/>
            </a:solidFill>
            <a:prstDash val="solid"/>
          </a:ln>
        </p:spPr>
      </p:sp>
      <p:sp>
        <p:nvSpPr>
          <p:cNvPr id="31" name="Shape 29"/>
          <p:cNvSpPr/>
          <p:nvPr/>
        </p:nvSpPr>
        <p:spPr>
          <a:xfrm>
            <a:off x="8430768" y="1847088"/>
            <a:ext cx="877824" cy="274320"/>
          </a:xfrm>
          <a:prstGeom prst="roundRect">
            <a:avLst>
              <a:gd name="adj" fmla="val 46667"/>
            </a:avLst>
          </a:prstGeom>
          <a:solidFill>
            <a:srgbClr val="3CE28F">
              <a:alpha val="14000"/>
            </a:srgbClr>
          </a:solidFill>
          <a:ln w="11430">
            <a:solidFill>
              <a:srgbClr val="3CE28F">
                <a:alpha val="65000"/>
              </a:srgbClr>
            </a:solidFill>
            <a:prstDash val="solid"/>
          </a:ln>
        </p:spPr>
      </p:sp>
      <p:sp>
        <p:nvSpPr>
          <p:cNvPr id="32" name="Text 30"/>
          <p:cNvSpPr txBox="1"/>
          <p:nvPr/>
        </p:nvSpPr>
        <p:spPr>
          <a:xfrm>
            <a:off x="8485632" y="1888236"/>
            <a:ext cx="768096" cy="164592"/>
          </a:xfrm>
          <a:prstGeom prst="rect">
            <a:avLst/>
          </a:prstGeom>
          <a:noFill/>
          <a:ln/>
        </p:spPr>
        <p:txBody>
          <a:bodyPr wrap="square" lIns="0" tIns="0" rIns="0" bIns="0" rtlCol="0" anchor="ctr">
            <a:normAutofit/>
          </a:bodyPr>
          <a:lstStyle/>
          <a:p>
            <a:pPr algn="ctr" indent="0" marL="0">
              <a:buNone/>
            </a:pPr>
            <a:r>
              <a:rPr lang="en-US" sz="810" b="1" dirty="0">
                <a:solidFill>
                  <a:srgbClr val="3CE28F"/>
                </a:solidFill>
                <a:latin typeface="Arial" pitchFamily="34" charset="0"/>
                <a:ea typeface="Arial" pitchFamily="34" charset="-122"/>
                <a:cs typeface="Arial" pitchFamily="34" charset="-120"/>
              </a:rPr>
              <a:t>ACTIONS</a:t>
            </a:r>
            <a:endParaRPr lang="en-US" sz="810" dirty="0"/>
          </a:p>
        </p:txBody>
      </p:sp>
      <p:sp>
        <p:nvSpPr>
          <p:cNvPr id="33" name="Shape 31"/>
          <p:cNvSpPr/>
          <p:nvPr/>
        </p:nvSpPr>
        <p:spPr>
          <a:xfrm>
            <a:off x="8485632" y="2386584"/>
            <a:ext cx="91440" cy="91440"/>
          </a:xfrm>
          <a:prstGeom prst="ellipse">
            <a:avLst/>
          </a:prstGeom>
          <a:solidFill>
            <a:srgbClr val="3CE28F"/>
          </a:solidFill>
          <a:ln w="12700">
            <a:solidFill>
              <a:srgbClr val="3CE28F"/>
            </a:solidFill>
            <a:prstDash val="solid"/>
          </a:ln>
        </p:spPr>
      </p:sp>
      <p:sp>
        <p:nvSpPr>
          <p:cNvPr id="34" name="Text 32"/>
          <p:cNvSpPr txBox="1"/>
          <p:nvPr/>
        </p:nvSpPr>
        <p:spPr>
          <a:xfrm>
            <a:off x="8650224" y="2322576"/>
            <a:ext cx="2011680" cy="219456"/>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keep task running</a:t>
            </a:r>
            <a:endParaRPr lang="en-US" sz="1050" dirty="0"/>
          </a:p>
        </p:txBody>
      </p:sp>
      <p:sp>
        <p:nvSpPr>
          <p:cNvPr id="35" name="Shape 33"/>
          <p:cNvSpPr/>
          <p:nvPr/>
        </p:nvSpPr>
        <p:spPr>
          <a:xfrm>
            <a:off x="8485632" y="2916936"/>
            <a:ext cx="91440" cy="91440"/>
          </a:xfrm>
          <a:prstGeom prst="ellipse">
            <a:avLst/>
          </a:prstGeom>
          <a:solidFill>
            <a:srgbClr val="3CE28F"/>
          </a:solidFill>
          <a:ln w="12700">
            <a:solidFill>
              <a:srgbClr val="3CE28F"/>
            </a:solidFill>
            <a:prstDash val="solid"/>
          </a:ln>
        </p:spPr>
      </p:sp>
      <p:sp>
        <p:nvSpPr>
          <p:cNvPr id="36" name="Text 34"/>
          <p:cNvSpPr txBox="1"/>
          <p:nvPr/>
        </p:nvSpPr>
        <p:spPr>
          <a:xfrm>
            <a:off x="8650224" y="2852928"/>
            <a:ext cx="2011680" cy="219456"/>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assign pending work</a:t>
            </a:r>
            <a:endParaRPr lang="en-US" sz="1050" dirty="0"/>
          </a:p>
        </p:txBody>
      </p:sp>
      <p:sp>
        <p:nvSpPr>
          <p:cNvPr id="37" name="Shape 35"/>
          <p:cNvSpPr/>
          <p:nvPr/>
        </p:nvSpPr>
        <p:spPr>
          <a:xfrm>
            <a:off x="8485632" y="3447288"/>
            <a:ext cx="91440" cy="91440"/>
          </a:xfrm>
          <a:prstGeom prst="ellipse">
            <a:avLst/>
          </a:prstGeom>
          <a:solidFill>
            <a:srgbClr val="3CE28F"/>
          </a:solidFill>
          <a:ln w="12700">
            <a:solidFill>
              <a:srgbClr val="3CE28F"/>
            </a:solidFill>
            <a:prstDash val="solid"/>
          </a:ln>
        </p:spPr>
      </p:sp>
      <p:sp>
        <p:nvSpPr>
          <p:cNvPr id="38" name="Text 36"/>
          <p:cNvSpPr txBox="1"/>
          <p:nvPr/>
        </p:nvSpPr>
        <p:spPr>
          <a:xfrm>
            <a:off x="8650224" y="3383280"/>
            <a:ext cx="2011680" cy="219456"/>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hold if information is poor</a:t>
            </a:r>
            <a:endParaRPr lang="en-US" sz="1050" dirty="0"/>
          </a:p>
        </p:txBody>
      </p:sp>
      <p:sp>
        <p:nvSpPr>
          <p:cNvPr id="39" name="Shape 37"/>
          <p:cNvSpPr/>
          <p:nvPr/>
        </p:nvSpPr>
        <p:spPr>
          <a:xfrm>
            <a:off x="8485632" y="3977640"/>
            <a:ext cx="91440" cy="91440"/>
          </a:xfrm>
          <a:prstGeom prst="ellipse">
            <a:avLst/>
          </a:prstGeom>
          <a:solidFill>
            <a:srgbClr val="3CE28F"/>
          </a:solidFill>
          <a:ln w="12700">
            <a:solidFill>
              <a:srgbClr val="3CE28F"/>
            </a:solidFill>
            <a:prstDash val="solid"/>
          </a:ln>
        </p:spPr>
      </p:sp>
      <p:sp>
        <p:nvSpPr>
          <p:cNvPr id="40" name="Text 38"/>
          <p:cNvSpPr txBox="1"/>
          <p:nvPr/>
        </p:nvSpPr>
        <p:spPr>
          <a:xfrm>
            <a:off x="8650224" y="3913632"/>
            <a:ext cx="2011680" cy="219456"/>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reroute affected work</a:t>
            </a:r>
            <a:endParaRPr lang="en-US" sz="1050" dirty="0"/>
          </a:p>
        </p:txBody>
      </p:sp>
      <p:sp>
        <p:nvSpPr>
          <p:cNvPr id="41" name="Shape 39"/>
          <p:cNvSpPr/>
          <p:nvPr/>
        </p:nvSpPr>
        <p:spPr>
          <a:xfrm>
            <a:off x="8485632" y="4507992"/>
            <a:ext cx="91440" cy="91440"/>
          </a:xfrm>
          <a:prstGeom prst="ellipse">
            <a:avLst/>
          </a:prstGeom>
          <a:solidFill>
            <a:srgbClr val="3CE28F"/>
          </a:solidFill>
          <a:ln w="12700">
            <a:solidFill>
              <a:srgbClr val="3CE28F"/>
            </a:solidFill>
            <a:prstDash val="solid"/>
          </a:ln>
        </p:spPr>
      </p:sp>
      <p:sp>
        <p:nvSpPr>
          <p:cNvPr id="42" name="Text 40"/>
          <p:cNvSpPr txBox="1"/>
          <p:nvPr/>
        </p:nvSpPr>
        <p:spPr>
          <a:xfrm>
            <a:off x="8650224" y="4443984"/>
            <a:ext cx="2011680" cy="219456"/>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continue observing</a:t>
            </a:r>
            <a:endParaRPr lang="en-US" sz="1050" dirty="0"/>
          </a:p>
        </p:txBody>
      </p:sp>
      <p:sp>
        <p:nvSpPr>
          <p:cNvPr id="43" name="Text 41"/>
          <p:cNvSpPr txBox="1"/>
          <p:nvPr/>
        </p:nvSpPr>
        <p:spPr>
          <a:xfrm>
            <a:off x="8558784" y="4882896"/>
            <a:ext cx="2066544" cy="347472"/>
          </a:xfrm>
          <a:prstGeom prst="rect">
            <a:avLst/>
          </a:prstGeom>
          <a:noFill/>
          <a:ln/>
        </p:spPr>
        <p:txBody>
          <a:bodyPr wrap="square" lIns="0" tIns="0" rIns="0" bIns="0" rtlCol="0" anchor="ctr">
            <a:normAutofit/>
          </a:bodyPr>
          <a:lstStyle/>
          <a:p>
            <a:pPr algn="ctr" indent="0" marL="0">
              <a:buNone/>
            </a:pPr>
            <a:r>
              <a:rPr lang="en-US" sz="1180" b="1" dirty="0">
                <a:solidFill>
                  <a:srgbClr val="F6F8FC"/>
                </a:solidFill>
                <a:latin typeface="Arial" pitchFamily="34" charset="0"/>
                <a:ea typeface="Arial" pitchFamily="34" charset="-122"/>
                <a:cs typeface="Arial" pitchFamily="34" charset="-120"/>
              </a:rPr>
              <a:t>Success = high completion, fast failure response, low churn.</a:t>
            </a:r>
            <a:endParaRPr lang="en-US" sz="118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ENVIRONMENT PHYSICS</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Why ordinary load balancing fails</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Four simulator mechanics make immediate greedy placement unsafe.</a:t>
            </a:r>
            <a:endParaRPr lang="en-US" sz="1200" dirty="0"/>
          </a:p>
        </p:txBody>
      </p:sp>
      <p:sp>
        <p:nvSpPr>
          <p:cNvPr id="5" name="Shape 3"/>
          <p:cNvSpPr/>
          <p:nvPr/>
        </p:nvSpPr>
        <p:spPr>
          <a:xfrm>
            <a:off x="566928" y="1664208"/>
            <a:ext cx="2633472" cy="3474720"/>
          </a:xfrm>
          <a:prstGeom prst="roundRect">
            <a:avLst>
              <a:gd name="adj" fmla="val 4167"/>
            </a:avLst>
          </a:prstGeom>
          <a:solidFill>
            <a:srgbClr val="101827"/>
          </a:solidFill>
          <a:ln w="12700">
            <a:solidFill>
              <a:srgbClr val="40D9FF"/>
            </a:solidFill>
            <a:prstDash val="solid"/>
          </a:ln>
        </p:spPr>
      </p:sp>
      <p:sp>
        <p:nvSpPr>
          <p:cNvPr id="6" name="Text 4"/>
          <p:cNvSpPr txBox="1"/>
          <p:nvPr/>
        </p:nvSpPr>
        <p:spPr>
          <a:xfrm>
            <a:off x="731520" y="1801368"/>
            <a:ext cx="2304288" cy="256032"/>
          </a:xfrm>
          <a:prstGeom prst="rect">
            <a:avLst/>
          </a:prstGeom>
          <a:noFill/>
          <a:ln/>
        </p:spPr>
        <p:txBody>
          <a:bodyPr wrap="square" lIns="0" tIns="0" rIns="0" bIns="0" rtlCol="0" anchor="ctr">
            <a:normAutofit/>
          </a:bodyPr>
          <a:lstStyle/>
          <a:p>
            <a:pPr algn="l" indent="0" marL="0">
              <a:buNone/>
            </a:pPr>
            <a:r>
              <a:rPr lang="en-US" sz="1300" b="1" dirty="0">
                <a:solidFill>
                  <a:srgbClr val="40D9FF"/>
                </a:solidFill>
                <a:latin typeface="Arial" pitchFamily="34" charset="0"/>
                <a:ea typeface="Arial" pitchFamily="34" charset="-122"/>
                <a:cs typeface="Arial" pitchFamily="34" charset="-120"/>
              </a:rPr>
              <a:t>Partial observability</a:t>
            </a:r>
            <a:endParaRPr lang="en-US" sz="1300" dirty="0"/>
          </a:p>
        </p:txBody>
      </p:sp>
      <p:sp>
        <p:nvSpPr>
          <p:cNvPr id="7" name="Text 5"/>
          <p:cNvSpPr txBox="1"/>
          <p:nvPr/>
        </p:nvSpPr>
        <p:spPr>
          <a:xfrm>
            <a:off x="731520" y="2167128"/>
            <a:ext cx="2304288" cy="28163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Node health changes silently. Telemetry is noisy, delayed and sometimes misleading.</a:t>
            </a:r>
            <a:endParaRPr lang="en-US" sz="1030" dirty="0"/>
          </a:p>
        </p:txBody>
      </p:sp>
      <p:sp>
        <p:nvSpPr>
          <p:cNvPr id="8" name="Shape 6"/>
          <p:cNvSpPr/>
          <p:nvPr/>
        </p:nvSpPr>
        <p:spPr>
          <a:xfrm>
            <a:off x="3493008" y="1664208"/>
            <a:ext cx="2633472" cy="3474720"/>
          </a:xfrm>
          <a:prstGeom prst="roundRect">
            <a:avLst>
              <a:gd name="adj" fmla="val 4167"/>
            </a:avLst>
          </a:prstGeom>
          <a:solidFill>
            <a:srgbClr val="101827"/>
          </a:solidFill>
          <a:ln w="12700">
            <a:solidFill>
              <a:srgbClr val="F6C453"/>
            </a:solidFill>
            <a:prstDash val="solid"/>
          </a:ln>
        </p:spPr>
      </p:sp>
      <p:sp>
        <p:nvSpPr>
          <p:cNvPr id="9" name="Text 7"/>
          <p:cNvSpPr txBox="1"/>
          <p:nvPr/>
        </p:nvSpPr>
        <p:spPr>
          <a:xfrm>
            <a:off x="3657600" y="1801368"/>
            <a:ext cx="2304288" cy="256032"/>
          </a:xfrm>
          <a:prstGeom prst="rect">
            <a:avLst/>
          </a:prstGeom>
          <a:noFill/>
          <a:ln/>
        </p:spPr>
        <p:txBody>
          <a:bodyPr wrap="square" lIns="0" tIns="0" rIns="0" bIns="0" rtlCol="0" anchor="ctr">
            <a:normAutofit/>
          </a:bodyPr>
          <a:lstStyle/>
          <a:p>
            <a:pPr algn="l" indent="0" marL="0">
              <a:buNone/>
            </a:pPr>
            <a:r>
              <a:rPr lang="en-US" sz="1300" b="1" dirty="0">
                <a:solidFill>
                  <a:srgbClr val="F6C453"/>
                </a:solidFill>
                <a:latin typeface="Arial" pitchFamily="34" charset="0"/>
                <a:ea typeface="Arial" pitchFamily="34" charset="-122"/>
                <a:cs typeface="Arial" pitchFamily="34" charset="-120"/>
              </a:rPr>
              <a:t>Deadline pressure</a:t>
            </a:r>
            <a:endParaRPr lang="en-US" sz="1300" dirty="0"/>
          </a:p>
        </p:txBody>
      </p:sp>
      <p:sp>
        <p:nvSpPr>
          <p:cNvPr id="10" name="Text 8"/>
          <p:cNvSpPr txBox="1"/>
          <p:nvPr/>
        </p:nvSpPr>
        <p:spPr>
          <a:xfrm>
            <a:off x="3657600" y="2167128"/>
            <a:ext cx="2304288" cy="28163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Every task has limited slack. Waiting too long causes missed deadlines.</a:t>
            </a:r>
            <a:endParaRPr lang="en-US" sz="1030" dirty="0"/>
          </a:p>
        </p:txBody>
      </p:sp>
      <p:sp>
        <p:nvSpPr>
          <p:cNvPr id="11" name="Shape 9"/>
          <p:cNvSpPr/>
          <p:nvPr/>
        </p:nvSpPr>
        <p:spPr>
          <a:xfrm>
            <a:off x="6419088" y="1664208"/>
            <a:ext cx="2633472" cy="3474720"/>
          </a:xfrm>
          <a:prstGeom prst="roundRect">
            <a:avLst>
              <a:gd name="adj" fmla="val 4167"/>
            </a:avLst>
          </a:prstGeom>
          <a:solidFill>
            <a:srgbClr val="101827"/>
          </a:solidFill>
          <a:ln w="12700">
            <a:solidFill>
              <a:srgbClr val="FF637D"/>
            </a:solidFill>
            <a:prstDash val="solid"/>
          </a:ln>
        </p:spPr>
      </p:sp>
      <p:sp>
        <p:nvSpPr>
          <p:cNvPr id="12" name="Text 10"/>
          <p:cNvSpPr txBox="1"/>
          <p:nvPr/>
        </p:nvSpPr>
        <p:spPr>
          <a:xfrm>
            <a:off x="6583680" y="1801368"/>
            <a:ext cx="2304288" cy="256032"/>
          </a:xfrm>
          <a:prstGeom prst="rect">
            <a:avLst/>
          </a:prstGeom>
          <a:noFill/>
          <a:ln/>
        </p:spPr>
        <p:txBody>
          <a:bodyPr wrap="square" lIns="0" tIns="0" rIns="0" bIns="0" rtlCol="0" anchor="ctr">
            <a:normAutofit/>
          </a:bodyPr>
          <a:lstStyle/>
          <a:p>
            <a:pPr algn="l" indent="0" marL="0">
              <a:buNone/>
            </a:pPr>
            <a:r>
              <a:rPr lang="en-US" sz="1300" b="1" dirty="0">
                <a:solidFill>
                  <a:srgbClr val="FF637D"/>
                </a:solidFill>
                <a:latin typeface="Arial" pitchFamily="34" charset="0"/>
                <a:ea typeface="Arial" pitchFamily="34" charset="-122"/>
                <a:cs typeface="Arial" pitchFamily="34" charset="-120"/>
              </a:rPr>
              <a:t>Cold restart</a:t>
            </a:r>
            <a:endParaRPr lang="en-US" sz="1300" dirty="0"/>
          </a:p>
        </p:txBody>
      </p:sp>
      <p:sp>
        <p:nvSpPr>
          <p:cNvPr id="13" name="Text 11"/>
          <p:cNvSpPr txBox="1"/>
          <p:nvPr/>
        </p:nvSpPr>
        <p:spPr>
          <a:xfrm>
            <a:off x="6583680" y="2167128"/>
            <a:ext cx="2304288" cy="28163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Rerouting resets remaining duration to original task duration and erases accumulated progress.</a:t>
            </a:r>
            <a:endParaRPr lang="en-US" sz="1030" dirty="0"/>
          </a:p>
        </p:txBody>
      </p:sp>
      <p:sp>
        <p:nvSpPr>
          <p:cNvPr id="14" name="Shape 12"/>
          <p:cNvSpPr/>
          <p:nvPr/>
        </p:nvSpPr>
        <p:spPr>
          <a:xfrm>
            <a:off x="9345168" y="1664208"/>
            <a:ext cx="2633472" cy="3474720"/>
          </a:xfrm>
          <a:prstGeom prst="roundRect">
            <a:avLst>
              <a:gd name="adj" fmla="val 4167"/>
            </a:avLst>
          </a:prstGeom>
          <a:solidFill>
            <a:srgbClr val="101827"/>
          </a:solidFill>
          <a:ln w="12700">
            <a:solidFill>
              <a:srgbClr val="A7A1FF"/>
            </a:solidFill>
            <a:prstDash val="solid"/>
          </a:ln>
        </p:spPr>
      </p:sp>
      <p:sp>
        <p:nvSpPr>
          <p:cNvPr id="15" name="Text 13"/>
          <p:cNvSpPr txBox="1"/>
          <p:nvPr/>
        </p:nvSpPr>
        <p:spPr>
          <a:xfrm>
            <a:off x="9509760" y="1801368"/>
            <a:ext cx="2304288" cy="256032"/>
          </a:xfrm>
          <a:prstGeom prst="rect">
            <a:avLst/>
          </a:prstGeom>
          <a:noFill/>
          <a:ln/>
        </p:spPr>
        <p:txBody>
          <a:bodyPr wrap="square" lIns="0" tIns="0" rIns="0" bIns="0" rtlCol="0" anchor="ctr">
            <a:normAutofit/>
          </a:bodyPr>
          <a:lstStyle/>
          <a:p>
            <a:pPr algn="l" indent="0" marL="0">
              <a:buNone/>
            </a:pPr>
            <a:r>
              <a:rPr lang="en-US" sz="1300" b="1" dirty="0">
                <a:solidFill>
                  <a:srgbClr val="A7A1FF"/>
                </a:solidFill>
                <a:latin typeface="Arial" pitchFamily="34" charset="0"/>
                <a:ea typeface="Arial" pitchFamily="34" charset="-122"/>
                <a:cs typeface="Arial" pitchFamily="34" charset="-120"/>
              </a:rPr>
              <a:t>Capacity coupling</a:t>
            </a:r>
            <a:endParaRPr lang="en-US" sz="1300" dirty="0"/>
          </a:p>
        </p:txBody>
      </p:sp>
      <p:sp>
        <p:nvSpPr>
          <p:cNvPr id="16" name="Text 14"/>
          <p:cNvSpPr txBox="1"/>
          <p:nvPr/>
        </p:nvSpPr>
        <p:spPr>
          <a:xfrm>
            <a:off x="9509760" y="2167128"/>
            <a:ext cx="2304288" cy="28163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Many tasks can compete for the same healthy node; independent best-node choices can exceed capacity.</a:t>
            </a:r>
            <a:endParaRPr lang="en-US" sz="1030" dirty="0"/>
          </a:p>
        </p:txBody>
      </p:sp>
      <p:sp>
        <p:nvSpPr>
          <p:cNvPr id="17" name="Shape 15"/>
          <p:cNvSpPr/>
          <p:nvPr/>
        </p:nvSpPr>
        <p:spPr>
          <a:xfrm>
            <a:off x="914400" y="5559552"/>
            <a:ext cx="10351008" cy="493776"/>
          </a:xfrm>
          <a:prstGeom prst="roundRect">
            <a:avLst>
              <a:gd name="adj" fmla="val 22222"/>
            </a:avLst>
          </a:prstGeom>
          <a:solidFill>
            <a:srgbClr val="0D1B23"/>
          </a:solidFill>
          <a:ln w="12700">
            <a:solidFill>
              <a:srgbClr val="25D0B1"/>
            </a:solidFill>
            <a:prstDash val="solid"/>
          </a:ln>
        </p:spPr>
      </p:sp>
      <p:sp>
        <p:nvSpPr>
          <p:cNvPr id="18" name="Text 16"/>
          <p:cNvSpPr txBox="1"/>
          <p:nvPr/>
        </p:nvSpPr>
        <p:spPr>
          <a:xfrm>
            <a:off x="1152144" y="5660136"/>
            <a:ext cx="9875520" cy="201168"/>
          </a:xfrm>
          <a:prstGeom prst="rect">
            <a:avLst/>
          </a:prstGeom>
          <a:noFill/>
          <a:ln/>
        </p:spPr>
        <p:txBody>
          <a:bodyPr wrap="square" lIns="0" tIns="0" rIns="0" bIns="0" rtlCol="0" anchor="ctr">
            <a:normAutofit/>
          </a:bodyPr>
          <a:lstStyle/>
          <a:p>
            <a:pPr algn="ctr" indent="0" marL="0">
              <a:buNone/>
            </a:pPr>
            <a:r>
              <a:rPr lang="en-US" sz="1100" b="1" dirty="0">
                <a:solidFill>
                  <a:srgbClr val="F6F8FC"/>
                </a:solidFill>
                <a:latin typeface="Arial" pitchFamily="34" charset="0"/>
                <a:ea typeface="Arial" pitchFamily="34" charset="-122"/>
                <a:cs typeface="Arial" pitchFamily="34" charset="-120"/>
              </a:rPr>
              <a:t>Implication: a good agent must value the option to wait, but commit when waiting becomes too expensive.</a:t>
            </a:r>
            <a:endParaRPr lang="en-US" sz="11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CORE FORMULATION</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ACT reframes scheduling as commitment timing</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A normal scheduler asks which node to use; ACT asks whether to commit now or wait for cleaner information.</a:t>
            </a:r>
            <a:endParaRPr lang="en-US" sz="1200" dirty="0"/>
          </a:p>
        </p:txBody>
      </p:sp>
      <p:sp>
        <p:nvSpPr>
          <p:cNvPr id="5" name="Shape 3"/>
          <p:cNvSpPr/>
          <p:nvPr/>
        </p:nvSpPr>
        <p:spPr>
          <a:xfrm>
            <a:off x="640080" y="1755648"/>
            <a:ext cx="4572000" cy="3090672"/>
          </a:xfrm>
          <a:prstGeom prst="roundRect">
            <a:avLst>
              <a:gd name="adj" fmla="val 3550"/>
            </a:avLst>
          </a:prstGeom>
          <a:solidFill>
            <a:srgbClr val="0F1726"/>
          </a:solidFill>
          <a:ln w="12700">
            <a:solidFill>
              <a:srgbClr val="FF637D"/>
            </a:solidFill>
            <a:prstDash val="solid"/>
          </a:ln>
        </p:spPr>
      </p:sp>
      <p:sp>
        <p:nvSpPr>
          <p:cNvPr id="6" name="Text 4"/>
          <p:cNvSpPr txBox="1"/>
          <p:nvPr/>
        </p:nvSpPr>
        <p:spPr>
          <a:xfrm>
            <a:off x="914400" y="2048256"/>
            <a:ext cx="1645920" cy="201168"/>
          </a:xfrm>
          <a:prstGeom prst="rect">
            <a:avLst/>
          </a:prstGeom>
          <a:noFill/>
          <a:ln/>
        </p:spPr>
        <p:txBody>
          <a:bodyPr wrap="square" lIns="0" tIns="0" rIns="0" bIns="0" rtlCol="0" anchor="ctr">
            <a:normAutofit/>
          </a:bodyPr>
          <a:lstStyle/>
          <a:p>
            <a:pPr algn="l" indent="0" marL="0">
              <a:buNone/>
            </a:pPr>
            <a:r>
              <a:rPr lang="en-US" sz="1100" b="1" dirty="0">
                <a:solidFill>
                  <a:srgbClr val="FF637D"/>
                </a:solidFill>
                <a:latin typeface="Arial" pitchFamily="34" charset="0"/>
                <a:ea typeface="Arial" pitchFamily="34" charset="-122"/>
                <a:cs typeface="Arial" pitchFamily="34" charset="-120"/>
              </a:rPr>
              <a:t>Conventional scheduler</a:t>
            </a:r>
            <a:endParaRPr lang="en-US" sz="1100" dirty="0"/>
          </a:p>
        </p:txBody>
      </p:sp>
      <p:sp>
        <p:nvSpPr>
          <p:cNvPr id="7" name="Text 5"/>
          <p:cNvSpPr txBox="1"/>
          <p:nvPr/>
        </p:nvSpPr>
        <p:spPr>
          <a:xfrm>
            <a:off x="1078992" y="2743200"/>
            <a:ext cx="3529584" cy="384048"/>
          </a:xfrm>
          <a:prstGeom prst="rect">
            <a:avLst/>
          </a:prstGeom>
          <a:noFill/>
          <a:ln/>
        </p:spPr>
        <p:txBody>
          <a:bodyPr wrap="square" lIns="0" tIns="0" rIns="0" bIns="0" rtlCol="0" anchor="ctr">
            <a:normAutofit/>
          </a:bodyPr>
          <a:lstStyle/>
          <a:p>
            <a:pPr algn="ctr" indent="0" marL="0">
              <a:buNone/>
            </a:pPr>
            <a:r>
              <a:rPr lang="en-US" sz="1800" b="1" dirty="0">
                <a:solidFill>
                  <a:srgbClr val="F6F8FC"/>
                </a:solidFill>
                <a:latin typeface="Arial" pitchFamily="34" charset="0"/>
                <a:ea typeface="Arial" pitchFamily="34" charset="-122"/>
                <a:cs typeface="Arial" pitchFamily="34" charset="-120"/>
              </a:rPr>
              <a:t>Which node should I use right now?</a:t>
            </a:r>
            <a:endParaRPr lang="en-US" sz="1800" dirty="0"/>
          </a:p>
        </p:txBody>
      </p:sp>
      <p:sp>
        <p:nvSpPr>
          <p:cNvPr id="8" name="Text 6"/>
          <p:cNvSpPr txBox="1"/>
          <p:nvPr/>
        </p:nvSpPr>
        <p:spPr>
          <a:xfrm>
            <a:off x="1078992" y="3584448"/>
            <a:ext cx="3419856" cy="402336"/>
          </a:xfrm>
          <a:prstGeom prst="rect">
            <a:avLst/>
          </a:prstGeom>
          <a:noFill/>
          <a:ln/>
        </p:spPr>
        <p:txBody>
          <a:bodyPr wrap="square" lIns="0" tIns="0" rIns="0" bIns="0" rtlCol="0" anchor="ctr">
            <a:normAutofit/>
          </a:bodyPr>
          <a:lstStyle/>
          <a:p>
            <a:pPr algn="ctr" indent="0" marL="0">
              <a:buNone/>
            </a:pPr>
            <a:r>
              <a:rPr lang="en-US" sz="1050" dirty="0">
                <a:solidFill>
                  <a:srgbClr val="91A0B8"/>
                </a:solidFill>
                <a:latin typeface="Arial" pitchFamily="34" charset="0"/>
                <a:ea typeface="Arial" pitchFamily="34" charset="-122"/>
                <a:cs typeface="Arial" pitchFamily="34" charset="-120"/>
              </a:rPr>
              <a:t>Decision is mostly spatial: choose the best current node using current signals.</a:t>
            </a:r>
            <a:endParaRPr lang="en-US" sz="1050" dirty="0"/>
          </a:p>
        </p:txBody>
      </p:sp>
      <p:sp>
        <p:nvSpPr>
          <p:cNvPr id="9" name="Shape 7"/>
          <p:cNvSpPr/>
          <p:nvPr/>
        </p:nvSpPr>
        <p:spPr>
          <a:xfrm>
            <a:off x="1645920" y="4315968"/>
            <a:ext cx="2542032" cy="384048"/>
          </a:xfrm>
          <a:prstGeom prst="roundRect">
            <a:avLst/>
          </a:prstGeom>
          <a:solidFill>
            <a:srgbClr val="FF637D">
              <a:alpha val="12000"/>
            </a:srgbClr>
          </a:solidFill>
          <a:ln w="12700">
            <a:solidFill>
              <a:srgbClr val="FF637D"/>
            </a:solidFill>
            <a:prstDash val="solid"/>
          </a:ln>
        </p:spPr>
      </p:sp>
      <p:sp>
        <p:nvSpPr>
          <p:cNvPr id="10" name="Text 8"/>
          <p:cNvSpPr txBox="1"/>
          <p:nvPr/>
        </p:nvSpPr>
        <p:spPr>
          <a:xfrm>
            <a:off x="1645920" y="4425696"/>
            <a:ext cx="2542032" cy="146304"/>
          </a:xfrm>
          <a:prstGeom prst="rect">
            <a:avLst/>
          </a:prstGeom>
          <a:noFill/>
          <a:ln/>
        </p:spPr>
        <p:txBody>
          <a:bodyPr wrap="square" lIns="0" tIns="0" rIns="0" bIns="0" rtlCol="0" anchor="ctr">
            <a:normAutofit/>
          </a:bodyPr>
          <a:lstStyle/>
          <a:p>
            <a:pPr algn="ctr" indent="0" marL="0">
              <a:buNone/>
            </a:pPr>
            <a:r>
              <a:rPr lang="en-US" sz="850" b="1" dirty="0">
                <a:solidFill>
                  <a:srgbClr val="FF637D"/>
                </a:solidFill>
                <a:latin typeface="Arial" pitchFamily="34" charset="0"/>
                <a:ea typeface="Arial" pitchFamily="34" charset="-122"/>
                <a:cs typeface="Arial" pitchFamily="34" charset="-120"/>
              </a:rPr>
              <a:t>Threshold / score / queue</a:t>
            </a:r>
            <a:endParaRPr lang="en-US" sz="850" dirty="0"/>
          </a:p>
        </p:txBody>
      </p:sp>
      <p:sp>
        <p:nvSpPr>
          <p:cNvPr id="11" name="Text 9"/>
          <p:cNvSpPr txBox="1"/>
          <p:nvPr/>
        </p:nvSpPr>
        <p:spPr>
          <a:xfrm>
            <a:off x="5650992" y="3154680"/>
            <a:ext cx="768096" cy="219456"/>
          </a:xfrm>
          <a:prstGeom prst="rect">
            <a:avLst/>
          </a:prstGeom>
          <a:noFill/>
          <a:ln/>
        </p:spPr>
        <p:txBody>
          <a:bodyPr wrap="square" lIns="0" tIns="0" rIns="0" bIns="0" rtlCol="0" anchor="ctr">
            <a:normAutofit/>
          </a:bodyPr>
          <a:lstStyle/>
          <a:p>
            <a:pPr algn="ctr" indent="0" marL="0">
              <a:buNone/>
            </a:pPr>
            <a:r>
              <a:rPr lang="en-US" sz="1000" b="1" dirty="0">
                <a:solidFill>
                  <a:srgbClr val="91A0B8"/>
                </a:solidFill>
                <a:latin typeface="Arial" pitchFamily="34" charset="0"/>
                <a:ea typeface="Arial" pitchFamily="34" charset="-122"/>
                <a:cs typeface="Arial" pitchFamily="34" charset="-120"/>
              </a:rPr>
              <a:t>versus</a:t>
            </a:r>
            <a:endParaRPr lang="en-US" sz="1000" dirty="0"/>
          </a:p>
        </p:txBody>
      </p:sp>
      <p:sp>
        <p:nvSpPr>
          <p:cNvPr id="12" name="Shape 10"/>
          <p:cNvSpPr/>
          <p:nvPr/>
        </p:nvSpPr>
        <p:spPr>
          <a:xfrm>
            <a:off x="6894576" y="1755648"/>
            <a:ext cx="4663440" cy="3090672"/>
          </a:xfrm>
          <a:prstGeom prst="roundRect">
            <a:avLst>
              <a:gd name="adj" fmla="val 3550"/>
            </a:avLst>
          </a:prstGeom>
          <a:solidFill>
            <a:srgbClr val="0F1726"/>
          </a:solidFill>
          <a:ln w="12700">
            <a:solidFill>
              <a:srgbClr val="3CE28F"/>
            </a:solidFill>
            <a:prstDash val="solid"/>
          </a:ln>
        </p:spPr>
      </p:sp>
      <p:sp>
        <p:nvSpPr>
          <p:cNvPr id="13" name="Text 11"/>
          <p:cNvSpPr txBox="1"/>
          <p:nvPr/>
        </p:nvSpPr>
        <p:spPr>
          <a:xfrm>
            <a:off x="7187184" y="2048256"/>
            <a:ext cx="1188720" cy="201168"/>
          </a:xfrm>
          <a:prstGeom prst="rect">
            <a:avLst/>
          </a:prstGeom>
          <a:noFill/>
          <a:ln/>
        </p:spPr>
        <p:txBody>
          <a:bodyPr wrap="square" lIns="0" tIns="0" rIns="0" bIns="0" rtlCol="0" anchor="ctr">
            <a:normAutofit/>
          </a:bodyPr>
          <a:lstStyle/>
          <a:p>
            <a:pPr algn="l" indent="0" marL="0">
              <a:buNone/>
            </a:pPr>
            <a:r>
              <a:rPr lang="en-US" sz="1100" b="1" dirty="0">
                <a:solidFill>
                  <a:srgbClr val="3CE28F"/>
                </a:solidFill>
                <a:latin typeface="Arial" pitchFamily="34" charset="0"/>
                <a:ea typeface="Arial" pitchFamily="34" charset="-122"/>
                <a:cs typeface="Arial" pitchFamily="34" charset="-120"/>
              </a:rPr>
              <a:t>ACT scheduler</a:t>
            </a:r>
            <a:endParaRPr lang="en-US" sz="1100" dirty="0"/>
          </a:p>
        </p:txBody>
      </p:sp>
      <p:sp>
        <p:nvSpPr>
          <p:cNvPr id="14" name="Text 12"/>
          <p:cNvSpPr txBox="1"/>
          <p:nvPr/>
        </p:nvSpPr>
        <p:spPr>
          <a:xfrm>
            <a:off x="7278624" y="2670048"/>
            <a:ext cx="3566160" cy="493776"/>
          </a:xfrm>
          <a:prstGeom prst="rect">
            <a:avLst/>
          </a:prstGeom>
          <a:noFill/>
          <a:ln/>
        </p:spPr>
        <p:txBody>
          <a:bodyPr wrap="square" lIns="0" tIns="0" rIns="0" bIns="0" rtlCol="0" anchor="ctr">
            <a:normAutofit/>
          </a:bodyPr>
          <a:lstStyle/>
          <a:p>
            <a:pPr algn="ctr" indent="0" marL="0">
              <a:buNone/>
            </a:pPr>
            <a:r>
              <a:rPr lang="en-US" sz="1700" b="1" dirty="0">
                <a:solidFill>
                  <a:srgbClr val="F6F8FC"/>
                </a:solidFill>
                <a:latin typeface="Arial" pitchFamily="34" charset="0"/>
                <a:ea typeface="Arial" pitchFamily="34" charset="-122"/>
                <a:cs typeface="Arial" pitchFamily="34" charset="-120"/>
              </a:rPr>
              <a:t>Should I commit now, stay, reroute, or wait one step?</a:t>
            </a:r>
            <a:endParaRPr lang="en-US" sz="1700" dirty="0"/>
          </a:p>
        </p:txBody>
      </p:sp>
      <p:sp>
        <p:nvSpPr>
          <p:cNvPr id="15" name="Text 13"/>
          <p:cNvSpPr txBox="1"/>
          <p:nvPr/>
        </p:nvSpPr>
        <p:spPr>
          <a:xfrm>
            <a:off x="7296912" y="3584448"/>
            <a:ext cx="3493008" cy="402336"/>
          </a:xfrm>
          <a:prstGeom prst="rect">
            <a:avLst/>
          </a:prstGeom>
          <a:noFill/>
          <a:ln/>
        </p:spPr>
        <p:txBody>
          <a:bodyPr wrap="square" lIns="0" tIns="0" rIns="0" bIns="0" rtlCol="0" anchor="ctr">
            <a:normAutofit/>
          </a:bodyPr>
          <a:lstStyle/>
          <a:p>
            <a:pPr algn="ctr" indent="0" marL="0">
              <a:buNone/>
            </a:pPr>
            <a:r>
              <a:rPr lang="en-US" sz="1050" dirty="0">
                <a:solidFill>
                  <a:srgbClr val="91A0B8"/>
                </a:solidFill>
                <a:latin typeface="Arial" pitchFamily="34" charset="0"/>
                <a:ea typeface="Arial" pitchFamily="34" charset="-122"/>
                <a:cs typeface="Arial" pitchFamily="34" charset="-120"/>
              </a:rPr>
              <a:t>Decision is spatio-temporal: choose where and when based on value under uncertainty.</a:t>
            </a:r>
            <a:endParaRPr lang="en-US" sz="1050" dirty="0"/>
          </a:p>
        </p:txBody>
      </p:sp>
      <p:sp>
        <p:nvSpPr>
          <p:cNvPr id="16" name="Shape 14"/>
          <p:cNvSpPr/>
          <p:nvPr/>
        </p:nvSpPr>
        <p:spPr>
          <a:xfrm>
            <a:off x="7699248" y="4315968"/>
            <a:ext cx="2578608" cy="384048"/>
          </a:xfrm>
          <a:prstGeom prst="roundRect">
            <a:avLst/>
          </a:prstGeom>
          <a:solidFill>
            <a:srgbClr val="3CE28F">
              <a:alpha val="12000"/>
            </a:srgbClr>
          </a:solidFill>
          <a:ln w="12700">
            <a:solidFill>
              <a:srgbClr val="3CE28F"/>
            </a:solidFill>
            <a:prstDash val="solid"/>
          </a:ln>
        </p:spPr>
      </p:sp>
      <p:sp>
        <p:nvSpPr>
          <p:cNvPr id="17" name="Text 15"/>
          <p:cNvSpPr txBox="1"/>
          <p:nvPr/>
        </p:nvSpPr>
        <p:spPr>
          <a:xfrm>
            <a:off x="7699248" y="4425696"/>
            <a:ext cx="2578608" cy="146304"/>
          </a:xfrm>
          <a:prstGeom prst="rect">
            <a:avLst/>
          </a:prstGeom>
          <a:noFill/>
          <a:ln/>
        </p:spPr>
        <p:txBody>
          <a:bodyPr wrap="square" lIns="0" tIns="0" rIns="0" bIns="0" rtlCol="0" anchor="ctr">
            <a:normAutofit/>
          </a:bodyPr>
          <a:lstStyle/>
          <a:p>
            <a:pPr algn="ctr" indent="0" marL="0">
              <a:buNone/>
            </a:pPr>
            <a:r>
              <a:rPr lang="en-US" sz="850" b="1" dirty="0">
                <a:solidFill>
                  <a:srgbClr val="3CE28F"/>
                </a:solidFill>
                <a:latin typeface="Arial" pitchFamily="34" charset="0"/>
                <a:ea typeface="Arial" pitchFamily="34" charset="-122"/>
                <a:cs typeface="Arial" pitchFamily="34" charset="-120"/>
              </a:rPr>
              <a:t>Commitment value vs continuation value</a:t>
            </a:r>
            <a:endParaRPr lang="en-US" sz="850" dirty="0"/>
          </a:p>
        </p:txBody>
      </p:sp>
      <p:sp>
        <p:nvSpPr>
          <p:cNvPr id="18" name="Shape 16"/>
          <p:cNvSpPr/>
          <p:nvPr/>
        </p:nvSpPr>
        <p:spPr>
          <a:xfrm>
            <a:off x="1920240" y="5431536"/>
            <a:ext cx="8321040" cy="530352"/>
          </a:xfrm>
          <a:prstGeom prst="roundRect">
            <a:avLst>
              <a:gd name="adj" fmla="val 20690"/>
            </a:avLst>
          </a:prstGeom>
          <a:solidFill>
            <a:srgbClr val="0E1727"/>
          </a:solidFill>
          <a:ln w="12700">
            <a:solidFill>
              <a:srgbClr val="40D9FF"/>
            </a:solidFill>
            <a:prstDash val="solid"/>
          </a:ln>
        </p:spPr>
      </p:sp>
      <p:sp>
        <p:nvSpPr>
          <p:cNvPr id="19" name="Text 17"/>
          <p:cNvSpPr txBox="1"/>
          <p:nvPr/>
        </p:nvSpPr>
        <p:spPr>
          <a:xfrm>
            <a:off x="2139696" y="5541264"/>
            <a:ext cx="7882128" cy="201168"/>
          </a:xfrm>
          <a:prstGeom prst="rect">
            <a:avLst/>
          </a:prstGeom>
          <a:noFill/>
          <a:ln/>
        </p:spPr>
        <p:txBody>
          <a:bodyPr wrap="square" lIns="0" tIns="0" rIns="0" bIns="0" rtlCol="0" anchor="ctr">
            <a:normAutofit/>
          </a:bodyPr>
          <a:lstStyle/>
          <a:p>
            <a:pPr algn="ctr" indent="0" marL="0">
              <a:buNone/>
            </a:pPr>
            <a:r>
              <a:rPr lang="en-US" sz="1100" b="1" dirty="0">
                <a:solidFill>
                  <a:srgbClr val="F6F8FC"/>
                </a:solidFill>
                <a:latin typeface="Arial" pitchFamily="34" charset="0"/>
                <a:ea typeface="Arial" pitchFamily="34" charset="-122"/>
                <a:cs typeface="Arial" pitchFamily="34" charset="-120"/>
              </a:rPr>
              <a:t>Novelty claim: ACT adds the control dimension of WHEN to commit, not only WHERE to assign.</a:t>
            </a:r>
            <a:endParaRPr lang="en-US" sz="11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FULL-STACK ARCHITECTURE</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Backend + frontend wrapped around a deterministic ACT core</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evaluator-critical scheduler remains deterministic; the product layer makes it controllable, observable and explainable.</a:t>
            </a:r>
            <a:endParaRPr lang="en-US" sz="1200" dirty="0"/>
          </a:p>
        </p:txBody>
      </p:sp>
      <p:sp>
        <p:nvSpPr>
          <p:cNvPr id="5" name="Shape 3"/>
          <p:cNvSpPr/>
          <p:nvPr/>
        </p:nvSpPr>
        <p:spPr>
          <a:xfrm>
            <a:off x="530352" y="1920240"/>
            <a:ext cx="1737360" cy="1874520"/>
          </a:xfrm>
          <a:prstGeom prst="roundRect">
            <a:avLst>
              <a:gd name="adj" fmla="val 6316"/>
            </a:avLst>
          </a:prstGeom>
          <a:solidFill>
            <a:srgbClr val="101827"/>
          </a:solidFill>
          <a:ln w="12700">
            <a:solidFill>
              <a:srgbClr val="5D8CFF"/>
            </a:solidFill>
            <a:prstDash val="solid"/>
          </a:ln>
        </p:spPr>
      </p:sp>
      <p:sp>
        <p:nvSpPr>
          <p:cNvPr id="6" name="Text 4"/>
          <p:cNvSpPr txBox="1"/>
          <p:nvPr/>
        </p:nvSpPr>
        <p:spPr>
          <a:xfrm>
            <a:off x="640080" y="2029968"/>
            <a:ext cx="1517904" cy="219456"/>
          </a:xfrm>
          <a:prstGeom prst="rect">
            <a:avLst/>
          </a:prstGeom>
          <a:noFill/>
          <a:ln/>
        </p:spPr>
        <p:txBody>
          <a:bodyPr wrap="square" lIns="0" tIns="0" rIns="0" bIns="0" rtlCol="0" anchor="ctr">
            <a:normAutofit/>
          </a:bodyPr>
          <a:lstStyle/>
          <a:p>
            <a:pPr algn="ctr" indent="0" marL="0">
              <a:buNone/>
            </a:pPr>
            <a:r>
              <a:rPr lang="en-US" sz="1100" b="1" dirty="0">
                <a:solidFill>
                  <a:srgbClr val="5D8CFF"/>
                </a:solidFill>
                <a:latin typeface="Arial" pitchFamily="34" charset="0"/>
                <a:ea typeface="Arial" pitchFamily="34" charset="-122"/>
                <a:cs typeface="Arial" pitchFamily="34" charset="-120"/>
              </a:rPr>
              <a:t>Sandbox / evaluator</a:t>
            </a:r>
            <a:endParaRPr lang="en-US" sz="1100" dirty="0"/>
          </a:p>
        </p:txBody>
      </p:sp>
      <p:sp>
        <p:nvSpPr>
          <p:cNvPr id="7" name="Text 5"/>
          <p:cNvSpPr txBox="1"/>
          <p:nvPr/>
        </p:nvSpPr>
        <p:spPr>
          <a:xfrm>
            <a:off x="658368" y="2359152"/>
            <a:ext cx="1481328" cy="132588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telemetry + task list</a:t>
            </a:r>
            <a:endParaRPr lang="en-US" sz="910" dirty="0"/>
          </a:p>
        </p:txBody>
      </p:sp>
      <p:sp>
        <p:nvSpPr>
          <p:cNvPr id="8" name="Shape 6"/>
          <p:cNvSpPr/>
          <p:nvPr/>
        </p:nvSpPr>
        <p:spPr>
          <a:xfrm>
            <a:off x="2286000" y="2852928"/>
            <a:ext cx="484632" cy="0"/>
          </a:xfrm>
          <a:prstGeom prst="line">
            <a:avLst/>
          </a:prstGeom>
          <a:noFill/>
          <a:ln w="15875">
            <a:solidFill>
              <a:srgbClr val="2A3954"/>
            </a:solidFill>
            <a:prstDash val="solid"/>
            <a:headEnd type="none"/>
            <a:tailEnd type="triangle"/>
          </a:ln>
        </p:spPr>
      </p:sp>
      <p:sp>
        <p:nvSpPr>
          <p:cNvPr id="9" name="Shape 7"/>
          <p:cNvSpPr/>
          <p:nvPr/>
        </p:nvSpPr>
        <p:spPr>
          <a:xfrm>
            <a:off x="2862072" y="1920240"/>
            <a:ext cx="1737360" cy="1874520"/>
          </a:xfrm>
          <a:prstGeom prst="roundRect">
            <a:avLst>
              <a:gd name="adj" fmla="val 6316"/>
            </a:avLst>
          </a:prstGeom>
          <a:solidFill>
            <a:srgbClr val="101827"/>
          </a:solidFill>
          <a:ln w="12700">
            <a:solidFill>
              <a:srgbClr val="3CE28F"/>
            </a:solidFill>
            <a:prstDash val="solid"/>
          </a:ln>
        </p:spPr>
      </p:sp>
      <p:sp>
        <p:nvSpPr>
          <p:cNvPr id="10" name="Text 8"/>
          <p:cNvSpPr txBox="1"/>
          <p:nvPr/>
        </p:nvSpPr>
        <p:spPr>
          <a:xfrm>
            <a:off x="2971800" y="2029968"/>
            <a:ext cx="1517904" cy="219456"/>
          </a:xfrm>
          <a:prstGeom prst="rect">
            <a:avLst/>
          </a:prstGeom>
          <a:noFill/>
          <a:ln/>
        </p:spPr>
        <p:txBody>
          <a:bodyPr wrap="square" lIns="0" tIns="0" rIns="0" bIns="0" rtlCol="0" anchor="ctr">
            <a:normAutofit/>
          </a:bodyPr>
          <a:lstStyle/>
          <a:p>
            <a:pPr algn="ctr" indent="0" marL="0">
              <a:buNone/>
            </a:pPr>
            <a:r>
              <a:rPr lang="en-US" sz="1100" b="1" dirty="0">
                <a:solidFill>
                  <a:srgbClr val="3CE28F"/>
                </a:solidFill>
                <a:latin typeface="Arial" pitchFamily="34" charset="0"/>
                <a:ea typeface="Arial" pitchFamily="34" charset="-122"/>
                <a:cs typeface="Arial" pitchFamily="34" charset="-120"/>
              </a:rPr>
              <a:t>Backend API</a:t>
            </a:r>
            <a:endParaRPr lang="en-US" sz="1100" dirty="0"/>
          </a:p>
        </p:txBody>
      </p:sp>
      <p:sp>
        <p:nvSpPr>
          <p:cNvPr id="11" name="Text 9"/>
          <p:cNvSpPr txBox="1"/>
          <p:nvPr/>
        </p:nvSpPr>
        <p:spPr>
          <a:xfrm>
            <a:off x="2990088" y="2359152"/>
            <a:ext cx="1481328" cy="132588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run control + validation</a:t>
            </a:r>
            <a:endParaRPr lang="en-US" sz="910" dirty="0"/>
          </a:p>
        </p:txBody>
      </p:sp>
      <p:sp>
        <p:nvSpPr>
          <p:cNvPr id="12" name="Shape 10"/>
          <p:cNvSpPr/>
          <p:nvPr/>
        </p:nvSpPr>
        <p:spPr>
          <a:xfrm>
            <a:off x="4617720" y="2852928"/>
            <a:ext cx="484632" cy="0"/>
          </a:xfrm>
          <a:prstGeom prst="line">
            <a:avLst/>
          </a:prstGeom>
          <a:noFill/>
          <a:ln w="15875">
            <a:solidFill>
              <a:srgbClr val="2A3954"/>
            </a:solidFill>
            <a:prstDash val="solid"/>
            <a:headEnd type="none"/>
            <a:tailEnd type="triangle"/>
          </a:ln>
        </p:spPr>
      </p:sp>
      <p:sp>
        <p:nvSpPr>
          <p:cNvPr id="13" name="Shape 11"/>
          <p:cNvSpPr/>
          <p:nvPr/>
        </p:nvSpPr>
        <p:spPr>
          <a:xfrm>
            <a:off x="5193792" y="1920240"/>
            <a:ext cx="1737360" cy="1874520"/>
          </a:xfrm>
          <a:prstGeom prst="roundRect">
            <a:avLst>
              <a:gd name="adj" fmla="val 6316"/>
            </a:avLst>
          </a:prstGeom>
          <a:solidFill>
            <a:srgbClr val="101827"/>
          </a:solidFill>
          <a:ln w="12700">
            <a:solidFill>
              <a:srgbClr val="F6C453"/>
            </a:solidFill>
            <a:prstDash val="solid"/>
          </a:ln>
        </p:spPr>
      </p:sp>
      <p:sp>
        <p:nvSpPr>
          <p:cNvPr id="14" name="Text 12"/>
          <p:cNvSpPr txBox="1"/>
          <p:nvPr/>
        </p:nvSpPr>
        <p:spPr>
          <a:xfrm>
            <a:off x="5303520" y="2029968"/>
            <a:ext cx="1517904" cy="219456"/>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ACT core</a:t>
            </a:r>
            <a:endParaRPr lang="en-US" sz="1100" dirty="0"/>
          </a:p>
        </p:txBody>
      </p:sp>
      <p:sp>
        <p:nvSpPr>
          <p:cNvPr id="15" name="Text 13"/>
          <p:cNvSpPr txBox="1"/>
          <p:nvPr/>
        </p:nvSpPr>
        <p:spPr>
          <a:xfrm>
            <a:off x="5321808" y="2359152"/>
            <a:ext cx="1481328" cy="132588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belief + Q + stopping</a:t>
            </a:r>
            <a:endParaRPr lang="en-US" sz="910" dirty="0"/>
          </a:p>
        </p:txBody>
      </p:sp>
      <p:sp>
        <p:nvSpPr>
          <p:cNvPr id="16" name="Shape 14"/>
          <p:cNvSpPr/>
          <p:nvPr/>
        </p:nvSpPr>
        <p:spPr>
          <a:xfrm>
            <a:off x="6949440" y="2852928"/>
            <a:ext cx="484632" cy="0"/>
          </a:xfrm>
          <a:prstGeom prst="line">
            <a:avLst/>
          </a:prstGeom>
          <a:noFill/>
          <a:ln w="15875">
            <a:solidFill>
              <a:srgbClr val="2A3954"/>
            </a:solidFill>
            <a:prstDash val="solid"/>
            <a:headEnd type="none"/>
            <a:tailEnd type="triangle"/>
          </a:ln>
        </p:spPr>
      </p:sp>
      <p:sp>
        <p:nvSpPr>
          <p:cNvPr id="17" name="Shape 15"/>
          <p:cNvSpPr/>
          <p:nvPr/>
        </p:nvSpPr>
        <p:spPr>
          <a:xfrm>
            <a:off x="7525512" y="1920240"/>
            <a:ext cx="1737360" cy="1874520"/>
          </a:xfrm>
          <a:prstGeom prst="roundRect">
            <a:avLst>
              <a:gd name="adj" fmla="val 6316"/>
            </a:avLst>
          </a:prstGeom>
          <a:solidFill>
            <a:srgbClr val="101827"/>
          </a:solidFill>
          <a:ln w="12700">
            <a:solidFill>
              <a:srgbClr val="40D9FF"/>
            </a:solidFill>
            <a:prstDash val="solid"/>
          </a:ln>
        </p:spPr>
      </p:sp>
      <p:sp>
        <p:nvSpPr>
          <p:cNvPr id="18" name="Text 16"/>
          <p:cNvSpPr txBox="1"/>
          <p:nvPr/>
        </p:nvSpPr>
        <p:spPr>
          <a:xfrm>
            <a:off x="7635240" y="2029968"/>
            <a:ext cx="1517904" cy="219456"/>
          </a:xfrm>
          <a:prstGeom prst="rect">
            <a:avLst/>
          </a:prstGeom>
          <a:noFill/>
          <a:ln/>
        </p:spPr>
        <p:txBody>
          <a:bodyPr wrap="square" lIns="0" tIns="0" rIns="0" bIns="0" rtlCol="0" anchor="ctr">
            <a:normAutofit/>
          </a:bodyPr>
          <a:lstStyle/>
          <a:p>
            <a:pPr algn="ctr" indent="0" marL="0">
              <a:buNone/>
            </a:pPr>
            <a:r>
              <a:rPr lang="en-US" sz="1100" b="1" dirty="0">
                <a:solidFill>
                  <a:srgbClr val="40D9FF"/>
                </a:solidFill>
                <a:latin typeface="Arial" pitchFamily="34" charset="0"/>
                <a:ea typeface="Arial" pitchFamily="34" charset="-122"/>
                <a:cs typeface="Arial" pitchFamily="34" charset="-120"/>
              </a:rPr>
              <a:t>Decision log</a:t>
            </a:r>
            <a:endParaRPr lang="en-US" sz="1100" dirty="0"/>
          </a:p>
        </p:txBody>
      </p:sp>
      <p:sp>
        <p:nvSpPr>
          <p:cNvPr id="19" name="Text 17"/>
          <p:cNvSpPr txBox="1"/>
          <p:nvPr/>
        </p:nvSpPr>
        <p:spPr>
          <a:xfrm>
            <a:off x="7653528" y="2359152"/>
            <a:ext cx="1481328" cy="132588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metrics + reasons</a:t>
            </a:r>
            <a:endParaRPr lang="en-US" sz="910" dirty="0"/>
          </a:p>
        </p:txBody>
      </p:sp>
      <p:sp>
        <p:nvSpPr>
          <p:cNvPr id="20" name="Shape 18"/>
          <p:cNvSpPr/>
          <p:nvPr/>
        </p:nvSpPr>
        <p:spPr>
          <a:xfrm>
            <a:off x="9281160" y="2852928"/>
            <a:ext cx="484632" cy="0"/>
          </a:xfrm>
          <a:prstGeom prst="line">
            <a:avLst/>
          </a:prstGeom>
          <a:noFill/>
          <a:ln w="15875">
            <a:solidFill>
              <a:srgbClr val="2A3954"/>
            </a:solidFill>
            <a:prstDash val="solid"/>
            <a:headEnd type="none"/>
            <a:tailEnd type="triangle"/>
          </a:ln>
        </p:spPr>
      </p:sp>
      <p:sp>
        <p:nvSpPr>
          <p:cNvPr id="21" name="Shape 19"/>
          <p:cNvSpPr/>
          <p:nvPr/>
        </p:nvSpPr>
        <p:spPr>
          <a:xfrm>
            <a:off x="9857232" y="1920240"/>
            <a:ext cx="1737360" cy="1874520"/>
          </a:xfrm>
          <a:prstGeom prst="roundRect">
            <a:avLst>
              <a:gd name="adj" fmla="val 6316"/>
            </a:avLst>
          </a:prstGeom>
          <a:solidFill>
            <a:srgbClr val="101827"/>
          </a:solidFill>
          <a:ln w="12700">
            <a:solidFill>
              <a:srgbClr val="A7A1FF"/>
            </a:solidFill>
            <a:prstDash val="solid"/>
          </a:ln>
        </p:spPr>
      </p:sp>
      <p:sp>
        <p:nvSpPr>
          <p:cNvPr id="22" name="Text 20"/>
          <p:cNvSpPr txBox="1"/>
          <p:nvPr/>
        </p:nvSpPr>
        <p:spPr>
          <a:xfrm>
            <a:off x="9966960" y="2029968"/>
            <a:ext cx="1517904" cy="219456"/>
          </a:xfrm>
          <a:prstGeom prst="rect">
            <a:avLst/>
          </a:prstGeom>
          <a:noFill/>
          <a:ln/>
        </p:spPr>
        <p:txBody>
          <a:bodyPr wrap="square" lIns="0" tIns="0" rIns="0" bIns="0" rtlCol="0" anchor="ctr">
            <a:normAutofit/>
          </a:bodyPr>
          <a:lstStyle/>
          <a:p>
            <a:pPr algn="ctr" indent="0" marL="0">
              <a:buNone/>
            </a:pPr>
            <a:r>
              <a:rPr lang="en-US" sz="1100" b="1" dirty="0">
                <a:solidFill>
                  <a:srgbClr val="A7A1FF"/>
                </a:solidFill>
                <a:latin typeface="Arial" pitchFamily="34" charset="0"/>
                <a:ea typeface="Arial" pitchFamily="34" charset="-122"/>
                <a:cs typeface="Arial" pitchFamily="34" charset="-120"/>
              </a:rPr>
              <a:t>Frontend UI</a:t>
            </a:r>
            <a:endParaRPr lang="en-US" sz="1100" dirty="0"/>
          </a:p>
        </p:txBody>
      </p:sp>
      <p:sp>
        <p:nvSpPr>
          <p:cNvPr id="23" name="Text 21"/>
          <p:cNvSpPr txBox="1"/>
          <p:nvPr/>
        </p:nvSpPr>
        <p:spPr>
          <a:xfrm>
            <a:off x="9985248" y="2359152"/>
            <a:ext cx="1481328" cy="132588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dashboard + demo</a:t>
            </a:r>
            <a:endParaRPr lang="en-US" sz="910" dirty="0"/>
          </a:p>
        </p:txBody>
      </p:sp>
      <p:sp>
        <p:nvSpPr>
          <p:cNvPr id="24" name="Shape 22"/>
          <p:cNvSpPr/>
          <p:nvPr/>
        </p:nvSpPr>
        <p:spPr>
          <a:xfrm>
            <a:off x="749808" y="4626864"/>
            <a:ext cx="3383280" cy="932688"/>
          </a:xfrm>
          <a:prstGeom prst="roundRect">
            <a:avLst>
              <a:gd name="adj" fmla="val 11765"/>
            </a:avLst>
          </a:prstGeom>
          <a:solidFill>
            <a:srgbClr val="0F1726"/>
          </a:solidFill>
          <a:ln w="12700">
            <a:solidFill>
              <a:srgbClr val="3CE28F"/>
            </a:solidFill>
            <a:prstDash val="solid"/>
          </a:ln>
        </p:spPr>
      </p:sp>
      <p:sp>
        <p:nvSpPr>
          <p:cNvPr id="25" name="Text 23"/>
          <p:cNvSpPr txBox="1"/>
          <p:nvPr/>
        </p:nvSpPr>
        <p:spPr>
          <a:xfrm>
            <a:off x="950976" y="4782312"/>
            <a:ext cx="1005840" cy="201168"/>
          </a:xfrm>
          <a:prstGeom prst="rect">
            <a:avLst/>
          </a:prstGeom>
          <a:noFill/>
          <a:ln/>
        </p:spPr>
        <p:txBody>
          <a:bodyPr wrap="square" lIns="0" tIns="0" rIns="0" bIns="0" rtlCol="0" anchor="ctr">
            <a:normAutofit/>
          </a:bodyPr>
          <a:lstStyle/>
          <a:p>
            <a:pPr algn="l" indent="0" marL="0">
              <a:buNone/>
            </a:pPr>
            <a:r>
              <a:rPr lang="en-US" sz="1000" b="1" dirty="0">
                <a:solidFill>
                  <a:srgbClr val="3CE28F"/>
                </a:solidFill>
                <a:latin typeface="Arial" pitchFamily="34" charset="0"/>
                <a:ea typeface="Arial" pitchFamily="34" charset="-122"/>
                <a:cs typeface="Arial" pitchFamily="34" charset="-120"/>
              </a:rPr>
              <a:t>Backend role</a:t>
            </a:r>
            <a:endParaRPr lang="en-US" sz="1000" dirty="0"/>
          </a:p>
        </p:txBody>
      </p:sp>
      <p:sp>
        <p:nvSpPr>
          <p:cNvPr id="26" name="Text 24"/>
          <p:cNvSpPr txBox="1"/>
          <p:nvPr/>
        </p:nvSpPr>
        <p:spPr>
          <a:xfrm>
            <a:off x="950976" y="5102352"/>
            <a:ext cx="2907792" cy="274320"/>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execute ACT every step, enforce schemas, store metrics and return actions</a:t>
            </a:r>
            <a:endParaRPr lang="en-US" sz="1070" dirty="0"/>
          </a:p>
        </p:txBody>
      </p:sp>
      <p:sp>
        <p:nvSpPr>
          <p:cNvPr id="27" name="Shape 25"/>
          <p:cNvSpPr/>
          <p:nvPr/>
        </p:nvSpPr>
        <p:spPr>
          <a:xfrm>
            <a:off x="4370832" y="4626864"/>
            <a:ext cx="3383280" cy="932688"/>
          </a:xfrm>
          <a:prstGeom prst="roundRect">
            <a:avLst>
              <a:gd name="adj" fmla="val 11765"/>
            </a:avLst>
          </a:prstGeom>
          <a:solidFill>
            <a:srgbClr val="0F1726"/>
          </a:solidFill>
          <a:ln w="12700">
            <a:solidFill>
              <a:srgbClr val="F6C453"/>
            </a:solidFill>
            <a:prstDash val="solid"/>
          </a:ln>
        </p:spPr>
      </p:sp>
      <p:sp>
        <p:nvSpPr>
          <p:cNvPr id="28" name="Text 26"/>
          <p:cNvSpPr txBox="1"/>
          <p:nvPr/>
        </p:nvSpPr>
        <p:spPr>
          <a:xfrm>
            <a:off x="4572000" y="4782312"/>
            <a:ext cx="804672" cy="201168"/>
          </a:xfrm>
          <a:prstGeom prst="rect">
            <a:avLst/>
          </a:prstGeom>
          <a:noFill/>
          <a:ln/>
        </p:spPr>
        <p:txBody>
          <a:bodyPr wrap="square" lIns="0" tIns="0" rIns="0" bIns="0" rtlCol="0" anchor="ctr">
            <a:normAutofit/>
          </a:bodyPr>
          <a:lstStyle/>
          <a:p>
            <a:pPr algn="l" indent="0" marL="0">
              <a:buNone/>
            </a:pPr>
            <a:r>
              <a:rPr lang="en-US" sz="1000" b="1" dirty="0">
                <a:solidFill>
                  <a:srgbClr val="F6C453"/>
                </a:solidFill>
                <a:latin typeface="Arial" pitchFamily="34" charset="0"/>
                <a:ea typeface="Arial" pitchFamily="34" charset="-122"/>
                <a:cs typeface="Arial" pitchFamily="34" charset="-120"/>
              </a:rPr>
              <a:t>Core role</a:t>
            </a:r>
            <a:endParaRPr lang="en-US" sz="1000" dirty="0"/>
          </a:p>
        </p:txBody>
      </p:sp>
      <p:sp>
        <p:nvSpPr>
          <p:cNvPr id="29" name="Text 27"/>
          <p:cNvSpPr txBox="1"/>
          <p:nvPr/>
        </p:nvSpPr>
        <p:spPr>
          <a:xfrm>
            <a:off x="4572000" y="5102352"/>
            <a:ext cx="2907792" cy="274320"/>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compute posterior beliefs, task values, stopping advantage and assignment</a:t>
            </a:r>
            <a:endParaRPr lang="en-US" sz="1070" dirty="0"/>
          </a:p>
        </p:txBody>
      </p:sp>
      <p:sp>
        <p:nvSpPr>
          <p:cNvPr id="30" name="Shape 28"/>
          <p:cNvSpPr/>
          <p:nvPr/>
        </p:nvSpPr>
        <p:spPr>
          <a:xfrm>
            <a:off x="7991856" y="4626864"/>
            <a:ext cx="3383280" cy="932688"/>
          </a:xfrm>
          <a:prstGeom prst="roundRect">
            <a:avLst>
              <a:gd name="adj" fmla="val 11765"/>
            </a:avLst>
          </a:prstGeom>
          <a:solidFill>
            <a:srgbClr val="0F1726"/>
          </a:solidFill>
          <a:ln w="12700">
            <a:solidFill>
              <a:srgbClr val="A7A1FF"/>
            </a:solidFill>
            <a:prstDash val="solid"/>
          </a:ln>
        </p:spPr>
      </p:sp>
      <p:sp>
        <p:nvSpPr>
          <p:cNvPr id="31" name="Text 29"/>
          <p:cNvSpPr txBox="1"/>
          <p:nvPr/>
        </p:nvSpPr>
        <p:spPr>
          <a:xfrm>
            <a:off x="8193024" y="4782312"/>
            <a:ext cx="960120" cy="201168"/>
          </a:xfrm>
          <a:prstGeom prst="rect">
            <a:avLst/>
          </a:prstGeom>
          <a:noFill/>
          <a:ln/>
        </p:spPr>
        <p:txBody>
          <a:bodyPr wrap="square" lIns="0" tIns="0" rIns="0" bIns="0" rtlCol="0" anchor="ctr">
            <a:normAutofit/>
          </a:bodyPr>
          <a:lstStyle/>
          <a:p>
            <a:pPr algn="l" indent="0" marL="0">
              <a:buNone/>
            </a:pPr>
            <a:r>
              <a:rPr lang="en-US" sz="1000" b="1" dirty="0">
                <a:solidFill>
                  <a:srgbClr val="A7A1FF"/>
                </a:solidFill>
                <a:latin typeface="Arial" pitchFamily="34" charset="0"/>
                <a:ea typeface="Arial" pitchFamily="34" charset="-122"/>
                <a:cs typeface="Arial" pitchFamily="34" charset="-120"/>
              </a:rPr>
              <a:t>Frontend role</a:t>
            </a:r>
            <a:endParaRPr lang="en-US" sz="1000" dirty="0"/>
          </a:p>
        </p:txBody>
      </p:sp>
      <p:sp>
        <p:nvSpPr>
          <p:cNvPr id="32" name="Text 30"/>
          <p:cNvSpPr txBox="1"/>
          <p:nvPr/>
        </p:nvSpPr>
        <p:spPr>
          <a:xfrm>
            <a:off x="8193024" y="5102352"/>
            <a:ext cx="2907792" cy="274320"/>
          </a:xfrm>
          <a:prstGeom prst="rect">
            <a:avLst/>
          </a:prstGeom>
          <a:noFill/>
          <a:ln/>
        </p:spPr>
        <p:txBody>
          <a:bodyPr wrap="square" lIns="0" tIns="0" rIns="0" bIns="0" rtlCol="0" anchor="ctr">
            <a:normAutofit/>
          </a:bodyPr>
          <a:lstStyle/>
          <a:p>
            <a:pPr algn="l" indent="0" marL="0">
              <a:buNone/>
            </a:pPr>
            <a:r>
              <a:rPr lang="en-US" sz="1070" dirty="0">
                <a:solidFill>
                  <a:srgbClr val="D5DEEC"/>
                </a:solidFill>
                <a:latin typeface="Arial" pitchFamily="34" charset="0"/>
                <a:ea typeface="Arial" pitchFamily="34" charset="-122"/>
                <a:cs typeface="Arial" pitchFamily="34" charset="-120"/>
              </a:rPr>
              <a:t>show live health, decisions, benchmark curves and explainability</a:t>
            </a:r>
            <a:endParaRPr lang="en-US" sz="107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BACKEND IMPLEMENTATION</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Run controller, API layer and scheduler integration</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backend turns the algorithm into a repeatable service: receive state, validate, decide, log and respond.</a:t>
            </a:r>
            <a:endParaRPr lang="en-US" sz="1200" dirty="0"/>
          </a:p>
        </p:txBody>
      </p:sp>
      <p:sp>
        <p:nvSpPr>
          <p:cNvPr id="5" name="Shape 3"/>
          <p:cNvSpPr/>
          <p:nvPr/>
        </p:nvSpPr>
        <p:spPr>
          <a:xfrm>
            <a:off x="566928" y="1572768"/>
            <a:ext cx="5376672" cy="4526280"/>
          </a:xfrm>
          <a:prstGeom prst="roundRect">
            <a:avLst>
              <a:gd name="adj" fmla="val 2424"/>
            </a:avLst>
          </a:prstGeom>
          <a:solidFill>
            <a:srgbClr val="101827"/>
          </a:solidFill>
          <a:ln w="12700">
            <a:solidFill>
              <a:srgbClr val="3CE28F"/>
            </a:solidFill>
            <a:prstDash val="solid"/>
          </a:ln>
        </p:spPr>
      </p:sp>
      <p:sp>
        <p:nvSpPr>
          <p:cNvPr id="6" name="Shape 4"/>
          <p:cNvSpPr/>
          <p:nvPr/>
        </p:nvSpPr>
        <p:spPr>
          <a:xfrm>
            <a:off x="822960" y="1792224"/>
            <a:ext cx="1901952" cy="274320"/>
          </a:xfrm>
          <a:prstGeom prst="roundRect">
            <a:avLst>
              <a:gd name="adj" fmla="val 46667"/>
            </a:avLst>
          </a:prstGeom>
          <a:solidFill>
            <a:srgbClr val="3CE28F">
              <a:alpha val="14000"/>
            </a:srgbClr>
          </a:solidFill>
          <a:ln w="11430">
            <a:solidFill>
              <a:srgbClr val="3CE28F">
                <a:alpha val="65000"/>
              </a:srgbClr>
            </a:solidFill>
            <a:prstDash val="solid"/>
          </a:ln>
        </p:spPr>
      </p:sp>
      <p:sp>
        <p:nvSpPr>
          <p:cNvPr id="7" name="Text 5"/>
          <p:cNvSpPr txBox="1"/>
          <p:nvPr/>
        </p:nvSpPr>
        <p:spPr>
          <a:xfrm>
            <a:off x="877824" y="1833372"/>
            <a:ext cx="1792224" cy="164592"/>
          </a:xfrm>
          <a:prstGeom prst="rect">
            <a:avLst/>
          </a:prstGeom>
          <a:noFill/>
          <a:ln/>
        </p:spPr>
        <p:txBody>
          <a:bodyPr wrap="square" lIns="0" tIns="0" rIns="0" bIns="0" rtlCol="0" anchor="ctr">
            <a:normAutofit/>
          </a:bodyPr>
          <a:lstStyle/>
          <a:p>
            <a:pPr algn="ctr" indent="0" marL="0">
              <a:buNone/>
            </a:pPr>
            <a:r>
              <a:rPr lang="en-US" sz="810" b="1" dirty="0">
                <a:solidFill>
                  <a:srgbClr val="3CE28F"/>
                </a:solidFill>
                <a:latin typeface="Arial" pitchFamily="34" charset="0"/>
                <a:ea typeface="Arial" pitchFamily="34" charset="-122"/>
                <a:cs typeface="Arial" pitchFamily="34" charset="-120"/>
              </a:rPr>
              <a:t>BACKEND RESPONSIBILITIES</a:t>
            </a:r>
            <a:endParaRPr lang="en-US" sz="810" dirty="0"/>
          </a:p>
        </p:txBody>
      </p:sp>
      <p:sp>
        <p:nvSpPr>
          <p:cNvPr id="8" name="Shape 6"/>
          <p:cNvSpPr/>
          <p:nvPr/>
        </p:nvSpPr>
        <p:spPr>
          <a:xfrm>
            <a:off x="841248" y="2240280"/>
            <a:ext cx="1554480" cy="310896"/>
          </a:xfrm>
          <a:prstGeom prst="roundRect">
            <a:avLst/>
          </a:prstGeom>
          <a:solidFill>
            <a:srgbClr val="18243A"/>
          </a:solidFill>
          <a:ln w="10160">
            <a:solidFill>
              <a:srgbClr val="2A3954"/>
            </a:solidFill>
            <a:prstDash val="solid"/>
          </a:ln>
        </p:spPr>
      </p:sp>
      <p:sp>
        <p:nvSpPr>
          <p:cNvPr id="9" name="Text 7"/>
          <p:cNvSpPr txBox="1"/>
          <p:nvPr/>
        </p:nvSpPr>
        <p:spPr>
          <a:xfrm>
            <a:off x="932688" y="2318004"/>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Input validation</a:t>
            </a:r>
            <a:endParaRPr lang="en-US" sz="850" dirty="0"/>
          </a:p>
        </p:txBody>
      </p:sp>
      <p:sp>
        <p:nvSpPr>
          <p:cNvPr id="10" name="Text 8"/>
          <p:cNvSpPr txBox="1"/>
          <p:nvPr/>
        </p:nvSpPr>
        <p:spPr>
          <a:xfrm>
            <a:off x="2578608" y="2295144"/>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telemetry, tasks, node capacities, deadlines</a:t>
            </a:r>
            <a:endParaRPr lang="en-US" sz="930" dirty="0"/>
          </a:p>
        </p:txBody>
      </p:sp>
      <p:sp>
        <p:nvSpPr>
          <p:cNvPr id="11" name="Shape 9"/>
          <p:cNvSpPr/>
          <p:nvPr/>
        </p:nvSpPr>
        <p:spPr>
          <a:xfrm>
            <a:off x="841248" y="2752344"/>
            <a:ext cx="1554480" cy="310896"/>
          </a:xfrm>
          <a:prstGeom prst="roundRect">
            <a:avLst/>
          </a:prstGeom>
          <a:solidFill>
            <a:srgbClr val="18243A"/>
          </a:solidFill>
          <a:ln w="10160">
            <a:solidFill>
              <a:srgbClr val="2A3954"/>
            </a:solidFill>
            <a:prstDash val="solid"/>
          </a:ln>
        </p:spPr>
      </p:sp>
      <p:sp>
        <p:nvSpPr>
          <p:cNvPr id="12" name="Text 10"/>
          <p:cNvSpPr txBox="1"/>
          <p:nvPr/>
        </p:nvSpPr>
        <p:spPr>
          <a:xfrm>
            <a:off x="932688" y="2830068"/>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Run lifecycle</a:t>
            </a:r>
            <a:endParaRPr lang="en-US" sz="850" dirty="0"/>
          </a:p>
        </p:txBody>
      </p:sp>
      <p:sp>
        <p:nvSpPr>
          <p:cNvPr id="13" name="Text 11"/>
          <p:cNvSpPr txBox="1"/>
          <p:nvPr/>
        </p:nvSpPr>
        <p:spPr>
          <a:xfrm>
            <a:off x="2578608" y="2807208"/>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reset, step, update, benchmark and replay</a:t>
            </a:r>
            <a:endParaRPr lang="en-US" sz="930" dirty="0"/>
          </a:p>
        </p:txBody>
      </p:sp>
      <p:sp>
        <p:nvSpPr>
          <p:cNvPr id="14" name="Shape 12"/>
          <p:cNvSpPr/>
          <p:nvPr/>
        </p:nvSpPr>
        <p:spPr>
          <a:xfrm>
            <a:off x="841248" y="3264408"/>
            <a:ext cx="1554480" cy="310896"/>
          </a:xfrm>
          <a:prstGeom prst="roundRect">
            <a:avLst/>
          </a:prstGeom>
          <a:solidFill>
            <a:srgbClr val="18243A"/>
          </a:solidFill>
          <a:ln w="10160">
            <a:solidFill>
              <a:srgbClr val="2A3954"/>
            </a:solidFill>
            <a:prstDash val="solid"/>
          </a:ln>
        </p:spPr>
      </p:sp>
      <p:sp>
        <p:nvSpPr>
          <p:cNvPr id="15" name="Text 13"/>
          <p:cNvSpPr txBox="1"/>
          <p:nvPr/>
        </p:nvSpPr>
        <p:spPr>
          <a:xfrm>
            <a:off x="932688" y="3342132"/>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Scheduler call</a:t>
            </a:r>
            <a:endParaRPr lang="en-US" sz="850" dirty="0"/>
          </a:p>
        </p:txBody>
      </p:sp>
      <p:sp>
        <p:nvSpPr>
          <p:cNvPr id="16" name="Text 14"/>
          <p:cNvSpPr txBox="1"/>
          <p:nvPr/>
        </p:nvSpPr>
        <p:spPr>
          <a:xfrm>
            <a:off x="2578608" y="3319272"/>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ACT belief update + Q-value + stopping decision</a:t>
            </a:r>
            <a:endParaRPr lang="en-US" sz="930" dirty="0"/>
          </a:p>
        </p:txBody>
      </p:sp>
      <p:sp>
        <p:nvSpPr>
          <p:cNvPr id="17" name="Shape 15"/>
          <p:cNvSpPr/>
          <p:nvPr/>
        </p:nvSpPr>
        <p:spPr>
          <a:xfrm>
            <a:off x="841248" y="3776472"/>
            <a:ext cx="1554480" cy="310896"/>
          </a:xfrm>
          <a:prstGeom prst="roundRect">
            <a:avLst/>
          </a:prstGeom>
          <a:solidFill>
            <a:srgbClr val="18243A"/>
          </a:solidFill>
          <a:ln w="10160">
            <a:solidFill>
              <a:srgbClr val="2A3954"/>
            </a:solidFill>
            <a:prstDash val="solid"/>
          </a:ln>
        </p:spPr>
      </p:sp>
      <p:sp>
        <p:nvSpPr>
          <p:cNvPr id="18" name="Text 16"/>
          <p:cNvSpPr txBox="1"/>
          <p:nvPr/>
        </p:nvSpPr>
        <p:spPr>
          <a:xfrm>
            <a:off x="932688" y="3854196"/>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Action response</a:t>
            </a:r>
            <a:endParaRPr lang="en-US" sz="850" dirty="0"/>
          </a:p>
        </p:txBody>
      </p:sp>
      <p:sp>
        <p:nvSpPr>
          <p:cNvPr id="19" name="Text 17"/>
          <p:cNvSpPr txBox="1"/>
          <p:nvPr/>
        </p:nvSpPr>
        <p:spPr>
          <a:xfrm>
            <a:off x="2578608" y="3831336"/>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assign, hold, stay or reroute each task</a:t>
            </a:r>
            <a:endParaRPr lang="en-US" sz="930" dirty="0"/>
          </a:p>
        </p:txBody>
      </p:sp>
      <p:sp>
        <p:nvSpPr>
          <p:cNvPr id="20" name="Shape 18"/>
          <p:cNvSpPr/>
          <p:nvPr/>
        </p:nvSpPr>
        <p:spPr>
          <a:xfrm>
            <a:off x="841248" y="4288536"/>
            <a:ext cx="1554480" cy="310896"/>
          </a:xfrm>
          <a:prstGeom prst="roundRect">
            <a:avLst/>
          </a:prstGeom>
          <a:solidFill>
            <a:srgbClr val="18243A"/>
          </a:solidFill>
          <a:ln w="10160">
            <a:solidFill>
              <a:srgbClr val="2A3954"/>
            </a:solidFill>
            <a:prstDash val="solid"/>
          </a:ln>
        </p:spPr>
      </p:sp>
      <p:sp>
        <p:nvSpPr>
          <p:cNvPr id="21" name="Text 19"/>
          <p:cNvSpPr txBox="1"/>
          <p:nvPr/>
        </p:nvSpPr>
        <p:spPr>
          <a:xfrm>
            <a:off x="932688" y="4366260"/>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Persistence</a:t>
            </a:r>
            <a:endParaRPr lang="en-US" sz="850" dirty="0"/>
          </a:p>
        </p:txBody>
      </p:sp>
      <p:sp>
        <p:nvSpPr>
          <p:cNvPr id="22" name="Text 20"/>
          <p:cNvSpPr txBox="1"/>
          <p:nvPr/>
        </p:nvSpPr>
        <p:spPr>
          <a:xfrm>
            <a:off x="2578608" y="4343400"/>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metrics, decisions, explanations and error traces</a:t>
            </a:r>
            <a:endParaRPr lang="en-US" sz="930" dirty="0"/>
          </a:p>
        </p:txBody>
      </p:sp>
      <p:sp>
        <p:nvSpPr>
          <p:cNvPr id="23" name="Shape 21"/>
          <p:cNvSpPr/>
          <p:nvPr/>
        </p:nvSpPr>
        <p:spPr>
          <a:xfrm>
            <a:off x="841248" y="4800600"/>
            <a:ext cx="1554480" cy="310896"/>
          </a:xfrm>
          <a:prstGeom prst="roundRect">
            <a:avLst/>
          </a:prstGeom>
          <a:solidFill>
            <a:srgbClr val="18243A"/>
          </a:solidFill>
          <a:ln w="10160">
            <a:solidFill>
              <a:srgbClr val="2A3954"/>
            </a:solidFill>
            <a:prstDash val="solid"/>
          </a:ln>
        </p:spPr>
      </p:sp>
      <p:sp>
        <p:nvSpPr>
          <p:cNvPr id="24" name="Text 22"/>
          <p:cNvSpPr txBox="1"/>
          <p:nvPr/>
        </p:nvSpPr>
        <p:spPr>
          <a:xfrm>
            <a:off x="932688" y="4878324"/>
            <a:ext cx="1371600" cy="137160"/>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Frontend API</a:t>
            </a:r>
            <a:endParaRPr lang="en-US" sz="850" dirty="0"/>
          </a:p>
        </p:txBody>
      </p:sp>
      <p:sp>
        <p:nvSpPr>
          <p:cNvPr id="25" name="Text 23"/>
          <p:cNvSpPr txBox="1"/>
          <p:nvPr/>
        </p:nvSpPr>
        <p:spPr>
          <a:xfrm>
            <a:off x="2578608" y="4855464"/>
            <a:ext cx="2633472" cy="182880"/>
          </a:xfrm>
          <a:prstGeom prst="rect">
            <a:avLst/>
          </a:prstGeom>
          <a:noFill/>
          <a:ln/>
        </p:spPr>
        <p:txBody>
          <a:bodyPr wrap="square" lIns="0" tIns="0" rIns="0" bIns="0" rtlCol="0" anchor="ctr">
            <a:normAutofit/>
          </a:bodyPr>
          <a:lstStyle/>
          <a:p>
            <a:pPr algn="l" indent="0" marL="0">
              <a:buNone/>
            </a:pPr>
            <a:r>
              <a:rPr lang="en-US" sz="930" dirty="0">
                <a:solidFill>
                  <a:srgbClr val="91A0B8"/>
                </a:solidFill>
                <a:latin typeface="Arial" pitchFamily="34" charset="0"/>
                <a:ea typeface="Arial" pitchFamily="34" charset="-122"/>
                <a:cs typeface="Arial" pitchFamily="34" charset="-120"/>
              </a:rPr>
              <a:t>serve live run state and dashboard data</a:t>
            </a:r>
            <a:endParaRPr lang="en-US" sz="930" dirty="0"/>
          </a:p>
        </p:txBody>
      </p:sp>
      <p:sp>
        <p:nvSpPr>
          <p:cNvPr id="26" name="Shape 24"/>
          <p:cNvSpPr/>
          <p:nvPr/>
        </p:nvSpPr>
        <p:spPr>
          <a:xfrm>
            <a:off x="6272784" y="1572768"/>
            <a:ext cx="5340096" cy="4526280"/>
          </a:xfrm>
          <a:prstGeom prst="roundRect">
            <a:avLst>
              <a:gd name="adj" fmla="val 2424"/>
            </a:avLst>
          </a:prstGeom>
          <a:solidFill>
            <a:srgbClr val="101827"/>
          </a:solidFill>
          <a:ln w="12700">
            <a:solidFill>
              <a:srgbClr val="40D9FF"/>
            </a:solidFill>
            <a:prstDash val="solid"/>
          </a:ln>
        </p:spPr>
      </p:sp>
      <p:sp>
        <p:nvSpPr>
          <p:cNvPr id="27" name="Shape 25"/>
          <p:cNvSpPr/>
          <p:nvPr/>
        </p:nvSpPr>
        <p:spPr>
          <a:xfrm>
            <a:off x="6528816" y="1792224"/>
            <a:ext cx="1645920"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28" name="Text 26"/>
          <p:cNvSpPr txBox="1"/>
          <p:nvPr/>
        </p:nvSpPr>
        <p:spPr>
          <a:xfrm>
            <a:off x="6583680" y="1833372"/>
            <a:ext cx="1536192"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PER-STEP BACKEND FLOW</a:t>
            </a:r>
            <a:endParaRPr lang="en-US" sz="810" dirty="0"/>
          </a:p>
        </p:txBody>
      </p:sp>
      <p:sp>
        <p:nvSpPr>
          <p:cNvPr id="29" name="Shape 27"/>
          <p:cNvSpPr/>
          <p:nvPr/>
        </p:nvSpPr>
        <p:spPr>
          <a:xfrm>
            <a:off x="6583680" y="2258568"/>
            <a:ext cx="292608" cy="292608"/>
          </a:xfrm>
          <a:prstGeom prst="ellipse">
            <a:avLst/>
          </a:prstGeom>
          <a:solidFill>
            <a:srgbClr val="40D9FF">
              <a:alpha val="16000"/>
            </a:srgbClr>
          </a:solidFill>
          <a:ln w="12700">
            <a:solidFill>
              <a:srgbClr val="40D9FF"/>
            </a:solidFill>
            <a:prstDash val="solid"/>
          </a:ln>
        </p:spPr>
      </p:sp>
      <p:sp>
        <p:nvSpPr>
          <p:cNvPr id="30" name="Text 28"/>
          <p:cNvSpPr txBox="1"/>
          <p:nvPr/>
        </p:nvSpPr>
        <p:spPr>
          <a:xfrm>
            <a:off x="6583680" y="232257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1</a:t>
            </a:r>
            <a:endParaRPr lang="en-US" sz="800" dirty="0"/>
          </a:p>
        </p:txBody>
      </p:sp>
      <p:sp>
        <p:nvSpPr>
          <p:cNvPr id="31" name="Text 29"/>
          <p:cNvSpPr txBox="1"/>
          <p:nvPr/>
        </p:nvSpPr>
        <p:spPr>
          <a:xfrm>
            <a:off x="7059168" y="224942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Receive current cluster state</a:t>
            </a:r>
            <a:endParaRPr lang="en-US" sz="1080" dirty="0"/>
          </a:p>
        </p:txBody>
      </p:sp>
      <p:sp>
        <p:nvSpPr>
          <p:cNvPr id="32" name="Shape 30"/>
          <p:cNvSpPr/>
          <p:nvPr/>
        </p:nvSpPr>
        <p:spPr>
          <a:xfrm>
            <a:off x="6583680" y="2761488"/>
            <a:ext cx="292608" cy="292608"/>
          </a:xfrm>
          <a:prstGeom prst="ellipse">
            <a:avLst/>
          </a:prstGeom>
          <a:solidFill>
            <a:srgbClr val="40D9FF">
              <a:alpha val="16000"/>
            </a:srgbClr>
          </a:solidFill>
          <a:ln w="12700">
            <a:solidFill>
              <a:srgbClr val="40D9FF"/>
            </a:solidFill>
            <a:prstDash val="solid"/>
          </a:ln>
        </p:spPr>
      </p:sp>
      <p:sp>
        <p:nvSpPr>
          <p:cNvPr id="33" name="Text 31"/>
          <p:cNvSpPr txBox="1"/>
          <p:nvPr/>
        </p:nvSpPr>
        <p:spPr>
          <a:xfrm>
            <a:off x="6583680" y="282549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2</a:t>
            </a:r>
            <a:endParaRPr lang="en-US" sz="800" dirty="0"/>
          </a:p>
        </p:txBody>
      </p:sp>
      <p:sp>
        <p:nvSpPr>
          <p:cNvPr id="34" name="Text 32"/>
          <p:cNvSpPr txBox="1"/>
          <p:nvPr/>
        </p:nvSpPr>
        <p:spPr>
          <a:xfrm>
            <a:off x="7059168" y="275234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Normalize and validate schema</a:t>
            </a:r>
            <a:endParaRPr lang="en-US" sz="1080" dirty="0"/>
          </a:p>
        </p:txBody>
      </p:sp>
      <p:sp>
        <p:nvSpPr>
          <p:cNvPr id="35" name="Shape 33"/>
          <p:cNvSpPr/>
          <p:nvPr/>
        </p:nvSpPr>
        <p:spPr>
          <a:xfrm>
            <a:off x="6583680" y="3264408"/>
            <a:ext cx="292608" cy="292608"/>
          </a:xfrm>
          <a:prstGeom prst="ellipse">
            <a:avLst/>
          </a:prstGeom>
          <a:solidFill>
            <a:srgbClr val="40D9FF">
              <a:alpha val="16000"/>
            </a:srgbClr>
          </a:solidFill>
          <a:ln w="12700">
            <a:solidFill>
              <a:srgbClr val="40D9FF"/>
            </a:solidFill>
            <a:prstDash val="solid"/>
          </a:ln>
        </p:spPr>
      </p:sp>
      <p:sp>
        <p:nvSpPr>
          <p:cNvPr id="36" name="Text 34"/>
          <p:cNvSpPr txBox="1"/>
          <p:nvPr/>
        </p:nvSpPr>
        <p:spPr>
          <a:xfrm>
            <a:off x="6583680" y="332841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3</a:t>
            </a:r>
            <a:endParaRPr lang="en-US" sz="800" dirty="0"/>
          </a:p>
        </p:txBody>
      </p:sp>
      <p:sp>
        <p:nvSpPr>
          <p:cNvPr id="37" name="Text 35"/>
          <p:cNvSpPr txBox="1"/>
          <p:nvPr/>
        </p:nvSpPr>
        <p:spPr>
          <a:xfrm>
            <a:off x="7059168" y="325526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Update node beliefs</a:t>
            </a:r>
            <a:endParaRPr lang="en-US" sz="1080" dirty="0"/>
          </a:p>
        </p:txBody>
      </p:sp>
      <p:sp>
        <p:nvSpPr>
          <p:cNvPr id="38" name="Shape 36"/>
          <p:cNvSpPr/>
          <p:nvPr/>
        </p:nvSpPr>
        <p:spPr>
          <a:xfrm>
            <a:off x="6583680" y="3767328"/>
            <a:ext cx="292608" cy="292608"/>
          </a:xfrm>
          <a:prstGeom prst="ellipse">
            <a:avLst/>
          </a:prstGeom>
          <a:solidFill>
            <a:srgbClr val="40D9FF">
              <a:alpha val="16000"/>
            </a:srgbClr>
          </a:solidFill>
          <a:ln w="12700">
            <a:solidFill>
              <a:srgbClr val="40D9FF"/>
            </a:solidFill>
            <a:prstDash val="solid"/>
          </a:ln>
        </p:spPr>
      </p:sp>
      <p:sp>
        <p:nvSpPr>
          <p:cNvPr id="39" name="Text 37"/>
          <p:cNvSpPr txBox="1"/>
          <p:nvPr/>
        </p:nvSpPr>
        <p:spPr>
          <a:xfrm>
            <a:off x="6583680" y="383133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4</a:t>
            </a:r>
            <a:endParaRPr lang="en-US" sz="800" dirty="0"/>
          </a:p>
        </p:txBody>
      </p:sp>
      <p:sp>
        <p:nvSpPr>
          <p:cNvPr id="40" name="Text 38"/>
          <p:cNvSpPr txBox="1"/>
          <p:nvPr/>
        </p:nvSpPr>
        <p:spPr>
          <a:xfrm>
            <a:off x="7059168" y="375818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Compute task-node values</a:t>
            </a:r>
            <a:endParaRPr lang="en-US" sz="1080" dirty="0"/>
          </a:p>
        </p:txBody>
      </p:sp>
      <p:sp>
        <p:nvSpPr>
          <p:cNvPr id="41" name="Shape 39"/>
          <p:cNvSpPr/>
          <p:nvPr/>
        </p:nvSpPr>
        <p:spPr>
          <a:xfrm>
            <a:off x="6583680" y="4270248"/>
            <a:ext cx="292608" cy="292608"/>
          </a:xfrm>
          <a:prstGeom prst="ellipse">
            <a:avLst/>
          </a:prstGeom>
          <a:solidFill>
            <a:srgbClr val="40D9FF">
              <a:alpha val="16000"/>
            </a:srgbClr>
          </a:solidFill>
          <a:ln w="12700">
            <a:solidFill>
              <a:srgbClr val="40D9FF"/>
            </a:solidFill>
            <a:prstDash val="solid"/>
          </a:ln>
        </p:spPr>
      </p:sp>
      <p:sp>
        <p:nvSpPr>
          <p:cNvPr id="42" name="Text 40"/>
          <p:cNvSpPr txBox="1"/>
          <p:nvPr/>
        </p:nvSpPr>
        <p:spPr>
          <a:xfrm>
            <a:off x="6583680" y="433425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5</a:t>
            </a:r>
            <a:endParaRPr lang="en-US" sz="800" dirty="0"/>
          </a:p>
        </p:txBody>
      </p:sp>
      <p:sp>
        <p:nvSpPr>
          <p:cNvPr id="43" name="Text 41"/>
          <p:cNvSpPr txBox="1"/>
          <p:nvPr/>
        </p:nvSpPr>
        <p:spPr>
          <a:xfrm>
            <a:off x="7059168" y="426110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Generate actions + explanation</a:t>
            </a:r>
            <a:endParaRPr lang="en-US" sz="1080" dirty="0"/>
          </a:p>
        </p:txBody>
      </p:sp>
      <p:sp>
        <p:nvSpPr>
          <p:cNvPr id="44" name="Shape 42"/>
          <p:cNvSpPr/>
          <p:nvPr/>
        </p:nvSpPr>
        <p:spPr>
          <a:xfrm>
            <a:off x="6583680" y="4773168"/>
            <a:ext cx="292608" cy="292608"/>
          </a:xfrm>
          <a:prstGeom prst="ellipse">
            <a:avLst/>
          </a:prstGeom>
          <a:solidFill>
            <a:srgbClr val="40D9FF">
              <a:alpha val="16000"/>
            </a:srgbClr>
          </a:solidFill>
          <a:ln w="12700">
            <a:solidFill>
              <a:srgbClr val="40D9FF"/>
            </a:solidFill>
            <a:prstDash val="solid"/>
          </a:ln>
        </p:spPr>
      </p:sp>
      <p:sp>
        <p:nvSpPr>
          <p:cNvPr id="45" name="Text 43"/>
          <p:cNvSpPr txBox="1"/>
          <p:nvPr/>
        </p:nvSpPr>
        <p:spPr>
          <a:xfrm>
            <a:off x="6583680" y="4837176"/>
            <a:ext cx="292608" cy="128016"/>
          </a:xfrm>
          <a:prstGeom prst="rect">
            <a:avLst/>
          </a:prstGeom>
          <a:noFill/>
          <a:ln/>
        </p:spPr>
        <p:txBody>
          <a:bodyPr wrap="square" lIns="0" tIns="0" rIns="0" bIns="0" rtlCol="0" anchor="ctr">
            <a:normAutofit/>
          </a:bodyPr>
          <a:lstStyle/>
          <a:p>
            <a:pPr algn="ctr" indent="0" marL="0">
              <a:buNone/>
            </a:pPr>
            <a:r>
              <a:rPr lang="en-US" sz="800" b="1" dirty="0">
                <a:solidFill>
                  <a:srgbClr val="40D9FF"/>
                </a:solidFill>
                <a:latin typeface="Arial" pitchFamily="34" charset="0"/>
                <a:ea typeface="Arial" pitchFamily="34" charset="-122"/>
                <a:cs typeface="Arial" pitchFamily="34" charset="-120"/>
              </a:rPr>
              <a:t>6</a:t>
            </a:r>
            <a:endParaRPr lang="en-US" sz="800" dirty="0"/>
          </a:p>
        </p:txBody>
      </p:sp>
      <p:sp>
        <p:nvSpPr>
          <p:cNvPr id="46" name="Text 44"/>
          <p:cNvSpPr txBox="1"/>
          <p:nvPr/>
        </p:nvSpPr>
        <p:spPr>
          <a:xfrm>
            <a:off x="7059168" y="4764024"/>
            <a:ext cx="3310128" cy="256032"/>
          </a:xfrm>
          <a:prstGeom prst="rect">
            <a:avLst/>
          </a:prstGeom>
          <a:noFill/>
          <a:ln/>
        </p:spPr>
        <p:txBody>
          <a:bodyPr wrap="square" lIns="0" tIns="0" rIns="0" bIns="0" rtlCol="0" anchor="ctr">
            <a:normAutofit/>
          </a:bodyPr>
          <a:lstStyle/>
          <a:p>
            <a:pPr algn="l" indent="0" marL="0">
              <a:buNone/>
            </a:pPr>
            <a:r>
              <a:rPr lang="en-US" sz="1080" dirty="0">
                <a:solidFill>
                  <a:srgbClr val="D5DEEC"/>
                </a:solidFill>
                <a:latin typeface="Arial" pitchFamily="34" charset="0"/>
                <a:ea typeface="Arial" pitchFamily="34" charset="-122"/>
                <a:cs typeface="Arial" pitchFamily="34" charset="-120"/>
              </a:rPr>
              <a:t>Return response under time budget</a:t>
            </a:r>
            <a:endParaRPr lang="en-US" sz="1080" dirty="0"/>
          </a:p>
        </p:txBody>
      </p:sp>
      <p:sp>
        <p:nvSpPr>
          <p:cNvPr id="47" name="Shape 45"/>
          <p:cNvSpPr/>
          <p:nvPr/>
        </p:nvSpPr>
        <p:spPr>
          <a:xfrm>
            <a:off x="7315200" y="5321808"/>
            <a:ext cx="2962656" cy="438912"/>
          </a:xfrm>
          <a:prstGeom prst="roundRect">
            <a:avLst>
              <a:gd name="adj" fmla="val 25000"/>
            </a:avLst>
          </a:prstGeom>
          <a:solidFill>
            <a:srgbClr val="0F1726"/>
          </a:solidFill>
          <a:ln w="12700">
            <a:solidFill>
              <a:srgbClr val="F6C453"/>
            </a:solidFill>
            <a:prstDash val="solid"/>
          </a:ln>
        </p:spPr>
      </p:sp>
      <p:sp>
        <p:nvSpPr>
          <p:cNvPr id="48" name="Text 46"/>
          <p:cNvSpPr txBox="1"/>
          <p:nvPr/>
        </p:nvSpPr>
        <p:spPr>
          <a:xfrm>
            <a:off x="7461504" y="5431536"/>
            <a:ext cx="2670048" cy="164592"/>
          </a:xfrm>
          <a:prstGeom prst="rect">
            <a:avLst/>
          </a:prstGeom>
          <a:noFill/>
          <a:ln/>
        </p:spPr>
        <p:txBody>
          <a:bodyPr wrap="square" lIns="0" tIns="0" rIns="0" bIns="0" rtlCol="0" anchor="ctr">
            <a:normAutofit/>
          </a:bodyPr>
          <a:lstStyle/>
          <a:p>
            <a:pPr algn="ctr" indent="0" marL="0">
              <a:buNone/>
            </a:pPr>
            <a:r>
              <a:rPr lang="en-US" sz="920" b="1" dirty="0">
                <a:solidFill>
                  <a:srgbClr val="F6C453"/>
                </a:solidFill>
                <a:latin typeface="Arial" pitchFamily="34" charset="0"/>
                <a:ea typeface="Arial" pitchFamily="34" charset="-122"/>
                <a:cs typeface="Arial" pitchFamily="34" charset="-120"/>
              </a:rPr>
              <a:t>Design goal: deterministic, fast, explainable, evaluator-safe.</a:t>
            </a:r>
            <a:endParaRPr lang="en-US" sz="92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FRONTEND IMPLEMENTATION</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Live dashboard for cluster health, task risk and decision explanations</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frontend makes the agent understandable: judges can see what happened, why ACT acted, and how metrics changed.</a:t>
            </a:r>
            <a:endParaRPr lang="en-US" sz="1200" dirty="0"/>
          </a:p>
        </p:txBody>
      </p:sp>
      <p:sp>
        <p:nvSpPr>
          <p:cNvPr id="5" name="Shape 3"/>
          <p:cNvSpPr/>
          <p:nvPr/>
        </p:nvSpPr>
        <p:spPr>
          <a:xfrm>
            <a:off x="566928" y="1572768"/>
            <a:ext cx="3456432" cy="4526280"/>
          </a:xfrm>
          <a:prstGeom prst="roundRect">
            <a:avLst>
              <a:gd name="adj" fmla="val 3175"/>
            </a:avLst>
          </a:prstGeom>
          <a:solidFill>
            <a:srgbClr val="101827"/>
          </a:solidFill>
          <a:ln w="12700">
            <a:solidFill>
              <a:srgbClr val="A7A1FF"/>
            </a:solidFill>
            <a:prstDash val="solid"/>
          </a:ln>
        </p:spPr>
      </p:sp>
      <p:sp>
        <p:nvSpPr>
          <p:cNvPr id="6" name="Shape 4"/>
          <p:cNvSpPr/>
          <p:nvPr/>
        </p:nvSpPr>
        <p:spPr>
          <a:xfrm>
            <a:off x="822960" y="1792224"/>
            <a:ext cx="1133856" cy="274320"/>
          </a:xfrm>
          <a:prstGeom prst="roundRect">
            <a:avLst>
              <a:gd name="adj" fmla="val 46667"/>
            </a:avLst>
          </a:prstGeom>
          <a:solidFill>
            <a:srgbClr val="A7A1FF">
              <a:alpha val="14000"/>
            </a:srgbClr>
          </a:solidFill>
          <a:ln w="11430">
            <a:solidFill>
              <a:srgbClr val="A7A1FF">
                <a:alpha val="65000"/>
              </a:srgbClr>
            </a:solidFill>
            <a:prstDash val="solid"/>
          </a:ln>
        </p:spPr>
      </p:sp>
      <p:sp>
        <p:nvSpPr>
          <p:cNvPr id="7" name="Text 5"/>
          <p:cNvSpPr txBox="1"/>
          <p:nvPr/>
        </p:nvSpPr>
        <p:spPr>
          <a:xfrm>
            <a:off x="877824" y="1833372"/>
            <a:ext cx="1024128" cy="164592"/>
          </a:xfrm>
          <a:prstGeom prst="rect">
            <a:avLst/>
          </a:prstGeom>
          <a:noFill/>
          <a:ln/>
        </p:spPr>
        <p:txBody>
          <a:bodyPr wrap="square" lIns="0" tIns="0" rIns="0" bIns="0" rtlCol="0" anchor="ctr">
            <a:normAutofit/>
          </a:bodyPr>
          <a:lstStyle/>
          <a:p>
            <a:pPr algn="ctr" indent="0" marL="0">
              <a:buNone/>
            </a:pPr>
            <a:r>
              <a:rPr lang="en-US" sz="810" b="1" dirty="0">
                <a:solidFill>
                  <a:srgbClr val="A7A1FF"/>
                </a:solidFill>
                <a:latin typeface="Arial" pitchFamily="34" charset="0"/>
                <a:ea typeface="Arial" pitchFamily="34" charset="-122"/>
                <a:cs typeface="Arial" pitchFamily="34" charset="-120"/>
              </a:rPr>
              <a:t>CLUSTER VIEW</a:t>
            </a:r>
            <a:endParaRPr lang="en-US" sz="810" dirty="0"/>
          </a:p>
        </p:txBody>
      </p:sp>
      <p:sp>
        <p:nvSpPr>
          <p:cNvPr id="8" name="Text 6"/>
          <p:cNvSpPr txBox="1"/>
          <p:nvPr/>
        </p:nvSpPr>
        <p:spPr>
          <a:xfrm>
            <a:off x="914400" y="2331720"/>
            <a:ext cx="1737360" cy="219456"/>
          </a:xfrm>
          <a:prstGeom prst="rect">
            <a:avLst/>
          </a:prstGeom>
          <a:noFill/>
          <a:ln/>
        </p:spPr>
        <p:txBody>
          <a:bodyPr wrap="square" lIns="0" tIns="0" rIns="0" bIns="0" rtlCol="0" anchor="ctr">
            <a:normAutofit/>
          </a:bodyPr>
          <a:lstStyle/>
          <a:p>
            <a:pPr algn="l" indent="0" marL="0">
              <a:buNone/>
            </a:pPr>
            <a:r>
              <a:rPr lang="en-US" sz="1250" b="1" dirty="0">
                <a:solidFill>
                  <a:srgbClr val="F6F8FC"/>
                </a:solidFill>
                <a:latin typeface="Arial" pitchFamily="34" charset="0"/>
                <a:ea typeface="Arial" pitchFamily="34" charset="-122"/>
                <a:cs typeface="Arial" pitchFamily="34" charset="-120"/>
              </a:rPr>
              <a:t>Node health matrix</a:t>
            </a:r>
            <a:endParaRPr lang="en-US" sz="1250" dirty="0"/>
          </a:p>
        </p:txBody>
      </p:sp>
      <p:sp>
        <p:nvSpPr>
          <p:cNvPr id="9" name="Text 7"/>
          <p:cNvSpPr txBox="1"/>
          <p:nvPr/>
        </p:nvSpPr>
        <p:spPr>
          <a:xfrm>
            <a:off x="914400" y="2743200"/>
            <a:ext cx="310896" cy="164592"/>
          </a:xfrm>
          <a:prstGeom prst="rect">
            <a:avLst/>
          </a:prstGeom>
          <a:noFill/>
          <a:ln/>
        </p:spPr>
        <p:txBody>
          <a:bodyPr wrap="square" lIns="0" tIns="0" rIns="0" bIns="0" rtlCol="0" anchor="ctr">
            <a:normAutofit/>
          </a:bodyPr>
          <a:lstStyle/>
          <a:p>
            <a:pPr algn="l" indent="0" marL="0">
              <a:buNone/>
            </a:pPr>
            <a:r>
              <a:rPr lang="en-US" sz="950" b="1" dirty="0">
                <a:solidFill>
                  <a:srgbClr val="F6F8FC"/>
                </a:solidFill>
                <a:latin typeface="Arial" pitchFamily="34" charset="0"/>
                <a:ea typeface="Arial" pitchFamily="34" charset="-122"/>
                <a:cs typeface="Arial" pitchFamily="34" charset="-120"/>
              </a:rPr>
              <a:t>N1</a:t>
            </a:r>
            <a:endParaRPr lang="en-US" sz="950" dirty="0"/>
          </a:p>
        </p:txBody>
      </p:sp>
      <p:sp>
        <p:nvSpPr>
          <p:cNvPr id="10" name="Shape 8"/>
          <p:cNvSpPr/>
          <p:nvPr/>
        </p:nvSpPr>
        <p:spPr>
          <a:xfrm>
            <a:off x="1371600" y="2761488"/>
            <a:ext cx="1554480" cy="137160"/>
          </a:xfrm>
          <a:prstGeom prst="rect">
            <a:avLst/>
          </a:prstGeom>
          <a:solidFill>
            <a:srgbClr val="26364A"/>
          </a:solidFill>
          <a:ln w="12700">
            <a:solidFill>
              <a:srgbClr val="26364A"/>
            </a:solidFill>
            <a:prstDash val="solid"/>
          </a:ln>
        </p:spPr>
      </p:sp>
      <p:sp>
        <p:nvSpPr>
          <p:cNvPr id="11" name="Shape 9"/>
          <p:cNvSpPr/>
          <p:nvPr/>
        </p:nvSpPr>
        <p:spPr>
          <a:xfrm>
            <a:off x="1371600" y="2761488"/>
            <a:ext cx="1336853" cy="137160"/>
          </a:xfrm>
          <a:prstGeom prst="rect">
            <a:avLst/>
          </a:prstGeom>
          <a:solidFill>
            <a:srgbClr val="3CE28F"/>
          </a:solidFill>
          <a:ln w="12700">
            <a:solidFill>
              <a:srgbClr val="3CE28F"/>
            </a:solidFill>
            <a:prstDash val="solid"/>
          </a:ln>
        </p:spPr>
      </p:sp>
      <p:sp>
        <p:nvSpPr>
          <p:cNvPr id="12" name="Text 10"/>
          <p:cNvSpPr txBox="1"/>
          <p:nvPr/>
        </p:nvSpPr>
        <p:spPr>
          <a:xfrm>
            <a:off x="3072384" y="2724912"/>
            <a:ext cx="310896" cy="164592"/>
          </a:xfrm>
          <a:prstGeom prst="rect">
            <a:avLst/>
          </a:prstGeom>
          <a:noFill/>
          <a:ln/>
        </p:spPr>
        <p:txBody>
          <a:bodyPr wrap="square" lIns="0" tIns="0" rIns="0" bIns="0" rtlCol="0" anchor="ctr">
            <a:normAutofit/>
          </a:bodyPr>
          <a:lstStyle/>
          <a:p>
            <a:pPr algn="r" indent="0" marL="0">
              <a:buNone/>
            </a:pPr>
            <a:r>
              <a:rPr lang="en-US" sz="850" b="1" dirty="0">
                <a:solidFill>
                  <a:srgbClr val="3CE28F"/>
                </a:solidFill>
                <a:latin typeface="Arial" pitchFamily="34" charset="0"/>
                <a:ea typeface="Arial" pitchFamily="34" charset="-122"/>
                <a:cs typeface="Arial" pitchFamily="34" charset="-120"/>
              </a:rPr>
              <a:t>86%</a:t>
            </a:r>
            <a:endParaRPr lang="en-US" sz="850" dirty="0"/>
          </a:p>
        </p:txBody>
      </p:sp>
      <p:sp>
        <p:nvSpPr>
          <p:cNvPr id="13" name="Text 11"/>
          <p:cNvSpPr txBox="1"/>
          <p:nvPr/>
        </p:nvSpPr>
        <p:spPr>
          <a:xfrm>
            <a:off x="914400" y="3182112"/>
            <a:ext cx="310896" cy="164592"/>
          </a:xfrm>
          <a:prstGeom prst="rect">
            <a:avLst/>
          </a:prstGeom>
          <a:noFill/>
          <a:ln/>
        </p:spPr>
        <p:txBody>
          <a:bodyPr wrap="square" lIns="0" tIns="0" rIns="0" bIns="0" rtlCol="0" anchor="ctr">
            <a:normAutofit/>
          </a:bodyPr>
          <a:lstStyle/>
          <a:p>
            <a:pPr algn="l" indent="0" marL="0">
              <a:buNone/>
            </a:pPr>
            <a:r>
              <a:rPr lang="en-US" sz="950" b="1" dirty="0">
                <a:solidFill>
                  <a:srgbClr val="F6F8FC"/>
                </a:solidFill>
                <a:latin typeface="Arial" pitchFamily="34" charset="0"/>
                <a:ea typeface="Arial" pitchFamily="34" charset="-122"/>
                <a:cs typeface="Arial" pitchFamily="34" charset="-120"/>
              </a:rPr>
              <a:t>N2</a:t>
            </a:r>
            <a:endParaRPr lang="en-US" sz="950" dirty="0"/>
          </a:p>
        </p:txBody>
      </p:sp>
      <p:sp>
        <p:nvSpPr>
          <p:cNvPr id="14" name="Shape 12"/>
          <p:cNvSpPr/>
          <p:nvPr/>
        </p:nvSpPr>
        <p:spPr>
          <a:xfrm>
            <a:off x="1371600" y="3200400"/>
            <a:ext cx="1554480" cy="137160"/>
          </a:xfrm>
          <a:prstGeom prst="rect">
            <a:avLst/>
          </a:prstGeom>
          <a:solidFill>
            <a:srgbClr val="26364A"/>
          </a:solidFill>
          <a:ln w="12700">
            <a:solidFill>
              <a:srgbClr val="26364A"/>
            </a:solidFill>
            <a:prstDash val="solid"/>
          </a:ln>
        </p:spPr>
      </p:sp>
      <p:sp>
        <p:nvSpPr>
          <p:cNvPr id="15" name="Shape 13"/>
          <p:cNvSpPr/>
          <p:nvPr/>
        </p:nvSpPr>
        <p:spPr>
          <a:xfrm>
            <a:off x="1371600" y="3200400"/>
            <a:ext cx="808330" cy="137160"/>
          </a:xfrm>
          <a:prstGeom prst="rect">
            <a:avLst/>
          </a:prstGeom>
          <a:solidFill>
            <a:srgbClr val="F6C453"/>
          </a:solidFill>
          <a:ln w="12700">
            <a:solidFill>
              <a:srgbClr val="F6C453"/>
            </a:solidFill>
            <a:prstDash val="solid"/>
          </a:ln>
        </p:spPr>
      </p:sp>
      <p:sp>
        <p:nvSpPr>
          <p:cNvPr id="16" name="Text 14"/>
          <p:cNvSpPr txBox="1"/>
          <p:nvPr/>
        </p:nvSpPr>
        <p:spPr>
          <a:xfrm>
            <a:off x="3072384" y="3163824"/>
            <a:ext cx="310896" cy="164592"/>
          </a:xfrm>
          <a:prstGeom prst="rect">
            <a:avLst/>
          </a:prstGeom>
          <a:noFill/>
          <a:ln/>
        </p:spPr>
        <p:txBody>
          <a:bodyPr wrap="square" lIns="0" tIns="0" rIns="0" bIns="0" rtlCol="0" anchor="ctr">
            <a:normAutofit/>
          </a:bodyPr>
          <a:lstStyle/>
          <a:p>
            <a:pPr algn="r" indent="0" marL="0">
              <a:buNone/>
            </a:pPr>
            <a:r>
              <a:rPr lang="en-US" sz="850" b="1" dirty="0">
                <a:solidFill>
                  <a:srgbClr val="F6C453"/>
                </a:solidFill>
                <a:latin typeface="Arial" pitchFamily="34" charset="0"/>
                <a:ea typeface="Arial" pitchFamily="34" charset="-122"/>
                <a:cs typeface="Arial" pitchFamily="34" charset="-120"/>
              </a:rPr>
              <a:t>52%</a:t>
            </a:r>
            <a:endParaRPr lang="en-US" sz="850" dirty="0"/>
          </a:p>
        </p:txBody>
      </p:sp>
      <p:sp>
        <p:nvSpPr>
          <p:cNvPr id="17" name="Text 15"/>
          <p:cNvSpPr txBox="1"/>
          <p:nvPr/>
        </p:nvSpPr>
        <p:spPr>
          <a:xfrm>
            <a:off x="914400" y="3621024"/>
            <a:ext cx="310896" cy="164592"/>
          </a:xfrm>
          <a:prstGeom prst="rect">
            <a:avLst/>
          </a:prstGeom>
          <a:noFill/>
          <a:ln/>
        </p:spPr>
        <p:txBody>
          <a:bodyPr wrap="square" lIns="0" tIns="0" rIns="0" bIns="0" rtlCol="0" anchor="ctr">
            <a:normAutofit/>
          </a:bodyPr>
          <a:lstStyle/>
          <a:p>
            <a:pPr algn="l" indent="0" marL="0">
              <a:buNone/>
            </a:pPr>
            <a:r>
              <a:rPr lang="en-US" sz="950" b="1" dirty="0">
                <a:solidFill>
                  <a:srgbClr val="F6F8FC"/>
                </a:solidFill>
                <a:latin typeface="Arial" pitchFamily="34" charset="0"/>
                <a:ea typeface="Arial" pitchFamily="34" charset="-122"/>
                <a:cs typeface="Arial" pitchFamily="34" charset="-120"/>
              </a:rPr>
              <a:t>N3</a:t>
            </a:r>
            <a:endParaRPr lang="en-US" sz="950" dirty="0"/>
          </a:p>
        </p:txBody>
      </p:sp>
      <p:sp>
        <p:nvSpPr>
          <p:cNvPr id="18" name="Shape 16"/>
          <p:cNvSpPr/>
          <p:nvPr/>
        </p:nvSpPr>
        <p:spPr>
          <a:xfrm>
            <a:off x="1371600" y="3639312"/>
            <a:ext cx="1554480" cy="137160"/>
          </a:xfrm>
          <a:prstGeom prst="rect">
            <a:avLst/>
          </a:prstGeom>
          <a:solidFill>
            <a:srgbClr val="26364A"/>
          </a:solidFill>
          <a:ln w="12700">
            <a:solidFill>
              <a:srgbClr val="26364A"/>
            </a:solidFill>
            <a:prstDash val="solid"/>
          </a:ln>
        </p:spPr>
      </p:sp>
      <p:sp>
        <p:nvSpPr>
          <p:cNvPr id="19" name="Shape 17"/>
          <p:cNvSpPr/>
          <p:nvPr/>
        </p:nvSpPr>
        <p:spPr>
          <a:xfrm>
            <a:off x="1371600" y="3639312"/>
            <a:ext cx="124358" cy="137160"/>
          </a:xfrm>
          <a:prstGeom prst="rect">
            <a:avLst/>
          </a:prstGeom>
          <a:solidFill>
            <a:srgbClr val="FF637D"/>
          </a:solidFill>
          <a:ln w="12700">
            <a:solidFill>
              <a:srgbClr val="FF637D"/>
            </a:solidFill>
            <a:prstDash val="solid"/>
          </a:ln>
        </p:spPr>
      </p:sp>
      <p:sp>
        <p:nvSpPr>
          <p:cNvPr id="20" name="Text 18"/>
          <p:cNvSpPr txBox="1"/>
          <p:nvPr/>
        </p:nvSpPr>
        <p:spPr>
          <a:xfrm>
            <a:off x="3072384" y="3602736"/>
            <a:ext cx="310896" cy="164592"/>
          </a:xfrm>
          <a:prstGeom prst="rect">
            <a:avLst/>
          </a:prstGeom>
          <a:noFill/>
          <a:ln/>
        </p:spPr>
        <p:txBody>
          <a:bodyPr wrap="square" lIns="0" tIns="0" rIns="0" bIns="0" rtlCol="0" anchor="ctr">
            <a:normAutofit/>
          </a:bodyPr>
          <a:lstStyle/>
          <a:p>
            <a:pPr algn="r" indent="0" marL="0">
              <a:buNone/>
            </a:pPr>
            <a:r>
              <a:rPr lang="en-US" sz="850" b="1" dirty="0">
                <a:solidFill>
                  <a:srgbClr val="FF637D"/>
                </a:solidFill>
                <a:latin typeface="Arial" pitchFamily="34" charset="0"/>
                <a:ea typeface="Arial" pitchFamily="34" charset="-122"/>
                <a:cs typeface="Arial" pitchFamily="34" charset="-120"/>
              </a:rPr>
              <a:t>8%</a:t>
            </a:r>
            <a:endParaRPr lang="en-US" sz="850" dirty="0"/>
          </a:p>
        </p:txBody>
      </p:sp>
      <p:sp>
        <p:nvSpPr>
          <p:cNvPr id="21" name="Text 19"/>
          <p:cNvSpPr txBox="1"/>
          <p:nvPr/>
        </p:nvSpPr>
        <p:spPr>
          <a:xfrm>
            <a:off x="914400" y="4059936"/>
            <a:ext cx="310896" cy="164592"/>
          </a:xfrm>
          <a:prstGeom prst="rect">
            <a:avLst/>
          </a:prstGeom>
          <a:noFill/>
          <a:ln/>
        </p:spPr>
        <p:txBody>
          <a:bodyPr wrap="square" lIns="0" tIns="0" rIns="0" bIns="0" rtlCol="0" anchor="ctr">
            <a:normAutofit/>
          </a:bodyPr>
          <a:lstStyle/>
          <a:p>
            <a:pPr algn="l" indent="0" marL="0">
              <a:buNone/>
            </a:pPr>
            <a:r>
              <a:rPr lang="en-US" sz="950" b="1" dirty="0">
                <a:solidFill>
                  <a:srgbClr val="F6F8FC"/>
                </a:solidFill>
                <a:latin typeface="Arial" pitchFamily="34" charset="0"/>
                <a:ea typeface="Arial" pitchFamily="34" charset="-122"/>
                <a:cs typeface="Arial" pitchFamily="34" charset="-120"/>
              </a:rPr>
              <a:t>N4</a:t>
            </a:r>
            <a:endParaRPr lang="en-US" sz="950" dirty="0"/>
          </a:p>
        </p:txBody>
      </p:sp>
      <p:sp>
        <p:nvSpPr>
          <p:cNvPr id="22" name="Shape 20"/>
          <p:cNvSpPr/>
          <p:nvPr/>
        </p:nvSpPr>
        <p:spPr>
          <a:xfrm>
            <a:off x="1371600" y="4078224"/>
            <a:ext cx="1554480" cy="137160"/>
          </a:xfrm>
          <a:prstGeom prst="rect">
            <a:avLst/>
          </a:prstGeom>
          <a:solidFill>
            <a:srgbClr val="26364A"/>
          </a:solidFill>
          <a:ln w="12700">
            <a:solidFill>
              <a:srgbClr val="26364A"/>
            </a:solidFill>
            <a:prstDash val="solid"/>
          </a:ln>
        </p:spPr>
      </p:sp>
      <p:sp>
        <p:nvSpPr>
          <p:cNvPr id="23" name="Shape 21"/>
          <p:cNvSpPr/>
          <p:nvPr/>
        </p:nvSpPr>
        <p:spPr>
          <a:xfrm>
            <a:off x="1371600" y="4078224"/>
            <a:ext cx="1119226" cy="137160"/>
          </a:xfrm>
          <a:prstGeom prst="rect">
            <a:avLst/>
          </a:prstGeom>
          <a:solidFill>
            <a:srgbClr val="3CE28F"/>
          </a:solidFill>
          <a:ln w="12700">
            <a:solidFill>
              <a:srgbClr val="3CE28F"/>
            </a:solidFill>
            <a:prstDash val="solid"/>
          </a:ln>
        </p:spPr>
      </p:sp>
      <p:sp>
        <p:nvSpPr>
          <p:cNvPr id="24" name="Text 22"/>
          <p:cNvSpPr txBox="1"/>
          <p:nvPr/>
        </p:nvSpPr>
        <p:spPr>
          <a:xfrm>
            <a:off x="3072384" y="4041648"/>
            <a:ext cx="310896" cy="164592"/>
          </a:xfrm>
          <a:prstGeom prst="rect">
            <a:avLst/>
          </a:prstGeom>
          <a:noFill/>
          <a:ln/>
        </p:spPr>
        <p:txBody>
          <a:bodyPr wrap="square" lIns="0" tIns="0" rIns="0" bIns="0" rtlCol="0" anchor="ctr">
            <a:normAutofit/>
          </a:bodyPr>
          <a:lstStyle/>
          <a:p>
            <a:pPr algn="r" indent="0" marL="0">
              <a:buNone/>
            </a:pPr>
            <a:r>
              <a:rPr lang="en-US" sz="850" b="1" dirty="0">
                <a:solidFill>
                  <a:srgbClr val="3CE28F"/>
                </a:solidFill>
                <a:latin typeface="Arial" pitchFamily="34" charset="0"/>
                <a:ea typeface="Arial" pitchFamily="34" charset="-122"/>
                <a:cs typeface="Arial" pitchFamily="34" charset="-120"/>
              </a:rPr>
              <a:t>72%</a:t>
            </a:r>
            <a:endParaRPr lang="en-US" sz="850" dirty="0"/>
          </a:p>
        </p:txBody>
      </p:sp>
      <p:sp>
        <p:nvSpPr>
          <p:cNvPr id="25" name="Text 23"/>
          <p:cNvSpPr txBox="1"/>
          <p:nvPr/>
        </p:nvSpPr>
        <p:spPr>
          <a:xfrm>
            <a:off x="914400" y="4828032"/>
            <a:ext cx="2249424" cy="402336"/>
          </a:xfrm>
          <a:prstGeom prst="rect">
            <a:avLst/>
          </a:prstGeom>
          <a:noFill/>
          <a:ln/>
        </p:spPr>
        <p:txBody>
          <a:bodyPr wrap="square" lIns="0" tIns="0" rIns="0" bIns="0" rtlCol="0" anchor="ctr">
            <a:normAutofit/>
          </a:bodyPr>
          <a:lstStyle/>
          <a:p>
            <a:pPr algn="ctr" indent="0" marL="0">
              <a:buNone/>
            </a:pPr>
            <a:r>
              <a:rPr lang="en-US" sz="1050" dirty="0">
                <a:solidFill>
                  <a:srgbClr val="D5DEEC"/>
                </a:solidFill>
                <a:latin typeface="Arial" pitchFamily="34" charset="0"/>
                <a:ea typeface="Arial" pitchFamily="34" charset="-122"/>
                <a:cs typeface="Arial" pitchFamily="34" charset="-120"/>
              </a:rPr>
              <a:t>Shows live belief, telemetry and risk level for every node.</a:t>
            </a:r>
            <a:endParaRPr lang="en-US" sz="1050" dirty="0"/>
          </a:p>
        </p:txBody>
      </p:sp>
      <p:sp>
        <p:nvSpPr>
          <p:cNvPr id="26" name="Shape 24"/>
          <p:cNvSpPr/>
          <p:nvPr/>
        </p:nvSpPr>
        <p:spPr>
          <a:xfrm>
            <a:off x="4370832" y="1572768"/>
            <a:ext cx="3456432" cy="4526280"/>
          </a:xfrm>
          <a:prstGeom prst="roundRect">
            <a:avLst>
              <a:gd name="adj" fmla="val 3175"/>
            </a:avLst>
          </a:prstGeom>
          <a:solidFill>
            <a:srgbClr val="101827"/>
          </a:solidFill>
          <a:ln w="12700">
            <a:solidFill>
              <a:srgbClr val="40D9FF"/>
            </a:solidFill>
            <a:prstDash val="solid"/>
          </a:ln>
        </p:spPr>
      </p:sp>
      <p:sp>
        <p:nvSpPr>
          <p:cNvPr id="27" name="Shape 25"/>
          <p:cNvSpPr/>
          <p:nvPr/>
        </p:nvSpPr>
        <p:spPr>
          <a:xfrm>
            <a:off x="4626864" y="1792224"/>
            <a:ext cx="914400"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28" name="Text 26"/>
          <p:cNvSpPr txBox="1"/>
          <p:nvPr/>
        </p:nvSpPr>
        <p:spPr>
          <a:xfrm>
            <a:off x="4681728" y="1833372"/>
            <a:ext cx="804672"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TASK VIEW</a:t>
            </a:r>
            <a:endParaRPr lang="en-US" sz="810" dirty="0"/>
          </a:p>
        </p:txBody>
      </p:sp>
      <p:sp>
        <p:nvSpPr>
          <p:cNvPr id="29" name="Shape 27"/>
          <p:cNvSpPr/>
          <p:nvPr/>
        </p:nvSpPr>
        <p:spPr>
          <a:xfrm>
            <a:off x="4645152" y="2450592"/>
            <a:ext cx="2514600" cy="365760"/>
          </a:xfrm>
          <a:prstGeom prst="roundRect">
            <a:avLst/>
          </a:prstGeom>
          <a:solidFill>
            <a:srgbClr val="101827"/>
          </a:solidFill>
          <a:ln w="10160">
            <a:solidFill>
              <a:srgbClr val="2A3954"/>
            </a:solidFill>
            <a:prstDash val="solid"/>
          </a:ln>
        </p:spPr>
      </p:sp>
      <p:sp>
        <p:nvSpPr>
          <p:cNvPr id="30" name="Text 28"/>
          <p:cNvSpPr txBox="1"/>
          <p:nvPr/>
        </p:nvSpPr>
        <p:spPr>
          <a:xfrm>
            <a:off x="4800600" y="2551176"/>
            <a:ext cx="365760" cy="146304"/>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T17</a:t>
            </a:r>
            <a:endParaRPr lang="en-US" sz="850" dirty="0"/>
          </a:p>
        </p:txBody>
      </p:sp>
      <p:sp>
        <p:nvSpPr>
          <p:cNvPr id="31" name="Text 29"/>
          <p:cNvSpPr txBox="1"/>
          <p:nvPr/>
        </p:nvSpPr>
        <p:spPr>
          <a:xfrm>
            <a:off x="5349240" y="2542032"/>
            <a:ext cx="749808" cy="146304"/>
          </a:xfrm>
          <a:prstGeom prst="rect">
            <a:avLst/>
          </a:prstGeom>
          <a:noFill/>
          <a:ln/>
        </p:spPr>
        <p:txBody>
          <a:bodyPr wrap="square" lIns="0" tIns="0" rIns="0" bIns="0" rtlCol="0" anchor="ctr">
            <a:normAutofit/>
          </a:bodyPr>
          <a:lstStyle/>
          <a:p>
            <a:pPr algn="l" indent="0" marL="0">
              <a:buNone/>
            </a:pPr>
            <a:r>
              <a:rPr lang="en-US" sz="850" b="1" dirty="0">
                <a:solidFill>
                  <a:srgbClr val="F6C453"/>
                </a:solidFill>
                <a:latin typeface="Arial" pitchFamily="34" charset="0"/>
                <a:ea typeface="Arial" pitchFamily="34" charset="-122"/>
                <a:cs typeface="Arial" pitchFamily="34" charset="-120"/>
              </a:rPr>
              <a:t>HOLD</a:t>
            </a:r>
            <a:endParaRPr lang="en-US" sz="850" dirty="0"/>
          </a:p>
        </p:txBody>
      </p:sp>
      <p:sp>
        <p:nvSpPr>
          <p:cNvPr id="32" name="Text 30"/>
          <p:cNvSpPr txBox="1"/>
          <p:nvPr/>
        </p:nvSpPr>
        <p:spPr>
          <a:xfrm>
            <a:off x="6263640" y="2542032"/>
            <a:ext cx="685800" cy="146304"/>
          </a:xfrm>
          <a:prstGeom prst="rect">
            <a:avLst/>
          </a:prstGeom>
          <a:noFill/>
          <a:ln/>
        </p:spPr>
        <p:txBody>
          <a:bodyPr wrap="square" lIns="0" tIns="0" rIns="0" bIns="0" rtlCol="0" anchor="ctr">
            <a:normAutofit/>
          </a:bodyPr>
          <a:lstStyle/>
          <a:p>
            <a:pPr algn="r" indent="0" marL="0">
              <a:buNone/>
            </a:pPr>
            <a:r>
              <a:rPr lang="en-US" sz="820" dirty="0">
                <a:solidFill>
                  <a:srgbClr val="91A0B8"/>
                </a:solidFill>
                <a:latin typeface="Arial" pitchFamily="34" charset="0"/>
                <a:ea typeface="Arial" pitchFamily="34" charset="-122"/>
                <a:cs typeface="Arial" pitchFamily="34" charset="-120"/>
              </a:rPr>
              <a:t>A=-0.05</a:t>
            </a:r>
            <a:endParaRPr lang="en-US" sz="820" dirty="0"/>
          </a:p>
        </p:txBody>
      </p:sp>
      <p:sp>
        <p:nvSpPr>
          <p:cNvPr id="33" name="Shape 31"/>
          <p:cNvSpPr/>
          <p:nvPr/>
        </p:nvSpPr>
        <p:spPr>
          <a:xfrm>
            <a:off x="4645152" y="3017520"/>
            <a:ext cx="2514600" cy="365760"/>
          </a:xfrm>
          <a:prstGeom prst="roundRect">
            <a:avLst/>
          </a:prstGeom>
          <a:solidFill>
            <a:srgbClr val="101827"/>
          </a:solidFill>
          <a:ln w="10160">
            <a:solidFill>
              <a:srgbClr val="2A3954"/>
            </a:solidFill>
            <a:prstDash val="solid"/>
          </a:ln>
        </p:spPr>
      </p:sp>
      <p:sp>
        <p:nvSpPr>
          <p:cNvPr id="34" name="Text 32"/>
          <p:cNvSpPr txBox="1"/>
          <p:nvPr/>
        </p:nvSpPr>
        <p:spPr>
          <a:xfrm>
            <a:off x="4800600" y="3118104"/>
            <a:ext cx="365760" cy="146304"/>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T21</a:t>
            </a:r>
            <a:endParaRPr lang="en-US" sz="850" dirty="0"/>
          </a:p>
        </p:txBody>
      </p:sp>
      <p:sp>
        <p:nvSpPr>
          <p:cNvPr id="35" name="Text 33"/>
          <p:cNvSpPr txBox="1"/>
          <p:nvPr/>
        </p:nvSpPr>
        <p:spPr>
          <a:xfrm>
            <a:off x="5349240" y="3108960"/>
            <a:ext cx="749808" cy="146304"/>
          </a:xfrm>
          <a:prstGeom prst="rect">
            <a:avLst/>
          </a:prstGeom>
          <a:noFill/>
          <a:ln/>
        </p:spPr>
        <p:txBody>
          <a:bodyPr wrap="square" lIns="0" tIns="0" rIns="0" bIns="0" rtlCol="0" anchor="ctr">
            <a:normAutofit/>
          </a:bodyPr>
          <a:lstStyle/>
          <a:p>
            <a:pPr algn="l" indent="0" marL="0">
              <a:buNone/>
            </a:pPr>
            <a:r>
              <a:rPr lang="en-US" sz="850" b="1" dirty="0">
                <a:solidFill>
                  <a:srgbClr val="3CE28F"/>
                </a:solidFill>
                <a:latin typeface="Arial" pitchFamily="34" charset="0"/>
                <a:ea typeface="Arial" pitchFamily="34" charset="-122"/>
                <a:cs typeface="Arial" pitchFamily="34" charset="-120"/>
              </a:rPr>
              <a:t>STAY</a:t>
            </a:r>
            <a:endParaRPr lang="en-US" sz="850" dirty="0"/>
          </a:p>
        </p:txBody>
      </p:sp>
      <p:sp>
        <p:nvSpPr>
          <p:cNvPr id="36" name="Text 34"/>
          <p:cNvSpPr txBox="1"/>
          <p:nvPr/>
        </p:nvSpPr>
        <p:spPr>
          <a:xfrm>
            <a:off x="6263640" y="3108960"/>
            <a:ext cx="685800" cy="146304"/>
          </a:xfrm>
          <a:prstGeom prst="rect">
            <a:avLst/>
          </a:prstGeom>
          <a:noFill/>
          <a:ln/>
        </p:spPr>
        <p:txBody>
          <a:bodyPr wrap="square" lIns="0" tIns="0" rIns="0" bIns="0" rtlCol="0" anchor="ctr">
            <a:normAutofit/>
          </a:bodyPr>
          <a:lstStyle/>
          <a:p>
            <a:pPr algn="r" indent="0" marL="0">
              <a:buNone/>
            </a:pPr>
            <a:r>
              <a:rPr lang="en-US" sz="820" dirty="0">
                <a:solidFill>
                  <a:srgbClr val="91A0B8"/>
                </a:solidFill>
                <a:latin typeface="Arial" pitchFamily="34" charset="0"/>
                <a:ea typeface="Arial" pitchFamily="34" charset="-122"/>
                <a:cs typeface="Arial" pitchFamily="34" charset="-120"/>
              </a:rPr>
              <a:t>restart loss</a:t>
            </a:r>
            <a:endParaRPr lang="en-US" sz="820" dirty="0"/>
          </a:p>
        </p:txBody>
      </p:sp>
      <p:sp>
        <p:nvSpPr>
          <p:cNvPr id="37" name="Shape 35"/>
          <p:cNvSpPr/>
          <p:nvPr/>
        </p:nvSpPr>
        <p:spPr>
          <a:xfrm>
            <a:off x="4645152" y="3584448"/>
            <a:ext cx="2514600" cy="365760"/>
          </a:xfrm>
          <a:prstGeom prst="roundRect">
            <a:avLst/>
          </a:prstGeom>
          <a:solidFill>
            <a:srgbClr val="101827"/>
          </a:solidFill>
          <a:ln w="10160">
            <a:solidFill>
              <a:srgbClr val="2A3954"/>
            </a:solidFill>
            <a:prstDash val="solid"/>
          </a:ln>
        </p:spPr>
      </p:sp>
      <p:sp>
        <p:nvSpPr>
          <p:cNvPr id="38" name="Text 36"/>
          <p:cNvSpPr txBox="1"/>
          <p:nvPr/>
        </p:nvSpPr>
        <p:spPr>
          <a:xfrm>
            <a:off x="4800600" y="3685032"/>
            <a:ext cx="365760" cy="146304"/>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T22</a:t>
            </a:r>
            <a:endParaRPr lang="en-US" sz="850" dirty="0"/>
          </a:p>
        </p:txBody>
      </p:sp>
      <p:sp>
        <p:nvSpPr>
          <p:cNvPr id="39" name="Text 37"/>
          <p:cNvSpPr txBox="1"/>
          <p:nvPr/>
        </p:nvSpPr>
        <p:spPr>
          <a:xfrm>
            <a:off x="5349240" y="3675888"/>
            <a:ext cx="749808" cy="146304"/>
          </a:xfrm>
          <a:prstGeom prst="rect">
            <a:avLst/>
          </a:prstGeom>
          <a:noFill/>
          <a:ln/>
        </p:spPr>
        <p:txBody>
          <a:bodyPr wrap="square" lIns="0" tIns="0" rIns="0" bIns="0" rtlCol="0" anchor="ctr">
            <a:normAutofit/>
          </a:bodyPr>
          <a:lstStyle/>
          <a:p>
            <a:pPr algn="l" indent="0" marL="0">
              <a:buNone/>
            </a:pPr>
            <a:r>
              <a:rPr lang="en-US" sz="850" b="1" dirty="0">
                <a:solidFill>
                  <a:srgbClr val="FF637D"/>
                </a:solidFill>
                <a:latin typeface="Arial" pitchFamily="34" charset="0"/>
                <a:ea typeface="Arial" pitchFamily="34" charset="-122"/>
                <a:cs typeface="Arial" pitchFamily="34" charset="-120"/>
              </a:rPr>
              <a:t>REROUTE</a:t>
            </a:r>
            <a:endParaRPr lang="en-US" sz="850" dirty="0"/>
          </a:p>
        </p:txBody>
      </p:sp>
      <p:sp>
        <p:nvSpPr>
          <p:cNvPr id="40" name="Text 38"/>
          <p:cNvSpPr txBox="1"/>
          <p:nvPr/>
        </p:nvSpPr>
        <p:spPr>
          <a:xfrm>
            <a:off x="6263640" y="3675888"/>
            <a:ext cx="685800" cy="146304"/>
          </a:xfrm>
          <a:prstGeom prst="rect">
            <a:avLst/>
          </a:prstGeom>
          <a:noFill/>
          <a:ln/>
        </p:spPr>
        <p:txBody>
          <a:bodyPr wrap="square" lIns="0" tIns="0" rIns="0" bIns="0" rtlCol="0" anchor="ctr">
            <a:normAutofit/>
          </a:bodyPr>
          <a:lstStyle/>
          <a:p>
            <a:pPr algn="r" indent="0" marL="0">
              <a:buNone/>
            </a:pPr>
            <a:r>
              <a:rPr lang="en-US" sz="820" dirty="0">
                <a:solidFill>
                  <a:srgbClr val="91A0B8"/>
                </a:solidFill>
                <a:latin typeface="Arial" pitchFamily="34" charset="0"/>
                <a:ea typeface="Arial" pitchFamily="34" charset="-122"/>
                <a:cs typeface="Arial" pitchFamily="34" charset="-120"/>
              </a:rPr>
              <a:t>risk high</a:t>
            </a:r>
            <a:endParaRPr lang="en-US" sz="820" dirty="0"/>
          </a:p>
        </p:txBody>
      </p:sp>
      <p:sp>
        <p:nvSpPr>
          <p:cNvPr id="41" name="Shape 39"/>
          <p:cNvSpPr/>
          <p:nvPr/>
        </p:nvSpPr>
        <p:spPr>
          <a:xfrm>
            <a:off x="4645152" y="4151376"/>
            <a:ext cx="2514600" cy="365760"/>
          </a:xfrm>
          <a:prstGeom prst="roundRect">
            <a:avLst/>
          </a:prstGeom>
          <a:solidFill>
            <a:srgbClr val="101827"/>
          </a:solidFill>
          <a:ln w="10160">
            <a:solidFill>
              <a:srgbClr val="2A3954"/>
            </a:solidFill>
            <a:prstDash val="solid"/>
          </a:ln>
        </p:spPr>
      </p:sp>
      <p:sp>
        <p:nvSpPr>
          <p:cNvPr id="42" name="Text 40"/>
          <p:cNvSpPr txBox="1"/>
          <p:nvPr/>
        </p:nvSpPr>
        <p:spPr>
          <a:xfrm>
            <a:off x="4800600" y="4251960"/>
            <a:ext cx="365760" cy="146304"/>
          </a:xfrm>
          <a:prstGeom prst="rect">
            <a:avLst/>
          </a:prstGeom>
          <a:noFill/>
          <a:ln/>
        </p:spPr>
        <p:txBody>
          <a:bodyPr wrap="square" lIns="0" tIns="0" rIns="0" bIns="0" rtlCol="0" anchor="ctr">
            <a:normAutofit/>
          </a:bodyPr>
          <a:lstStyle/>
          <a:p>
            <a:pPr algn="l" indent="0" marL="0">
              <a:buNone/>
            </a:pPr>
            <a:r>
              <a:rPr lang="en-US" sz="850" b="1" dirty="0">
                <a:solidFill>
                  <a:srgbClr val="F6F8FC"/>
                </a:solidFill>
                <a:latin typeface="Arial" pitchFamily="34" charset="0"/>
                <a:ea typeface="Arial" pitchFamily="34" charset="-122"/>
                <a:cs typeface="Arial" pitchFamily="34" charset="-120"/>
              </a:rPr>
              <a:t>T31</a:t>
            </a:r>
            <a:endParaRPr lang="en-US" sz="850" dirty="0"/>
          </a:p>
        </p:txBody>
      </p:sp>
      <p:sp>
        <p:nvSpPr>
          <p:cNvPr id="43" name="Text 41"/>
          <p:cNvSpPr txBox="1"/>
          <p:nvPr/>
        </p:nvSpPr>
        <p:spPr>
          <a:xfrm>
            <a:off x="5349240" y="4242816"/>
            <a:ext cx="749808" cy="146304"/>
          </a:xfrm>
          <a:prstGeom prst="rect">
            <a:avLst/>
          </a:prstGeom>
          <a:noFill/>
          <a:ln/>
        </p:spPr>
        <p:txBody>
          <a:bodyPr wrap="square" lIns="0" tIns="0" rIns="0" bIns="0" rtlCol="0" anchor="ctr">
            <a:normAutofit/>
          </a:bodyPr>
          <a:lstStyle/>
          <a:p>
            <a:pPr algn="l" indent="0" marL="0">
              <a:buNone/>
            </a:pPr>
            <a:r>
              <a:rPr lang="en-US" sz="850" b="1" dirty="0">
                <a:solidFill>
                  <a:srgbClr val="40D9FF"/>
                </a:solidFill>
                <a:latin typeface="Arial" pitchFamily="34" charset="0"/>
                <a:ea typeface="Arial" pitchFamily="34" charset="-122"/>
                <a:cs typeface="Arial" pitchFamily="34" charset="-120"/>
              </a:rPr>
              <a:t>COMMIT</a:t>
            </a:r>
            <a:endParaRPr lang="en-US" sz="850" dirty="0"/>
          </a:p>
        </p:txBody>
      </p:sp>
      <p:sp>
        <p:nvSpPr>
          <p:cNvPr id="44" name="Text 42"/>
          <p:cNvSpPr txBox="1"/>
          <p:nvPr/>
        </p:nvSpPr>
        <p:spPr>
          <a:xfrm>
            <a:off x="6263640" y="4242816"/>
            <a:ext cx="685800" cy="146304"/>
          </a:xfrm>
          <a:prstGeom prst="rect">
            <a:avLst/>
          </a:prstGeom>
          <a:noFill/>
          <a:ln/>
        </p:spPr>
        <p:txBody>
          <a:bodyPr wrap="square" lIns="0" tIns="0" rIns="0" bIns="0" rtlCol="0" anchor="ctr">
            <a:normAutofit/>
          </a:bodyPr>
          <a:lstStyle/>
          <a:p>
            <a:pPr algn="r" indent="0" marL="0">
              <a:buNone/>
            </a:pPr>
            <a:r>
              <a:rPr lang="en-US" sz="820" dirty="0">
                <a:solidFill>
                  <a:srgbClr val="91A0B8"/>
                </a:solidFill>
                <a:latin typeface="Arial" pitchFamily="34" charset="0"/>
                <a:ea typeface="Arial" pitchFamily="34" charset="-122"/>
                <a:cs typeface="Arial" pitchFamily="34" charset="-120"/>
              </a:rPr>
              <a:t>A=+0.12</a:t>
            </a:r>
            <a:endParaRPr lang="en-US" sz="820" dirty="0"/>
          </a:p>
        </p:txBody>
      </p:sp>
      <p:sp>
        <p:nvSpPr>
          <p:cNvPr id="45" name="Text 43"/>
          <p:cNvSpPr txBox="1"/>
          <p:nvPr/>
        </p:nvSpPr>
        <p:spPr>
          <a:xfrm>
            <a:off x="4645152" y="4828032"/>
            <a:ext cx="2267712" cy="402336"/>
          </a:xfrm>
          <a:prstGeom prst="rect">
            <a:avLst/>
          </a:prstGeom>
          <a:noFill/>
          <a:ln/>
        </p:spPr>
        <p:txBody>
          <a:bodyPr wrap="square" lIns="0" tIns="0" rIns="0" bIns="0" rtlCol="0" anchor="ctr">
            <a:normAutofit/>
          </a:bodyPr>
          <a:lstStyle/>
          <a:p>
            <a:pPr algn="ctr" indent="0" marL="0">
              <a:buNone/>
            </a:pPr>
            <a:r>
              <a:rPr lang="en-US" sz="1050" dirty="0">
                <a:solidFill>
                  <a:srgbClr val="D5DEEC"/>
                </a:solidFill>
                <a:latin typeface="Arial" pitchFamily="34" charset="0"/>
                <a:ea typeface="Arial" pitchFamily="34" charset="-122"/>
                <a:cs typeface="Arial" pitchFamily="34" charset="-120"/>
              </a:rPr>
              <a:t>Displays commit / hold / stay / reroute decisions per task.</a:t>
            </a:r>
            <a:endParaRPr lang="en-US" sz="1050" dirty="0"/>
          </a:p>
        </p:txBody>
      </p:sp>
      <p:sp>
        <p:nvSpPr>
          <p:cNvPr id="46" name="Shape 44"/>
          <p:cNvSpPr/>
          <p:nvPr/>
        </p:nvSpPr>
        <p:spPr>
          <a:xfrm>
            <a:off x="8174736" y="1572768"/>
            <a:ext cx="3456432" cy="4526280"/>
          </a:xfrm>
          <a:prstGeom prst="roundRect">
            <a:avLst>
              <a:gd name="adj" fmla="val 3175"/>
            </a:avLst>
          </a:prstGeom>
          <a:solidFill>
            <a:srgbClr val="101827"/>
          </a:solidFill>
          <a:ln w="12700">
            <a:solidFill>
              <a:srgbClr val="3CE28F"/>
            </a:solidFill>
            <a:prstDash val="solid"/>
          </a:ln>
        </p:spPr>
      </p:sp>
      <p:sp>
        <p:nvSpPr>
          <p:cNvPr id="47" name="Shape 45"/>
          <p:cNvSpPr/>
          <p:nvPr/>
        </p:nvSpPr>
        <p:spPr>
          <a:xfrm>
            <a:off x="8430768" y="1792224"/>
            <a:ext cx="1005840" cy="274320"/>
          </a:xfrm>
          <a:prstGeom prst="roundRect">
            <a:avLst>
              <a:gd name="adj" fmla="val 46667"/>
            </a:avLst>
          </a:prstGeom>
          <a:solidFill>
            <a:srgbClr val="3CE28F">
              <a:alpha val="14000"/>
            </a:srgbClr>
          </a:solidFill>
          <a:ln w="11430">
            <a:solidFill>
              <a:srgbClr val="3CE28F">
                <a:alpha val="65000"/>
              </a:srgbClr>
            </a:solidFill>
            <a:prstDash val="solid"/>
          </a:ln>
        </p:spPr>
      </p:sp>
      <p:sp>
        <p:nvSpPr>
          <p:cNvPr id="48" name="Text 46"/>
          <p:cNvSpPr txBox="1"/>
          <p:nvPr/>
        </p:nvSpPr>
        <p:spPr>
          <a:xfrm>
            <a:off x="8485632" y="1833372"/>
            <a:ext cx="896112" cy="164592"/>
          </a:xfrm>
          <a:prstGeom prst="rect">
            <a:avLst/>
          </a:prstGeom>
          <a:noFill/>
          <a:ln/>
        </p:spPr>
        <p:txBody>
          <a:bodyPr wrap="square" lIns="0" tIns="0" rIns="0" bIns="0" rtlCol="0" anchor="ctr">
            <a:normAutofit/>
          </a:bodyPr>
          <a:lstStyle/>
          <a:p>
            <a:pPr algn="ctr" indent="0" marL="0">
              <a:buNone/>
            </a:pPr>
            <a:r>
              <a:rPr lang="en-US" sz="810" b="1" dirty="0">
                <a:solidFill>
                  <a:srgbClr val="3CE28F"/>
                </a:solidFill>
                <a:latin typeface="Arial" pitchFamily="34" charset="0"/>
                <a:ea typeface="Arial" pitchFamily="34" charset="-122"/>
                <a:cs typeface="Arial" pitchFamily="34" charset="-120"/>
              </a:rPr>
              <a:t>METRICS VIEW</a:t>
            </a:r>
            <a:endParaRPr lang="en-US" sz="810" dirty="0"/>
          </a:p>
        </p:txBody>
      </p:sp>
      <p:sp>
        <p:nvSpPr>
          <p:cNvPr id="49" name="Text 47"/>
          <p:cNvSpPr txBox="1"/>
          <p:nvPr/>
        </p:nvSpPr>
        <p:spPr>
          <a:xfrm>
            <a:off x="8540496" y="2414016"/>
            <a:ext cx="914400" cy="164592"/>
          </a:xfrm>
          <a:prstGeom prst="rect">
            <a:avLst/>
          </a:prstGeom>
          <a:noFill/>
          <a:ln/>
        </p:spPr>
        <p:txBody>
          <a:bodyPr wrap="square" lIns="0" tIns="0" rIns="0" bIns="0" rtlCol="0" anchor="ctr">
            <a:normAutofit/>
          </a:bodyPr>
          <a:lstStyle/>
          <a:p>
            <a:pPr algn="l" indent="0" marL="0">
              <a:buNone/>
            </a:pPr>
            <a:r>
              <a:rPr lang="en-US" sz="900" b="1" dirty="0">
                <a:solidFill>
                  <a:srgbClr val="91A0B8"/>
                </a:solidFill>
                <a:latin typeface="Arial" pitchFamily="34" charset="0"/>
                <a:ea typeface="Arial" pitchFamily="34" charset="-122"/>
                <a:cs typeface="Arial" pitchFamily="34" charset="-120"/>
              </a:rPr>
              <a:t>Completion</a:t>
            </a:r>
            <a:endParaRPr lang="en-US" sz="900" dirty="0"/>
          </a:p>
        </p:txBody>
      </p:sp>
      <p:sp>
        <p:nvSpPr>
          <p:cNvPr id="50" name="Shape 48"/>
          <p:cNvSpPr/>
          <p:nvPr/>
        </p:nvSpPr>
        <p:spPr>
          <a:xfrm>
            <a:off x="9619488" y="2441448"/>
            <a:ext cx="1051560" cy="146304"/>
          </a:xfrm>
          <a:prstGeom prst="rect">
            <a:avLst/>
          </a:prstGeom>
          <a:solidFill>
            <a:srgbClr val="26364A"/>
          </a:solidFill>
          <a:ln w="12700">
            <a:solidFill>
              <a:srgbClr val="26364A"/>
            </a:solidFill>
            <a:prstDash val="solid"/>
          </a:ln>
        </p:spPr>
      </p:sp>
      <p:sp>
        <p:nvSpPr>
          <p:cNvPr id="51" name="Shape 49"/>
          <p:cNvSpPr/>
          <p:nvPr/>
        </p:nvSpPr>
        <p:spPr>
          <a:xfrm>
            <a:off x="9619488" y="2441448"/>
            <a:ext cx="1033272" cy="146304"/>
          </a:xfrm>
          <a:prstGeom prst="rect">
            <a:avLst/>
          </a:prstGeom>
          <a:solidFill>
            <a:srgbClr val="3CE28F"/>
          </a:solidFill>
          <a:ln w="12700">
            <a:solidFill>
              <a:srgbClr val="3CE28F"/>
            </a:solidFill>
            <a:prstDash val="solid"/>
          </a:ln>
        </p:spPr>
      </p:sp>
      <p:sp>
        <p:nvSpPr>
          <p:cNvPr id="52" name="Text 50"/>
          <p:cNvSpPr txBox="1"/>
          <p:nvPr/>
        </p:nvSpPr>
        <p:spPr>
          <a:xfrm>
            <a:off x="8540496" y="2962656"/>
            <a:ext cx="1005840" cy="164592"/>
          </a:xfrm>
          <a:prstGeom prst="rect">
            <a:avLst/>
          </a:prstGeom>
          <a:noFill/>
          <a:ln/>
        </p:spPr>
        <p:txBody>
          <a:bodyPr wrap="square" lIns="0" tIns="0" rIns="0" bIns="0" rtlCol="0" anchor="ctr">
            <a:normAutofit/>
          </a:bodyPr>
          <a:lstStyle/>
          <a:p>
            <a:pPr algn="l" indent="0" marL="0">
              <a:buNone/>
            </a:pPr>
            <a:r>
              <a:rPr lang="en-US" sz="900" b="1" dirty="0">
                <a:solidFill>
                  <a:srgbClr val="91A0B8"/>
                </a:solidFill>
                <a:latin typeface="Arial" pitchFamily="34" charset="0"/>
                <a:ea typeface="Arial" pitchFamily="34" charset="-122"/>
                <a:cs typeface="Arial" pitchFamily="34" charset="-120"/>
              </a:rPr>
              <a:t>Dead traffic</a:t>
            </a:r>
            <a:endParaRPr lang="en-US" sz="900" dirty="0"/>
          </a:p>
        </p:txBody>
      </p:sp>
      <p:sp>
        <p:nvSpPr>
          <p:cNvPr id="53" name="Shape 51"/>
          <p:cNvSpPr/>
          <p:nvPr/>
        </p:nvSpPr>
        <p:spPr>
          <a:xfrm>
            <a:off x="9619488" y="2990088"/>
            <a:ext cx="1051560" cy="146304"/>
          </a:xfrm>
          <a:prstGeom prst="rect">
            <a:avLst/>
          </a:prstGeom>
          <a:solidFill>
            <a:srgbClr val="26364A"/>
          </a:solidFill>
          <a:ln w="12700">
            <a:solidFill>
              <a:srgbClr val="26364A"/>
            </a:solidFill>
            <a:prstDash val="solid"/>
          </a:ln>
        </p:spPr>
      </p:sp>
      <p:sp>
        <p:nvSpPr>
          <p:cNvPr id="54" name="Shape 52"/>
          <p:cNvSpPr/>
          <p:nvPr/>
        </p:nvSpPr>
        <p:spPr>
          <a:xfrm>
            <a:off x="9619488" y="2990088"/>
            <a:ext cx="201168" cy="146304"/>
          </a:xfrm>
          <a:prstGeom prst="rect">
            <a:avLst/>
          </a:prstGeom>
          <a:solidFill>
            <a:srgbClr val="25D0B1"/>
          </a:solidFill>
          <a:ln w="12700">
            <a:solidFill>
              <a:srgbClr val="25D0B1"/>
            </a:solidFill>
            <a:prstDash val="solid"/>
          </a:ln>
        </p:spPr>
      </p:sp>
      <p:sp>
        <p:nvSpPr>
          <p:cNvPr id="55" name="Text 53"/>
          <p:cNvSpPr txBox="1"/>
          <p:nvPr/>
        </p:nvSpPr>
        <p:spPr>
          <a:xfrm>
            <a:off x="8540496" y="3511296"/>
            <a:ext cx="914400" cy="164592"/>
          </a:xfrm>
          <a:prstGeom prst="rect">
            <a:avLst/>
          </a:prstGeom>
          <a:noFill/>
          <a:ln/>
        </p:spPr>
        <p:txBody>
          <a:bodyPr wrap="square" lIns="0" tIns="0" rIns="0" bIns="0" rtlCol="0" anchor="ctr">
            <a:normAutofit/>
          </a:bodyPr>
          <a:lstStyle/>
          <a:p>
            <a:pPr algn="l" indent="0" marL="0">
              <a:buNone/>
            </a:pPr>
            <a:r>
              <a:rPr lang="en-US" sz="900" b="1" dirty="0">
                <a:solidFill>
                  <a:srgbClr val="91A0B8"/>
                </a:solidFill>
                <a:latin typeface="Arial" pitchFamily="34" charset="0"/>
                <a:ea typeface="Arial" pitchFamily="34" charset="-122"/>
                <a:cs typeface="Arial" pitchFamily="34" charset="-120"/>
              </a:rPr>
              <a:t>Churn</a:t>
            </a:r>
            <a:endParaRPr lang="en-US" sz="900" dirty="0"/>
          </a:p>
        </p:txBody>
      </p:sp>
      <p:sp>
        <p:nvSpPr>
          <p:cNvPr id="56" name="Shape 54"/>
          <p:cNvSpPr/>
          <p:nvPr/>
        </p:nvSpPr>
        <p:spPr>
          <a:xfrm>
            <a:off x="9619488" y="3538728"/>
            <a:ext cx="1051560" cy="146304"/>
          </a:xfrm>
          <a:prstGeom prst="rect">
            <a:avLst/>
          </a:prstGeom>
          <a:solidFill>
            <a:srgbClr val="26364A"/>
          </a:solidFill>
          <a:ln w="12700">
            <a:solidFill>
              <a:srgbClr val="26364A"/>
            </a:solidFill>
            <a:prstDash val="solid"/>
          </a:ln>
        </p:spPr>
      </p:sp>
      <p:sp>
        <p:nvSpPr>
          <p:cNvPr id="57" name="Shape 55"/>
          <p:cNvSpPr/>
          <p:nvPr/>
        </p:nvSpPr>
        <p:spPr>
          <a:xfrm>
            <a:off x="9619488" y="3538728"/>
            <a:ext cx="329184" cy="146304"/>
          </a:xfrm>
          <a:prstGeom prst="rect">
            <a:avLst/>
          </a:prstGeom>
          <a:solidFill>
            <a:srgbClr val="F6C453"/>
          </a:solidFill>
          <a:ln w="12700">
            <a:solidFill>
              <a:srgbClr val="F6C453"/>
            </a:solidFill>
            <a:prstDash val="solid"/>
          </a:ln>
        </p:spPr>
      </p:sp>
      <p:sp>
        <p:nvSpPr>
          <p:cNvPr id="58" name="Text 56"/>
          <p:cNvSpPr txBox="1"/>
          <p:nvPr/>
        </p:nvSpPr>
        <p:spPr>
          <a:xfrm>
            <a:off x="8540496" y="4828032"/>
            <a:ext cx="2157984" cy="402336"/>
          </a:xfrm>
          <a:prstGeom prst="rect">
            <a:avLst/>
          </a:prstGeom>
          <a:noFill/>
          <a:ln/>
        </p:spPr>
        <p:txBody>
          <a:bodyPr wrap="square" lIns="0" tIns="0" rIns="0" bIns="0" rtlCol="0" anchor="ctr">
            <a:normAutofit/>
          </a:bodyPr>
          <a:lstStyle/>
          <a:p>
            <a:pPr algn="ctr" indent="0" marL="0">
              <a:buNone/>
            </a:pPr>
            <a:r>
              <a:rPr lang="en-US" sz="1050" dirty="0">
                <a:solidFill>
                  <a:srgbClr val="D5DEEC"/>
                </a:solidFill>
                <a:latin typeface="Arial" pitchFamily="34" charset="0"/>
                <a:ea typeface="Arial" pitchFamily="34" charset="-122"/>
                <a:cs typeface="Arial" pitchFamily="34" charset="-120"/>
              </a:rPr>
              <a:t>Live charts compare ACT with baseline and expose failure moments.</a:t>
            </a:r>
            <a:endParaRPr lang="en-US" sz="10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DEMO WORKFLOW</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How the backend and frontend work together during assessment</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full-stack demo should show one live run and one replay/benchmark view.</a:t>
            </a:r>
            <a:endParaRPr lang="en-US" sz="1200" dirty="0"/>
          </a:p>
        </p:txBody>
      </p:sp>
      <p:sp>
        <p:nvSpPr>
          <p:cNvPr id="5" name="Shape 3"/>
          <p:cNvSpPr/>
          <p:nvPr/>
        </p:nvSpPr>
        <p:spPr>
          <a:xfrm>
            <a:off x="594360" y="1975104"/>
            <a:ext cx="1682496" cy="1828800"/>
          </a:xfrm>
          <a:prstGeom prst="roundRect">
            <a:avLst>
              <a:gd name="adj" fmla="val 6522"/>
            </a:avLst>
          </a:prstGeom>
          <a:solidFill>
            <a:srgbClr val="101827"/>
          </a:solidFill>
          <a:ln w="12700">
            <a:solidFill>
              <a:srgbClr val="40D9FF"/>
            </a:solidFill>
            <a:prstDash val="solid"/>
          </a:ln>
        </p:spPr>
      </p:sp>
      <p:sp>
        <p:nvSpPr>
          <p:cNvPr id="6" name="Text 4"/>
          <p:cNvSpPr txBox="1"/>
          <p:nvPr/>
        </p:nvSpPr>
        <p:spPr>
          <a:xfrm>
            <a:off x="704088" y="2084832"/>
            <a:ext cx="1463040" cy="219456"/>
          </a:xfrm>
          <a:prstGeom prst="rect">
            <a:avLst/>
          </a:prstGeom>
          <a:noFill/>
          <a:ln/>
        </p:spPr>
        <p:txBody>
          <a:bodyPr wrap="square" lIns="0" tIns="0" rIns="0" bIns="0" rtlCol="0" anchor="ctr">
            <a:normAutofit/>
          </a:bodyPr>
          <a:lstStyle/>
          <a:p>
            <a:pPr algn="ctr" indent="0" marL="0">
              <a:buNone/>
            </a:pPr>
            <a:r>
              <a:rPr lang="en-US" sz="1100" b="1" dirty="0">
                <a:solidFill>
                  <a:srgbClr val="40D9FF"/>
                </a:solidFill>
                <a:latin typeface="Arial" pitchFamily="34" charset="0"/>
                <a:ea typeface="Arial" pitchFamily="34" charset="-122"/>
                <a:cs typeface="Arial" pitchFamily="34" charset="-120"/>
              </a:rPr>
              <a:t>Start run</a:t>
            </a:r>
            <a:endParaRPr lang="en-US" sz="1100" dirty="0"/>
          </a:p>
        </p:txBody>
      </p:sp>
      <p:sp>
        <p:nvSpPr>
          <p:cNvPr id="7" name="Text 5"/>
          <p:cNvSpPr txBox="1"/>
          <p:nvPr/>
        </p:nvSpPr>
        <p:spPr>
          <a:xfrm>
            <a:off x="722376" y="2414016"/>
            <a:ext cx="1426464" cy="128016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frontend requests reset / new episode</a:t>
            </a:r>
            <a:endParaRPr lang="en-US" sz="910" dirty="0"/>
          </a:p>
        </p:txBody>
      </p:sp>
      <p:sp>
        <p:nvSpPr>
          <p:cNvPr id="8" name="Shape 6"/>
          <p:cNvSpPr/>
          <p:nvPr/>
        </p:nvSpPr>
        <p:spPr>
          <a:xfrm>
            <a:off x="2295144" y="2889504"/>
            <a:ext cx="512064" cy="0"/>
          </a:xfrm>
          <a:prstGeom prst="line">
            <a:avLst/>
          </a:prstGeom>
          <a:noFill/>
          <a:ln w="15240">
            <a:solidFill>
              <a:srgbClr val="2A3954"/>
            </a:solidFill>
            <a:prstDash val="solid"/>
            <a:headEnd type="none"/>
            <a:tailEnd type="triangle"/>
          </a:ln>
        </p:spPr>
      </p:sp>
      <p:sp>
        <p:nvSpPr>
          <p:cNvPr id="9" name="Shape 7"/>
          <p:cNvSpPr/>
          <p:nvPr/>
        </p:nvSpPr>
        <p:spPr>
          <a:xfrm>
            <a:off x="2898648" y="1975104"/>
            <a:ext cx="1682496" cy="1828800"/>
          </a:xfrm>
          <a:prstGeom prst="roundRect">
            <a:avLst>
              <a:gd name="adj" fmla="val 6522"/>
            </a:avLst>
          </a:prstGeom>
          <a:solidFill>
            <a:srgbClr val="101827"/>
          </a:solidFill>
          <a:ln w="12700">
            <a:solidFill>
              <a:srgbClr val="5D8CFF"/>
            </a:solidFill>
            <a:prstDash val="solid"/>
          </a:ln>
        </p:spPr>
      </p:sp>
      <p:sp>
        <p:nvSpPr>
          <p:cNvPr id="10" name="Text 8"/>
          <p:cNvSpPr txBox="1"/>
          <p:nvPr/>
        </p:nvSpPr>
        <p:spPr>
          <a:xfrm>
            <a:off x="3008376" y="2084832"/>
            <a:ext cx="1463040" cy="219456"/>
          </a:xfrm>
          <a:prstGeom prst="rect">
            <a:avLst/>
          </a:prstGeom>
          <a:noFill/>
          <a:ln/>
        </p:spPr>
        <p:txBody>
          <a:bodyPr wrap="square" lIns="0" tIns="0" rIns="0" bIns="0" rtlCol="0" anchor="ctr">
            <a:normAutofit/>
          </a:bodyPr>
          <a:lstStyle/>
          <a:p>
            <a:pPr algn="ctr" indent="0" marL="0">
              <a:buNone/>
            </a:pPr>
            <a:r>
              <a:rPr lang="en-US" sz="1100" b="1" dirty="0">
                <a:solidFill>
                  <a:srgbClr val="5D8CFF"/>
                </a:solidFill>
                <a:latin typeface="Arial" pitchFamily="34" charset="0"/>
                <a:ea typeface="Arial" pitchFamily="34" charset="-122"/>
                <a:cs typeface="Arial" pitchFamily="34" charset="-120"/>
              </a:rPr>
              <a:t>Stream state</a:t>
            </a:r>
            <a:endParaRPr lang="en-US" sz="1100" dirty="0"/>
          </a:p>
        </p:txBody>
      </p:sp>
      <p:sp>
        <p:nvSpPr>
          <p:cNvPr id="11" name="Text 9"/>
          <p:cNvSpPr txBox="1"/>
          <p:nvPr/>
        </p:nvSpPr>
        <p:spPr>
          <a:xfrm>
            <a:off x="3026664" y="2414016"/>
            <a:ext cx="1426464" cy="128016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backend receives telemetry and tasks</a:t>
            </a:r>
            <a:endParaRPr lang="en-US" sz="910" dirty="0"/>
          </a:p>
        </p:txBody>
      </p:sp>
      <p:sp>
        <p:nvSpPr>
          <p:cNvPr id="12" name="Shape 10"/>
          <p:cNvSpPr/>
          <p:nvPr/>
        </p:nvSpPr>
        <p:spPr>
          <a:xfrm>
            <a:off x="4599432" y="2889504"/>
            <a:ext cx="512064" cy="0"/>
          </a:xfrm>
          <a:prstGeom prst="line">
            <a:avLst/>
          </a:prstGeom>
          <a:noFill/>
          <a:ln w="15240">
            <a:solidFill>
              <a:srgbClr val="2A3954"/>
            </a:solidFill>
            <a:prstDash val="solid"/>
            <a:headEnd type="none"/>
            <a:tailEnd type="triangle"/>
          </a:ln>
        </p:spPr>
      </p:sp>
      <p:sp>
        <p:nvSpPr>
          <p:cNvPr id="13" name="Shape 11"/>
          <p:cNvSpPr/>
          <p:nvPr/>
        </p:nvSpPr>
        <p:spPr>
          <a:xfrm>
            <a:off x="5202936" y="1975104"/>
            <a:ext cx="1682496" cy="1828800"/>
          </a:xfrm>
          <a:prstGeom prst="roundRect">
            <a:avLst>
              <a:gd name="adj" fmla="val 6522"/>
            </a:avLst>
          </a:prstGeom>
          <a:solidFill>
            <a:srgbClr val="101827"/>
          </a:solidFill>
          <a:ln w="12700">
            <a:solidFill>
              <a:srgbClr val="3CE28F"/>
            </a:solidFill>
            <a:prstDash val="solid"/>
          </a:ln>
        </p:spPr>
      </p:sp>
      <p:sp>
        <p:nvSpPr>
          <p:cNvPr id="14" name="Text 12"/>
          <p:cNvSpPr txBox="1"/>
          <p:nvPr/>
        </p:nvSpPr>
        <p:spPr>
          <a:xfrm>
            <a:off x="5312664" y="2084832"/>
            <a:ext cx="1463040" cy="219456"/>
          </a:xfrm>
          <a:prstGeom prst="rect">
            <a:avLst/>
          </a:prstGeom>
          <a:noFill/>
          <a:ln/>
        </p:spPr>
        <p:txBody>
          <a:bodyPr wrap="square" lIns="0" tIns="0" rIns="0" bIns="0" rtlCol="0" anchor="ctr">
            <a:normAutofit/>
          </a:bodyPr>
          <a:lstStyle/>
          <a:p>
            <a:pPr algn="ctr" indent="0" marL="0">
              <a:buNone/>
            </a:pPr>
            <a:r>
              <a:rPr lang="en-US" sz="1100" b="1" dirty="0">
                <a:solidFill>
                  <a:srgbClr val="3CE28F"/>
                </a:solidFill>
                <a:latin typeface="Arial" pitchFamily="34" charset="0"/>
                <a:ea typeface="Arial" pitchFamily="34" charset="-122"/>
                <a:cs typeface="Arial" pitchFamily="34" charset="-120"/>
              </a:rPr>
              <a:t>Decide</a:t>
            </a:r>
            <a:endParaRPr lang="en-US" sz="1100" dirty="0"/>
          </a:p>
        </p:txBody>
      </p:sp>
      <p:sp>
        <p:nvSpPr>
          <p:cNvPr id="15" name="Text 13"/>
          <p:cNvSpPr txBox="1"/>
          <p:nvPr/>
        </p:nvSpPr>
        <p:spPr>
          <a:xfrm>
            <a:off x="5330952" y="2414016"/>
            <a:ext cx="1426464" cy="128016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ACT returns assign/hold/stay/reroute actions</a:t>
            </a:r>
            <a:endParaRPr lang="en-US" sz="910" dirty="0"/>
          </a:p>
        </p:txBody>
      </p:sp>
      <p:sp>
        <p:nvSpPr>
          <p:cNvPr id="16" name="Shape 14"/>
          <p:cNvSpPr/>
          <p:nvPr/>
        </p:nvSpPr>
        <p:spPr>
          <a:xfrm>
            <a:off x="6903720" y="2889504"/>
            <a:ext cx="512064" cy="0"/>
          </a:xfrm>
          <a:prstGeom prst="line">
            <a:avLst/>
          </a:prstGeom>
          <a:noFill/>
          <a:ln w="15240">
            <a:solidFill>
              <a:srgbClr val="2A3954"/>
            </a:solidFill>
            <a:prstDash val="solid"/>
            <a:headEnd type="none"/>
            <a:tailEnd type="triangle"/>
          </a:ln>
        </p:spPr>
      </p:sp>
      <p:sp>
        <p:nvSpPr>
          <p:cNvPr id="17" name="Shape 15"/>
          <p:cNvSpPr/>
          <p:nvPr/>
        </p:nvSpPr>
        <p:spPr>
          <a:xfrm>
            <a:off x="7507224" y="1975104"/>
            <a:ext cx="1682496" cy="1828800"/>
          </a:xfrm>
          <a:prstGeom prst="roundRect">
            <a:avLst>
              <a:gd name="adj" fmla="val 6522"/>
            </a:avLst>
          </a:prstGeom>
          <a:solidFill>
            <a:srgbClr val="101827"/>
          </a:solidFill>
          <a:ln w="12700">
            <a:solidFill>
              <a:srgbClr val="A7A1FF"/>
            </a:solidFill>
            <a:prstDash val="solid"/>
          </a:ln>
        </p:spPr>
      </p:sp>
      <p:sp>
        <p:nvSpPr>
          <p:cNvPr id="18" name="Text 16"/>
          <p:cNvSpPr txBox="1"/>
          <p:nvPr/>
        </p:nvSpPr>
        <p:spPr>
          <a:xfrm>
            <a:off x="7616952" y="2084832"/>
            <a:ext cx="1463040" cy="219456"/>
          </a:xfrm>
          <a:prstGeom prst="rect">
            <a:avLst/>
          </a:prstGeom>
          <a:noFill/>
          <a:ln/>
        </p:spPr>
        <p:txBody>
          <a:bodyPr wrap="square" lIns="0" tIns="0" rIns="0" bIns="0" rtlCol="0" anchor="ctr">
            <a:normAutofit/>
          </a:bodyPr>
          <a:lstStyle/>
          <a:p>
            <a:pPr algn="ctr" indent="0" marL="0">
              <a:buNone/>
            </a:pPr>
            <a:r>
              <a:rPr lang="en-US" sz="1100" b="1" dirty="0">
                <a:solidFill>
                  <a:srgbClr val="A7A1FF"/>
                </a:solidFill>
                <a:latin typeface="Arial" pitchFamily="34" charset="0"/>
                <a:ea typeface="Arial" pitchFamily="34" charset="-122"/>
                <a:cs typeface="Arial" pitchFamily="34" charset="-120"/>
              </a:rPr>
              <a:t>Visualize</a:t>
            </a:r>
            <a:endParaRPr lang="en-US" sz="1100" dirty="0"/>
          </a:p>
        </p:txBody>
      </p:sp>
      <p:sp>
        <p:nvSpPr>
          <p:cNvPr id="19" name="Text 17"/>
          <p:cNvSpPr txBox="1"/>
          <p:nvPr/>
        </p:nvSpPr>
        <p:spPr>
          <a:xfrm>
            <a:off x="7635240" y="2414016"/>
            <a:ext cx="1426464" cy="128016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frontend updates nodes, tasks and metrics</a:t>
            </a:r>
            <a:endParaRPr lang="en-US" sz="910" dirty="0"/>
          </a:p>
        </p:txBody>
      </p:sp>
      <p:sp>
        <p:nvSpPr>
          <p:cNvPr id="20" name="Shape 18"/>
          <p:cNvSpPr/>
          <p:nvPr/>
        </p:nvSpPr>
        <p:spPr>
          <a:xfrm>
            <a:off x="9208008" y="2889504"/>
            <a:ext cx="512064" cy="0"/>
          </a:xfrm>
          <a:prstGeom prst="line">
            <a:avLst/>
          </a:prstGeom>
          <a:noFill/>
          <a:ln w="15240">
            <a:solidFill>
              <a:srgbClr val="2A3954"/>
            </a:solidFill>
            <a:prstDash val="solid"/>
            <a:headEnd type="none"/>
            <a:tailEnd type="triangle"/>
          </a:ln>
        </p:spPr>
      </p:sp>
      <p:sp>
        <p:nvSpPr>
          <p:cNvPr id="21" name="Shape 19"/>
          <p:cNvSpPr/>
          <p:nvPr/>
        </p:nvSpPr>
        <p:spPr>
          <a:xfrm>
            <a:off x="9811512" y="1975104"/>
            <a:ext cx="1682496" cy="1828800"/>
          </a:xfrm>
          <a:prstGeom prst="roundRect">
            <a:avLst>
              <a:gd name="adj" fmla="val 6522"/>
            </a:avLst>
          </a:prstGeom>
          <a:solidFill>
            <a:srgbClr val="101827"/>
          </a:solidFill>
          <a:ln w="12700">
            <a:solidFill>
              <a:srgbClr val="F6C453"/>
            </a:solidFill>
            <a:prstDash val="solid"/>
          </a:ln>
        </p:spPr>
      </p:sp>
      <p:sp>
        <p:nvSpPr>
          <p:cNvPr id="22" name="Text 20"/>
          <p:cNvSpPr txBox="1"/>
          <p:nvPr/>
        </p:nvSpPr>
        <p:spPr>
          <a:xfrm>
            <a:off x="9921240" y="2084832"/>
            <a:ext cx="1463040" cy="219456"/>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Explain</a:t>
            </a:r>
            <a:endParaRPr lang="en-US" sz="1100" dirty="0"/>
          </a:p>
        </p:txBody>
      </p:sp>
      <p:sp>
        <p:nvSpPr>
          <p:cNvPr id="23" name="Text 21"/>
          <p:cNvSpPr txBox="1"/>
          <p:nvPr/>
        </p:nvSpPr>
        <p:spPr>
          <a:xfrm>
            <a:off x="9939528" y="2414016"/>
            <a:ext cx="1426464" cy="128016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selected task/node opens reason panel</a:t>
            </a:r>
            <a:endParaRPr lang="en-US" sz="910" dirty="0"/>
          </a:p>
        </p:txBody>
      </p:sp>
      <p:sp>
        <p:nvSpPr>
          <p:cNvPr id="24" name="Shape 22"/>
          <p:cNvSpPr/>
          <p:nvPr/>
        </p:nvSpPr>
        <p:spPr>
          <a:xfrm>
            <a:off x="804672" y="4681728"/>
            <a:ext cx="3337560" cy="822960"/>
          </a:xfrm>
          <a:prstGeom prst="roundRect">
            <a:avLst>
              <a:gd name="adj" fmla="val 13333"/>
            </a:avLst>
          </a:prstGeom>
          <a:solidFill>
            <a:srgbClr val="0F1726"/>
          </a:solidFill>
          <a:ln w="12700">
            <a:solidFill>
              <a:srgbClr val="3CE28F"/>
            </a:solidFill>
            <a:prstDash val="solid"/>
          </a:ln>
        </p:spPr>
      </p:sp>
      <p:sp>
        <p:nvSpPr>
          <p:cNvPr id="25" name="Text 23"/>
          <p:cNvSpPr txBox="1"/>
          <p:nvPr/>
        </p:nvSpPr>
        <p:spPr>
          <a:xfrm>
            <a:off x="1005840" y="4846320"/>
            <a:ext cx="713232" cy="182880"/>
          </a:xfrm>
          <a:prstGeom prst="rect">
            <a:avLst/>
          </a:prstGeom>
          <a:noFill/>
          <a:ln/>
        </p:spPr>
        <p:txBody>
          <a:bodyPr wrap="square" lIns="0" tIns="0" rIns="0" bIns="0" rtlCol="0" anchor="ctr">
            <a:normAutofit/>
          </a:bodyPr>
          <a:lstStyle/>
          <a:p>
            <a:pPr algn="l" indent="0" marL="0">
              <a:buNone/>
            </a:pPr>
            <a:r>
              <a:rPr lang="en-US" sz="1000" b="1" dirty="0">
                <a:solidFill>
                  <a:srgbClr val="3CE28F"/>
                </a:solidFill>
                <a:latin typeface="Arial" pitchFamily="34" charset="0"/>
                <a:ea typeface="Arial" pitchFamily="34" charset="-122"/>
                <a:cs typeface="Arial" pitchFamily="34" charset="-120"/>
              </a:rPr>
              <a:t>Live run</a:t>
            </a:r>
            <a:endParaRPr lang="en-US" sz="1000" dirty="0"/>
          </a:p>
        </p:txBody>
      </p:sp>
      <p:sp>
        <p:nvSpPr>
          <p:cNvPr id="26" name="Text 24"/>
          <p:cNvSpPr txBox="1"/>
          <p:nvPr/>
        </p:nvSpPr>
        <p:spPr>
          <a:xfrm>
            <a:off x="1005840" y="5120640"/>
            <a:ext cx="2779776" cy="201168"/>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shows unattended agent behavior under changing cluster conditions</a:t>
            </a:r>
            <a:endParaRPr lang="en-US" sz="1050" dirty="0"/>
          </a:p>
        </p:txBody>
      </p:sp>
      <p:sp>
        <p:nvSpPr>
          <p:cNvPr id="27" name="Shape 25"/>
          <p:cNvSpPr/>
          <p:nvPr/>
        </p:nvSpPr>
        <p:spPr>
          <a:xfrm>
            <a:off x="4425696" y="4681728"/>
            <a:ext cx="3337560" cy="822960"/>
          </a:xfrm>
          <a:prstGeom prst="roundRect">
            <a:avLst>
              <a:gd name="adj" fmla="val 13333"/>
            </a:avLst>
          </a:prstGeom>
          <a:solidFill>
            <a:srgbClr val="0F1726"/>
          </a:solidFill>
          <a:ln w="12700">
            <a:solidFill>
              <a:srgbClr val="40D9FF"/>
            </a:solidFill>
            <a:prstDash val="solid"/>
          </a:ln>
        </p:spPr>
      </p:sp>
      <p:sp>
        <p:nvSpPr>
          <p:cNvPr id="28" name="Text 26"/>
          <p:cNvSpPr txBox="1"/>
          <p:nvPr/>
        </p:nvSpPr>
        <p:spPr>
          <a:xfrm>
            <a:off x="4626864" y="4846320"/>
            <a:ext cx="1024128" cy="182880"/>
          </a:xfrm>
          <a:prstGeom prst="rect">
            <a:avLst/>
          </a:prstGeom>
          <a:noFill/>
          <a:ln/>
        </p:spPr>
        <p:txBody>
          <a:bodyPr wrap="square" lIns="0" tIns="0" rIns="0" bIns="0" rtlCol="0" anchor="ctr">
            <a:normAutofit/>
          </a:bodyPr>
          <a:lstStyle/>
          <a:p>
            <a:pPr algn="l" indent="0" marL="0">
              <a:buNone/>
            </a:pPr>
            <a:r>
              <a:rPr lang="en-US" sz="1000" b="1" dirty="0">
                <a:solidFill>
                  <a:srgbClr val="40D9FF"/>
                </a:solidFill>
                <a:latin typeface="Arial" pitchFamily="34" charset="0"/>
                <a:ea typeface="Arial" pitchFamily="34" charset="-122"/>
                <a:cs typeface="Arial" pitchFamily="34" charset="-120"/>
              </a:rPr>
              <a:t>Benchmark view</a:t>
            </a:r>
            <a:endParaRPr lang="en-US" sz="1000" dirty="0"/>
          </a:p>
        </p:txBody>
      </p:sp>
      <p:sp>
        <p:nvSpPr>
          <p:cNvPr id="29" name="Text 27"/>
          <p:cNvSpPr txBox="1"/>
          <p:nvPr/>
        </p:nvSpPr>
        <p:spPr>
          <a:xfrm>
            <a:off x="4626864" y="5120640"/>
            <a:ext cx="2779776" cy="201168"/>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compares ACT with baseline on completion, failures and dead traffic</a:t>
            </a:r>
            <a:endParaRPr lang="en-US" sz="1050" dirty="0"/>
          </a:p>
        </p:txBody>
      </p:sp>
      <p:sp>
        <p:nvSpPr>
          <p:cNvPr id="30" name="Shape 28"/>
          <p:cNvSpPr/>
          <p:nvPr/>
        </p:nvSpPr>
        <p:spPr>
          <a:xfrm>
            <a:off x="8046720" y="4681728"/>
            <a:ext cx="3337560" cy="822960"/>
          </a:xfrm>
          <a:prstGeom prst="roundRect">
            <a:avLst>
              <a:gd name="adj" fmla="val 13333"/>
            </a:avLst>
          </a:prstGeom>
          <a:solidFill>
            <a:srgbClr val="0F1726"/>
          </a:solidFill>
          <a:ln w="12700">
            <a:solidFill>
              <a:srgbClr val="F6C453"/>
            </a:solidFill>
            <a:prstDash val="solid"/>
          </a:ln>
        </p:spPr>
      </p:sp>
      <p:sp>
        <p:nvSpPr>
          <p:cNvPr id="31" name="Text 29"/>
          <p:cNvSpPr txBox="1"/>
          <p:nvPr/>
        </p:nvSpPr>
        <p:spPr>
          <a:xfrm>
            <a:off x="8247888" y="4846320"/>
            <a:ext cx="841248" cy="182880"/>
          </a:xfrm>
          <a:prstGeom prst="rect">
            <a:avLst/>
          </a:prstGeom>
          <a:noFill/>
          <a:ln/>
        </p:spPr>
        <p:txBody>
          <a:bodyPr wrap="square" lIns="0" tIns="0" rIns="0" bIns="0" rtlCol="0" anchor="ctr">
            <a:normAutofit/>
          </a:bodyPr>
          <a:lstStyle/>
          <a:p>
            <a:pPr algn="l" indent="0" marL="0">
              <a:buNone/>
            </a:pPr>
            <a:r>
              <a:rPr lang="en-US" sz="1000" b="1" dirty="0">
                <a:solidFill>
                  <a:srgbClr val="F6C453"/>
                </a:solidFill>
                <a:latin typeface="Arial" pitchFamily="34" charset="0"/>
                <a:ea typeface="Arial" pitchFamily="34" charset="-122"/>
                <a:cs typeface="Arial" pitchFamily="34" charset="-120"/>
              </a:rPr>
              <a:t>Explain view</a:t>
            </a:r>
            <a:endParaRPr lang="en-US" sz="1000" dirty="0"/>
          </a:p>
        </p:txBody>
      </p:sp>
      <p:sp>
        <p:nvSpPr>
          <p:cNvPr id="32" name="Text 30"/>
          <p:cNvSpPr txBox="1"/>
          <p:nvPr/>
        </p:nvSpPr>
        <p:spPr>
          <a:xfrm>
            <a:off x="8247888" y="5120640"/>
            <a:ext cx="2779776" cy="201168"/>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shows belief, Q-values, stopping advantage and restart loss</a:t>
            </a:r>
            <a:endParaRPr lang="en-US" sz="10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ACT ALGORITHM ARCHITECTURE</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Observe → infer → predict → decide → allocate → act</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exact global POMDP is capacity-coupled, so the implementation uses a receding-horizon approximation.</a:t>
            </a:r>
            <a:endParaRPr lang="en-US" sz="1200" dirty="0"/>
          </a:p>
        </p:txBody>
      </p:sp>
      <p:sp>
        <p:nvSpPr>
          <p:cNvPr id="5" name="Shape 3"/>
          <p:cNvSpPr/>
          <p:nvPr/>
        </p:nvSpPr>
        <p:spPr>
          <a:xfrm>
            <a:off x="512064" y="2011680"/>
            <a:ext cx="1481328" cy="2011680"/>
          </a:xfrm>
          <a:prstGeom prst="roundRect">
            <a:avLst>
              <a:gd name="adj" fmla="val 7407"/>
            </a:avLst>
          </a:prstGeom>
          <a:solidFill>
            <a:srgbClr val="101827"/>
          </a:solidFill>
          <a:ln w="12700">
            <a:solidFill>
              <a:srgbClr val="40D9FF"/>
            </a:solidFill>
            <a:prstDash val="solid"/>
          </a:ln>
        </p:spPr>
      </p:sp>
      <p:sp>
        <p:nvSpPr>
          <p:cNvPr id="6" name="Text 4"/>
          <p:cNvSpPr txBox="1"/>
          <p:nvPr/>
        </p:nvSpPr>
        <p:spPr>
          <a:xfrm>
            <a:off x="621792"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40D9FF"/>
                </a:solidFill>
                <a:latin typeface="Arial" pitchFamily="34" charset="0"/>
                <a:ea typeface="Arial" pitchFamily="34" charset="-122"/>
                <a:cs typeface="Arial" pitchFamily="34" charset="-120"/>
              </a:rPr>
              <a:t>OBSERVE</a:t>
            </a:r>
            <a:endParaRPr lang="en-US" sz="1100" dirty="0"/>
          </a:p>
        </p:txBody>
      </p:sp>
      <p:sp>
        <p:nvSpPr>
          <p:cNvPr id="7" name="Text 5"/>
          <p:cNvSpPr txBox="1"/>
          <p:nvPr/>
        </p:nvSpPr>
        <p:spPr>
          <a:xfrm>
            <a:off x="640080"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telemetry + task progress</a:t>
            </a:r>
            <a:endParaRPr lang="en-US" sz="910" dirty="0"/>
          </a:p>
        </p:txBody>
      </p:sp>
      <p:sp>
        <p:nvSpPr>
          <p:cNvPr id="8" name="Shape 6"/>
          <p:cNvSpPr/>
          <p:nvPr/>
        </p:nvSpPr>
        <p:spPr>
          <a:xfrm>
            <a:off x="2029968" y="3017520"/>
            <a:ext cx="338328" cy="0"/>
          </a:xfrm>
          <a:prstGeom prst="line">
            <a:avLst/>
          </a:prstGeom>
          <a:noFill/>
          <a:ln w="15240">
            <a:solidFill>
              <a:srgbClr val="2A3954"/>
            </a:solidFill>
            <a:prstDash val="solid"/>
            <a:headEnd type="none"/>
            <a:tailEnd type="triangle"/>
          </a:ln>
        </p:spPr>
      </p:sp>
      <p:sp>
        <p:nvSpPr>
          <p:cNvPr id="9" name="Shape 7"/>
          <p:cNvSpPr/>
          <p:nvPr/>
        </p:nvSpPr>
        <p:spPr>
          <a:xfrm>
            <a:off x="2414016" y="2011680"/>
            <a:ext cx="1481328" cy="2011680"/>
          </a:xfrm>
          <a:prstGeom prst="roundRect">
            <a:avLst>
              <a:gd name="adj" fmla="val 7407"/>
            </a:avLst>
          </a:prstGeom>
          <a:solidFill>
            <a:srgbClr val="101827"/>
          </a:solidFill>
          <a:ln w="12700">
            <a:solidFill>
              <a:srgbClr val="A7A1FF"/>
            </a:solidFill>
            <a:prstDash val="solid"/>
          </a:ln>
        </p:spPr>
      </p:sp>
      <p:sp>
        <p:nvSpPr>
          <p:cNvPr id="10" name="Text 8"/>
          <p:cNvSpPr txBox="1"/>
          <p:nvPr/>
        </p:nvSpPr>
        <p:spPr>
          <a:xfrm>
            <a:off x="2523744"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A7A1FF"/>
                </a:solidFill>
                <a:latin typeface="Arial" pitchFamily="34" charset="0"/>
                <a:ea typeface="Arial" pitchFamily="34" charset="-122"/>
                <a:cs typeface="Arial" pitchFamily="34" charset="-120"/>
              </a:rPr>
              <a:t>BELIEF</a:t>
            </a:r>
            <a:endParaRPr lang="en-US" sz="1100" dirty="0"/>
          </a:p>
        </p:txBody>
      </p:sp>
      <p:sp>
        <p:nvSpPr>
          <p:cNvPr id="11" name="Text 9"/>
          <p:cNvSpPr txBox="1"/>
          <p:nvPr/>
        </p:nvSpPr>
        <p:spPr>
          <a:xfrm>
            <a:off x="2542032"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Bayesian health posterior</a:t>
            </a:r>
            <a:endParaRPr lang="en-US" sz="910" dirty="0"/>
          </a:p>
        </p:txBody>
      </p:sp>
      <p:sp>
        <p:nvSpPr>
          <p:cNvPr id="12" name="Shape 10"/>
          <p:cNvSpPr/>
          <p:nvPr/>
        </p:nvSpPr>
        <p:spPr>
          <a:xfrm>
            <a:off x="3931920" y="3017520"/>
            <a:ext cx="338328" cy="0"/>
          </a:xfrm>
          <a:prstGeom prst="line">
            <a:avLst/>
          </a:prstGeom>
          <a:noFill/>
          <a:ln w="15240">
            <a:solidFill>
              <a:srgbClr val="2A3954"/>
            </a:solidFill>
            <a:prstDash val="solid"/>
            <a:headEnd type="none"/>
            <a:tailEnd type="triangle"/>
          </a:ln>
        </p:spPr>
      </p:sp>
      <p:sp>
        <p:nvSpPr>
          <p:cNvPr id="13" name="Shape 11"/>
          <p:cNvSpPr/>
          <p:nvPr/>
        </p:nvSpPr>
        <p:spPr>
          <a:xfrm>
            <a:off x="4315968" y="2011680"/>
            <a:ext cx="1481328" cy="2011680"/>
          </a:xfrm>
          <a:prstGeom prst="roundRect">
            <a:avLst>
              <a:gd name="adj" fmla="val 7407"/>
            </a:avLst>
          </a:prstGeom>
          <a:solidFill>
            <a:srgbClr val="101827"/>
          </a:solidFill>
          <a:ln w="12700">
            <a:solidFill>
              <a:srgbClr val="5D8CFF"/>
            </a:solidFill>
            <a:prstDash val="solid"/>
          </a:ln>
        </p:spPr>
      </p:sp>
      <p:sp>
        <p:nvSpPr>
          <p:cNvPr id="14" name="Text 12"/>
          <p:cNvSpPr txBox="1"/>
          <p:nvPr/>
        </p:nvSpPr>
        <p:spPr>
          <a:xfrm>
            <a:off x="4425696"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5D8CFF"/>
                </a:solidFill>
                <a:latin typeface="Arial" pitchFamily="34" charset="0"/>
                <a:ea typeface="Arial" pitchFamily="34" charset="-122"/>
                <a:cs typeface="Arial" pitchFamily="34" charset="-120"/>
              </a:rPr>
              <a:t>PREDICT</a:t>
            </a:r>
            <a:endParaRPr lang="en-US" sz="1100" dirty="0"/>
          </a:p>
        </p:txBody>
      </p:sp>
      <p:sp>
        <p:nvSpPr>
          <p:cNvPr id="15" name="Text 13"/>
          <p:cNvSpPr txBox="1"/>
          <p:nvPr/>
        </p:nvSpPr>
        <p:spPr>
          <a:xfrm>
            <a:off x="4443984"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finite-horizon Q(k,j)</a:t>
            </a:r>
            <a:endParaRPr lang="en-US" sz="910" dirty="0"/>
          </a:p>
        </p:txBody>
      </p:sp>
      <p:sp>
        <p:nvSpPr>
          <p:cNvPr id="16" name="Shape 14"/>
          <p:cNvSpPr/>
          <p:nvPr/>
        </p:nvSpPr>
        <p:spPr>
          <a:xfrm>
            <a:off x="5833872" y="3017520"/>
            <a:ext cx="338328" cy="0"/>
          </a:xfrm>
          <a:prstGeom prst="line">
            <a:avLst/>
          </a:prstGeom>
          <a:noFill/>
          <a:ln w="15240">
            <a:solidFill>
              <a:srgbClr val="2A3954"/>
            </a:solidFill>
            <a:prstDash val="solid"/>
            <a:headEnd type="none"/>
            <a:tailEnd type="triangle"/>
          </a:ln>
        </p:spPr>
      </p:sp>
      <p:sp>
        <p:nvSpPr>
          <p:cNvPr id="17" name="Shape 15"/>
          <p:cNvSpPr/>
          <p:nvPr/>
        </p:nvSpPr>
        <p:spPr>
          <a:xfrm>
            <a:off x="6217920" y="2011680"/>
            <a:ext cx="1481328" cy="2011680"/>
          </a:xfrm>
          <a:prstGeom prst="roundRect">
            <a:avLst>
              <a:gd name="adj" fmla="val 7407"/>
            </a:avLst>
          </a:prstGeom>
          <a:solidFill>
            <a:srgbClr val="101827"/>
          </a:solidFill>
          <a:ln w="12700">
            <a:solidFill>
              <a:srgbClr val="25D0B1"/>
            </a:solidFill>
            <a:prstDash val="solid"/>
          </a:ln>
        </p:spPr>
      </p:sp>
      <p:sp>
        <p:nvSpPr>
          <p:cNvPr id="18" name="Text 16"/>
          <p:cNvSpPr txBox="1"/>
          <p:nvPr/>
        </p:nvSpPr>
        <p:spPr>
          <a:xfrm>
            <a:off x="6327648"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25D0B1"/>
                </a:solidFill>
                <a:latin typeface="Arial" pitchFamily="34" charset="0"/>
                <a:ea typeface="Arial" pitchFamily="34" charset="-122"/>
                <a:cs typeface="Arial" pitchFamily="34" charset="-120"/>
              </a:rPr>
              <a:t>DECIDE</a:t>
            </a:r>
            <a:endParaRPr lang="en-US" sz="1100" dirty="0"/>
          </a:p>
        </p:txBody>
      </p:sp>
      <p:sp>
        <p:nvSpPr>
          <p:cNvPr id="19" name="Text 17"/>
          <p:cNvSpPr txBox="1"/>
          <p:nvPr/>
        </p:nvSpPr>
        <p:spPr>
          <a:xfrm>
            <a:off x="6345936"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commit / hold / stay / reroute</a:t>
            </a:r>
            <a:endParaRPr lang="en-US" sz="910" dirty="0"/>
          </a:p>
        </p:txBody>
      </p:sp>
      <p:sp>
        <p:nvSpPr>
          <p:cNvPr id="20" name="Shape 18"/>
          <p:cNvSpPr/>
          <p:nvPr/>
        </p:nvSpPr>
        <p:spPr>
          <a:xfrm>
            <a:off x="7735824" y="3017520"/>
            <a:ext cx="338328" cy="0"/>
          </a:xfrm>
          <a:prstGeom prst="line">
            <a:avLst/>
          </a:prstGeom>
          <a:noFill/>
          <a:ln w="15240">
            <a:solidFill>
              <a:srgbClr val="2A3954"/>
            </a:solidFill>
            <a:prstDash val="solid"/>
            <a:headEnd type="none"/>
            <a:tailEnd type="triangle"/>
          </a:ln>
        </p:spPr>
      </p:sp>
      <p:sp>
        <p:nvSpPr>
          <p:cNvPr id="21" name="Shape 19"/>
          <p:cNvSpPr/>
          <p:nvPr/>
        </p:nvSpPr>
        <p:spPr>
          <a:xfrm>
            <a:off x="8119872" y="2011680"/>
            <a:ext cx="1481328" cy="2011680"/>
          </a:xfrm>
          <a:prstGeom prst="roundRect">
            <a:avLst>
              <a:gd name="adj" fmla="val 7407"/>
            </a:avLst>
          </a:prstGeom>
          <a:solidFill>
            <a:srgbClr val="101827"/>
          </a:solidFill>
          <a:ln w="12700">
            <a:solidFill>
              <a:srgbClr val="F6C453"/>
            </a:solidFill>
            <a:prstDash val="solid"/>
          </a:ln>
        </p:spPr>
      </p:sp>
      <p:sp>
        <p:nvSpPr>
          <p:cNvPr id="22" name="Text 20"/>
          <p:cNvSpPr txBox="1"/>
          <p:nvPr/>
        </p:nvSpPr>
        <p:spPr>
          <a:xfrm>
            <a:off x="8229600"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ALLOCATE</a:t>
            </a:r>
            <a:endParaRPr lang="en-US" sz="1100" dirty="0"/>
          </a:p>
        </p:txBody>
      </p:sp>
      <p:sp>
        <p:nvSpPr>
          <p:cNvPr id="23" name="Text 21"/>
          <p:cNvSpPr txBox="1"/>
          <p:nvPr/>
        </p:nvSpPr>
        <p:spPr>
          <a:xfrm>
            <a:off x="8247888"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capacity-aware assignment</a:t>
            </a:r>
            <a:endParaRPr lang="en-US" sz="910" dirty="0"/>
          </a:p>
        </p:txBody>
      </p:sp>
      <p:sp>
        <p:nvSpPr>
          <p:cNvPr id="24" name="Shape 22"/>
          <p:cNvSpPr/>
          <p:nvPr/>
        </p:nvSpPr>
        <p:spPr>
          <a:xfrm>
            <a:off x="9637776" y="3017520"/>
            <a:ext cx="338328" cy="0"/>
          </a:xfrm>
          <a:prstGeom prst="line">
            <a:avLst/>
          </a:prstGeom>
          <a:noFill/>
          <a:ln w="15240">
            <a:solidFill>
              <a:srgbClr val="2A3954"/>
            </a:solidFill>
            <a:prstDash val="solid"/>
            <a:headEnd type="none"/>
            <a:tailEnd type="triangle"/>
          </a:ln>
        </p:spPr>
      </p:sp>
      <p:sp>
        <p:nvSpPr>
          <p:cNvPr id="25" name="Shape 23"/>
          <p:cNvSpPr/>
          <p:nvPr/>
        </p:nvSpPr>
        <p:spPr>
          <a:xfrm>
            <a:off x="10021824" y="2011680"/>
            <a:ext cx="1481328" cy="2011680"/>
          </a:xfrm>
          <a:prstGeom prst="roundRect">
            <a:avLst>
              <a:gd name="adj" fmla="val 7407"/>
            </a:avLst>
          </a:prstGeom>
          <a:solidFill>
            <a:srgbClr val="101827"/>
          </a:solidFill>
          <a:ln w="12700">
            <a:solidFill>
              <a:srgbClr val="3CE28F"/>
            </a:solidFill>
            <a:prstDash val="solid"/>
          </a:ln>
        </p:spPr>
      </p:sp>
      <p:sp>
        <p:nvSpPr>
          <p:cNvPr id="26" name="Text 24"/>
          <p:cNvSpPr txBox="1"/>
          <p:nvPr/>
        </p:nvSpPr>
        <p:spPr>
          <a:xfrm>
            <a:off x="10131552" y="2121408"/>
            <a:ext cx="1261872" cy="219456"/>
          </a:xfrm>
          <a:prstGeom prst="rect">
            <a:avLst/>
          </a:prstGeom>
          <a:noFill/>
          <a:ln/>
        </p:spPr>
        <p:txBody>
          <a:bodyPr wrap="square" lIns="0" tIns="0" rIns="0" bIns="0" rtlCol="0" anchor="ctr">
            <a:normAutofit/>
          </a:bodyPr>
          <a:lstStyle/>
          <a:p>
            <a:pPr algn="ctr" indent="0" marL="0">
              <a:buNone/>
            </a:pPr>
            <a:r>
              <a:rPr lang="en-US" sz="1100" b="1" dirty="0">
                <a:solidFill>
                  <a:srgbClr val="3CE28F"/>
                </a:solidFill>
                <a:latin typeface="Arial" pitchFamily="34" charset="0"/>
                <a:ea typeface="Arial" pitchFamily="34" charset="-122"/>
                <a:cs typeface="Arial" pitchFamily="34" charset="-120"/>
              </a:rPr>
              <a:t>ACT</a:t>
            </a:r>
            <a:endParaRPr lang="en-US" sz="1100" dirty="0"/>
          </a:p>
        </p:txBody>
      </p:sp>
      <p:sp>
        <p:nvSpPr>
          <p:cNvPr id="27" name="Text 25"/>
          <p:cNvSpPr txBox="1"/>
          <p:nvPr/>
        </p:nvSpPr>
        <p:spPr>
          <a:xfrm>
            <a:off x="10149840" y="2450592"/>
            <a:ext cx="1225296" cy="1463040"/>
          </a:xfrm>
          <a:prstGeom prst="rect">
            <a:avLst/>
          </a:prstGeom>
          <a:noFill/>
          <a:ln/>
        </p:spPr>
        <p:txBody>
          <a:bodyPr wrap="square" lIns="0" tIns="0" rIns="0" bIns="0" rtlCol="0" anchor="t">
            <a:normAutofit/>
          </a:bodyPr>
          <a:lstStyle/>
          <a:p>
            <a:pPr algn="ctr" indent="0" marL="0">
              <a:buNone/>
            </a:pPr>
            <a:r>
              <a:rPr lang="en-US" sz="910" dirty="0">
                <a:solidFill>
                  <a:srgbClr val="D5DEEC"/>
                </a:solidFill>
                <a:latin typeface="Arial" pitchFamily="34" charset="0"/>
                <a:ea typeface="Arial" pitchFamily="34" charset="-122"/>
                <a:cs typeface="Arial" pitchFamily="34" charset="-120"/>
              </a:rPr>
              <a:t>assign, reroute or keep</a:t>
            </a:r>
            <a:endParaRPr lang="en-US" sz="910" dirty="0"/>
          </a:p>
        </p:txBody>
      </p:sp>
      <p:sp>
        <p:nvSpPr>
          <p:cNvPr id="28" name="Shape 26"/>
          <p:cNvSpPr/>
          <p:nvPr/>
        </p:nvSpPr>
        <p:spPr>
          <a:xfrm>
            <a:off x="10716768" y="4261104"/>
            <a:ext cx="0" cy="502920"/>
          </a:xfrm>
          <a:prstGeom prst="line">
            <a:avLst/>
          </a:prstGeom>
          <a:noFill/>
          <a:ln w="12700">
            <a:solidFill>
              <a:srgbClr val="2A3954"/>
            </a:solidFill>
            <a:prstDash val="solid"/>
          </a:ln>
        </p:spPr>
      </p:sp>
      <p:sp>
        <p:nvSpPr>
          <p:cNvPr id="29" name="Shape 27"/>
          <p:cNvSpPr/>
          <p:nvPr/>
        </p:nvSpPr>
        <p:spPr>
          <a:xfrm>
            <a:off x="10716768" y="4764024"/>
            <a:ext cx="-9464040" cy="0"/>
          </a:xfrm>
          <a:prstGeom prst="line">
            <a:avLst/>
          </a:prstGeom>
          <a:noFill/>
          <a:ln w="12700">
            <a:solidFill>
              <a:srgbClr val="2A3954"/>
            </a:solidFill>
            <a:prstDash val="solid"/>
            <a:tailEnd type="triangle"/>
          </a:ln>
        </p:spPr>
      </p:sp>
      <p:sp>
        <p:nvSpPr>
          <p:cNvPr id="30" name="Text 28"/>
          <p:cNvSpPr txBox="1"/>
          <p:nvPr/>
        </p:nvSpPr>
        <p:spPr>
          <a:xfrm>
            <a:off x="3794760" y="4608576"/>
            <a:ext cx="4480560" cy="182880"/>
          </a:xfrm>
          <a:prstGeom prst="rect">
            <a:avLst/>
          </a:prstGeom>
          <a:noFill/>
          <a:ln/>
        </p:spPr>
        <p:txBody>
          <a:bodyPr wrap="square" lIns="0" tIns="0" rIns="0" bIns="0" rtlCol="0" anchor="ctr">
            <a:normAutofit/>
          </a:bodyPr>
          <a:lstStyle/>
          <a:p>
            <a:pPr algn="ctr" indent="0" marL="0">
              <a:buNone/>
            </a:pPr>
            <a:r>
              <a:rPr lang="en-US" sz="950" dirty="0">
                <a:solidFill>
                  <a:srgbClr val="91A0B8"/>
                </a:solidFill>
                <a:latin typeface="Arial" pitchFamily="34" charset="0"/>
                <a:ea typeface="Arial" pitchFamily="34" charset="-122"/>
                <a:cs typeface="Arial" pitchFamily="34" charset="-120"/>
              </a:rPr>
              <a:t>new telemetry + task outcomes update the next timestep</a:t>
            </a:r>
            <a:endParaRPr lang="en-US" sz="950" dirty="0"/>
          </a:p>
        </p:txBody>
      </p:sp>
      <p:sp>
        <p:nvSpPr>
          <p:cNvPr id="31" name="Shape 29"/>
          <p:cNvSpPr/>
          <p:nvPr/>
        </p:nvSpPr>
        <p:spPr>
          <a:xfrm>
            <a:off x="914400" y="5376672"/>
            <a:ext cx="10332720" cy="621792"/>
          </a:xfrm>
          <a:prstGeom prst="roundRect">
            <a:avLst>
              <a:gd name="adj" fmla="val 17647"/>
            </a:avLst>
          </a:prstGeom>
          <a:solidFill>
            <a:srgbClr val="0F1726"/>
          </a:solidFill>
          <a:ln w="12700">
            <a:solidFill>
              <a:srgbClr val="2A3954"/>
            </a:solidFill>
            <a:prstDash val="solid"/>
          </a:ln>
        </p:spPr>
      </p:sp>
      <p:sp>
        <p:nvSpPr>
          <p:cNvPr id="32" name="Text 30"/>
          <p:cNvSpPr txBox="1"/>
          <p:nvPr/>
        </p:nvSpPr>
        <p:spPr>
          <a:xfrm>
            <a:off x="1115568" y="5541264"/>
            <a:ext cx="1078992" cy="201168"/>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Design principle</a:t>
            </a:r>
            <a:endParaRPr lang="en-US" sz="900" dirty="0"/>
          </a:p>
        </p:txBody>
      </p:sp>
      <p:sp>
        <p:nvSpPr>
          <p:cNvPr id="33" name="Text 31"/>
          <p:cNvSpPr txBox="1"/>
          <p:nvPr/>
        </p:nvSpPr>
        <p:spPr>
          <a:xfrm>
            <a:off x="2267712" y="5477256"/>
            <a:ext cx="8732520" cy="274320"/>
          </a:xfrm>
          <a:prstGeom prst="rect">
            <a:avLst/>
          </a:prstGeom>
          <a:noFill/>
          <a:ln/>
        </p:spPr>
        <p:txBody>
          <a:bodyPr wrap="square" lIns="0" tIns="0" rIns="0" bIns="0" rtlCol="0" anchor="ctr">
            <a:normAutofit/>
          </a:bodyPr>
          <a:lstStyle/>
          <a:p>
            <a:pPr algn="l" indent="0" marL="0">
              <a:buNone/>
            </a:pPr>
            <a:r>
              <a:rPr lang="en-US" sz="1220" b="1" dirty="0">
                <a:solidFill>
                  <a:srgbClr val="F6F8FC"/>
                </a:solidFill>
                <a:latin typeface="Arial" pitchFamily="34" charset="0"/>
                <a:ea typeface="Arial" pitchFamily="34" charset="-122"/>
                <a:cs typeface="Arial" pitchFamily="34" charset="-120"/>
              </a:rPr>
              <a:t>Optimal stopping is the decision principle; capacity assignment makes the approximation feasible in real time.</a:t>
            </a:r>
            <a:endParaRPr lang="en-US" sz="122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ALGORITHM COMPONENT 1</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Bayesian hidden-health inference + progress-stall evidence</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Belief is more robust than a hard threshold because uncertainty is preserved across timesteps.</a:t>
            </a:r>
            <a:endParaRPr lang="en-US" sz="1200" dirty="0"/>
          </a:p>
        </p:txBody>
      </p:sp>
      <p:sp>
        <p:nvSpPr>
          <p:cNvPr id="5" name="Shape 3"/>
          <p:cNvSpPr/>
          <p:nvPr/>
        </p:nvSpPr>
        <p:spPr>
          <a:xfrm>
            <a:off x="566928" y="1609344"/>
            <a:ext cx="5715000" cy="4526280"/>
          </a:xfrm>
          <a:prstGeom prst="roundRect">
            <a:avLst>
              <a:gd name="adj" fmla="val 2424"/>
            </a:avLst>
          </a:prstGeom>
          <a:solidFill>
            <a:srgbClr val="101827"/>
          </a:solidFill>
          <a:ln w="12700">
            <a:solidFill>
              <a:srgbClr val="A7A1FF"/>
            </a:solidFill>
            <a:prstDash val="solid"/>
          </a:ln>
        </p:spPr>
      </p:sp>
      <p:sp>
        <p:nvSpPr>
          <p:cNvPr id="6" name="Shape 4"/>
          <p:cNvSpPr/>
          <p:nvPr/>
        </p:nvSpPr>
        <p:spPr>
          <a:xfrm>
            <a:off x="822960" y="1828800"/>
            <a:ext cx="1243584" cy="274320"/>
          </a:xfrm>
          <a:prstGeom prst="roundRect">
            <a:avLst>
              <a:gd name="adj" fmla="val 46667"/>
            </a:avLst>
          </a:prstGeom>
          <a:solidFill>
            <a:srgbClr val="A7A1FF">
              <a:alpha val="14000"/>
            </a:srgbClr>
          </a:solidFill>
          <a:ln w="11430">
            <a:solidFill>
              <a:srgbClr val="A7A1FF">
                <a:alpha val="65000"/>
              </a:srgbClr>
            </a:solidFill>
            <a:prstDash val="solid"/>
          </a:ln>
        </p:spPr>
      </p:sp>
      <p:sp>
        <p:nvSpPr>
          <p:cNvPr id="7" name="Text 5"/>
          <p:cNvSpPr txBox="1"/>
          <p:nvPr/>
        </p:nvSpPr>
        <p:spPr>
          <a:xfrm>
            <a:off x="877824" y="1869948"/>
            <a:ext cx="1133856" cy="164592"/>
          </a:xfrm>
          <a:prstGeom prst="rect">
            <a:avLst/>
          </a:prstGeom>
          <a:noFill/>
          <a:ln/>
        </p:spPr>
        <p:txBody>
          <a:bodyPr wrap="square" lIns="0" tIns="0" rIns="0" bIns="0" rtlCol="0" anchor="ctr">
            <a:normAutofit/>
          </a:bodyPr>
          <a:lstStyle/>
          <a:p>
            <a:pPr algn="ctr" indent="0" marL="0">
              <a:buNone/>
            </a:pPr>
            <a:r>
              <a:rPr lang="en-US" sz="810" b="1" dirty="0">
                <a:solidFill>
                  <a:srgbClr val="A7A1FF"/>
                </a:solidFill>
                <a:latin typeface="Arial" pitchFamily="34" charset="0"/>
                <a:ea typeface="Arial" pitchFamily="34" charset="-122"/>
                <a:cs typeface="Arial" pitchFamily="34" charset="-120"/>
              </a:rPr>
              <a:t>BELIEF UPDATE</a:t>
            </a:r>
            <a:endParaRPr lang="en-US" sz="810" dirty="0"/>
          </a:p>
        </p:txBody>
      </p:sp>
      <p:sp>
        <p:nvSpPr>
          <p:cNvPr id="8" name="Text 6"/>
          <p:cNvSpPr txBox="1"/>
          <p:nvPr/>
        </p:nvSpPr>
        <p:spPr>
          <a:xfrm>
            <a:off x="841248" y="2286000"/>
            <a:ext cx="932688" cy="201168"/>
          </a:xfrm>
          <a:prstGeom prst="rect">
            <a:avLst/>
          </a:prstGeom>
          <a:noFill/>
          <a:ln/>
        </p:spPr>
        <p:txBody>
          <a:bodyPr wrap="square" lIns="0" tIns="0" rIns="0" bIns="0" rtlCol="0" anchor="ctr">
            <a:normAutofit/>
          </a:bodyPr>
          <a:lstStyle/>
          <a:p>
            <a:pPr algn="l" indent="0" marL="0">
              <a:buNone/>
            </a:pPr>
            <a:r>
              <a:rPr lang="en-US" sz="1000" b="1" dirty="0">
                <a:solidFill>
                  <a:srgbClr val="91A0B8"/>
                </a:solidFill>
                <a:latin typeface="Arial" pitchFamily="34" charset="0"/>
                <a:ea typeface="Arial" pitchFamily="34" charset="-122"/>
                <a:cs typeface="Arial" pitchFamily="34" charset="-120"/>
              </a:rPr>
              <a:t>Prediction</a:t>
            </a:r>
            <a:endParaRPr lang="en-US" sz="1000" dirty="0"/>
          </a:p>
        </p:txBody>
      </p:sp>
      <p:sp>
        <p:nvSpPr>
          <p:cNvPr id="9" name="Text 7"/>
          <p:cNvSpPr txBox="1"/>
          <p:nvPr/>
        </p:nvSpPr>
        <p:spPr>
          <a:xfrm>
            <a:off x="1938528" y="2212848"/>
            <a:ext cx="3621024" cy="365760"/>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b̄ⱼ(t) = Pᵀ bⱼ(t−1)</a:t>
            </a:r>
            <a:endParaRPr lang="en-US" sz="2000" dirty="0"/>
          </a:p>
        </p:txBody>
      </p:sp>
      <p:sp>
        <p:nvSpPr>
          <p:cNvPr id="10" name="Text 8"/>
          <p:cNvSpPr txBox="1"/>
          <p:nvPr/>
        </p:nvSpPr>
        <p:spPr>
          <a:xfrm>
            <a:off x="841248" y="2907792"/>
            <a:ext cx="1353312" cy="201168"/>
          </a:xfrm>
          <a:prstGeom prst="rect">
            <a:avLst/>
          </a:prstGeom>
          <a:noFill/>
          <a:ln/>
        </p:spPr>
        <p:txBody>
          <a:bodyPr wrap="square" lIns="0" tIns="0" rIns="0" bIns="0" rtlCol="0" anchor="ctr">
            <a:normAutofit/>
          </a:bodyPr>
          <a:lstStyle/>
          <a:p>
            <a:pPr algn="l" indent="0" marL="0">
              <a:buNone/>
            </a:pPr>
            <a:r>
              <a:rPr lang="en-US" sz="1000" b="1" dirty="0">
                <a:solidFill>
                  <a:srgbClr val="91A0B8"/>
                </a:solidFill>
                <a:latin typeface="Arial" pitchFamily="34" charset="0"/>
                <a:ea typeface="Arial" pitchFamily="34" charset="-122"/>
                <a:cs typeface="Arial" pitchFamily="34" charset="-120"/>
              </a:rPr>
              <a:t>Observation fusion</a:t>
            </a:r>
            <a:endParaRPr lang="en-US" sz="1000" dirty="0"/>
          </a:p>
        </p:txBody>
      </p:sp>
      <p:sp>
        <p:nvSpPr>
          <p:cNvPr id="11" name="Text 9"/>
          <p:cNvSpPr txBox="1"/>
          <p:nvPr/>
        </p:nvSpPr>
        <p:spPr>
          <a:xfrm>
            <a:off x="950976" y="3246120"/>
            <a:ext cx="4882896" cy="402336"/>
          </a:xfrm>
          <a:prstGeom prst="rect">
            <a:avLst/>
          </a:prstGeom>
          <a:noFill/>
          <a:ln/>
        </p:spPr>
        <p:txBody>
          <a:bodyPr wrap="square" lIns="0" tIns="0" rIns="0" bIns="0" rtlCol="0" anchor="ctr">
            <a:normAutofit/>
          </a:bodyPr>
          <a:lstStyle/>
          <a:p>
            <a:pPr algn="ctr" indent="0" marL="0">
              <a:buNone/>
            </a:pPr>
            <a:r>
              <a:rPr lang="en-US" sz="1450" b="1" dirty="0">
                <a:solidFill>
                  <a:srgbClr val="F6F8FC"/>
                </a:solidFill>
                <a:latin typeface="Arial" pitchFamily="34" charset="0"/>
                <a:ea typeface="Arial" pitchFamily="34" charset="-122"/>
                <a:cs typeface="Arial" pitchFamily="34" charset="-120"/>
              </a:rPr>
              <a:t>bⱼ(t)(s) ∝ b̄ⱼ(t)(s) × L_hb × L_lat × L_err × L_prog</a:t>
            </a:r>
            <a:endParaRPr lang="en-US" sz="1450" dirty="0"/>
          </a:p>
        </p:txBody>
      </p:sp>
      <p:sp>
        <p:nvSpPr>
          <p:cNvPr id="12" name="Text 10"/>
          <p:cNvSpPr txBox="1"/>
          <p:nvPr/>
        </p:nvSpPr>
        <p:spPr>
          <a:xfrm>
            <a:off x="978408" y="4041648"/>
            <a:ext cx="4754880" cy="530352"/>
          </a:xfrm>
          <a:prstGeom prst="rect">
            <a:avLst/>
          </a:prstGeom>
          <a:noFill/>
          <a:ln/>
        </p:spPr>
        <p:txBody>
          <a:bodyPr wrap="square" lIns="0" tIns="0" rIns="0" bIns="0" rtlCol="0" anchor="ctr">
            <a:normAutofit/>
          </a:bodyPr>
          <a:lstStyle/>
          <a:p>
            <a:pPr algn="ctr" indent="0" marL="0">
              <a:buNone/>
            </a:pPr>
            <a:r>
              <a:rPr lang="en-US" sz="1150" dirty="0">
                <a:solidFill>
                  <a:srgbClr val="D5DEEC"/>
                </a:solidFill>
                <a:latin typeface="Arial" pitchFamily="34" charset="0"/>
                <a:ea typeface="Arial" pitchFamily="34" charset="-122"/>
                <a:cs typeface="Arial" pitchFamily="34" charset="-120"/>
              </a:rPr>
              <a:t>The transition matrix models persistence and recovery: nodes can fail silently, degrade, or come back.</a:t>
            </a:r>
            <a:endParaRPr lang="en-US" sz="1150" dirty="0"/>
          </a:p>
        </p:txBody>
      </p:sp>
      <p:sp>
        <p:nvSpPr>
          <p:cNvPr id="13" name="Shape 11"/>
          <p:cNvSpPr/>
          <p:nvPr/>
        </p:nvSpPr>
        <p:spPr>
          <a:xfrm>
            <a:off x="1444752" y="4882896"/>
            <a:ext cx="3931920" cy="438912"/>
          </a:xfrm>
          <a:prstGeom prst="roundRect">
            <a:avLst/>
          </a:prstGeom>
          <a:solidFill>
            <a:srgbClr val="A7A1FF">
              <a:alpha val="12000"/>
            </a:srgbClr>
          </a:solidFill>
          <a:ln w="12700">
            <a:solidFill>
              <a:srgbClr val="A7A1FF"/>
            </a:solidFill>
            <a:prstDash val="solid"/>
          </a:ln>
        </p:spPr>
      </p:sp>
      <p:sp>
        <p:nvSpPr>
          <p:cNvPr id="14" name="Text 12"/>
          <p:cNvSpPr txBox="1"/>
          <p:nvPr/>
        </p:nvSpPr>
        <p:spPr>
          <a:xfrm>
            <a:off x="1444752" y="5001768"/>
            <a:ext cx="3931920" cy="182880"/>
          </a:xfrm>
          <a:prstGeom prst="rect">
            <a:avLst/>
          </a:prstGeom>
          <a:noFill/>
          <a:ln/>
        </p:spPr>
        <p:txBody>
          <a:bodyPr wrap="square" lIns="0" tIns="0" rIns="0" bIns="0" rtlCol="0" anchor="ctr">
            <a:normAutofit/>
          </a:bodyPr>
          <a:lstStyle/>
          <a:p>
            <a:pPr algn="ctr" indent="0" marL="0">
              <a:buNone/>
            </a:pPr>
            <a:r>
              <a:rPr lang="en-US" sz="1050" b="1" dirty="0">
                <a:solidFill>
                  <a:srgbClr val="A7A1FF"/>
                </a:solidFill>
                <a:latin typeface="Arial" pitchFamily="34" charset="0"/>
                <a:ea typeface="Arial" pitchFamily="34" charset="-122"/>
                <a:cs typeface="Arial" pitchFamily="34" charset="-120"/>
              </a:rPr>
              <a:t>Output: bⱼ(t) = [ P(Healthy), P(Degraded), P(Down) ]</a:t>
            </a:r>
            <a:endParaRPr lang="en-US" sz="1050" dirty="0"/>
          </a:p>
        </p:txBody>
      </p:sp>
      <p:sp>
        <p:nvSpPr>
          <p:cNvPr id="15" name="Shape 13"/>
          <p:cNvSpPr/>
          <p:nvPr/>
        </p:nvSpPr>
        <p:spPr>
          <a:xfrm>
            <a:off x="6565392" y="1609344"/>
            <a:ext cx="5047488" cy="4526280"/>
          </a:xfrm>
          <a:prstGeom prst="roundRect">
            <a:avLst>
              <a:gd name="adj" fmla="val 2424"/>
            </a:avLst>
          </a:prstGeom>
          <a:solidFill>
            <a:srgbClr val="101827"/>
          </a:solidFill>
          <a:ln w="12700">
            <a:solidFill>
              <a:srgbClr val="25D0B1"/>
            </a:solidFill>
            <a:prstDash val="solid"/>
          </a:ln>
        </p:spPr>
      </p:sp>
      <p:sp>
        <p:nvSpPr>
          <p:cNvPr id="16" name="Shape 14"/>
          <p:cNvSpPr/>
          <p:nvPr/>
        </p:nvSpPr>
        <p:spPr>
          <a:xfrm>
            <a:off x="6821424" y="1828800"/>
            <a:ext cx="1572768" cy="274320"/>
          </a:xfrm>
          <a:prstGeom prst="roundRect">
            <a:avLst>
              <a:gd name="adj" fmla="val 46667"/>
            </a:avLst>
          </a:prstGeom>
          <a:solidFill>
            <a:srgbClr val="25D0B1">
              <a:alpha val="14000"/>
            </a:srgbClr>
          </a:solidFill>
          <a:ln w="11430">
            <a:solidFill>
              <a:srgbClr val="25D0B1">
                <a:alpha val="65000"/>
              </a:srgbClr>
            </a:solidFill>
            <a:prstDash val="solid"/>
          </a:ln>
        </p:spPr>
      </p:sp>
      <p:sp>
        <p:nvSpPr>
          <p:cNvPr id="17" name="Text 15"/>
          <p:cNvSpPr txBox="1"/>
          <p:nvPr/>
        </p:nvSpPr>
        <p:spPr>
          <a:xfrm>
            <a:off x="6876288" y="1869948"/>
            <a:ext cx="1463040" cy="164592"/>
          </a:xfrm>
          <a:prstGeom prst="rect">
            <a:avLst/>
          </a:prstGeom>
          <a:noFill/>
          <a:ln/>
        </p:spPr>
        <p:txBody>
          <a:bodyPr wrap="square" lIns="0" tIns="0" rIns="0" bIns="0" rtlCol="0" anchor="ctr">
            <a:normAutofit/>
          </a:bodyPr>
          <a:lstStyle/>
          <a:p>
            <a:pPr algn="ctr" indent="0" marL="0">
              <a:buNone/>
            </a:pPr>
            <a:r>
              <a:rPr lang="en-US" sz="810" b="1" dirty="0">
                <a:solidFill>
                  <a:srgbClr val="25D0B1"/>
                </a:solidFill>
                <a:latin typeface="Arial" pitchFamily="34" charset="0"/>
                <a:ea typeface="Arial" pitchFamily="34" charset="-122"/>
                <a:cs typeface="Arial" pitchFamily="34" charset="-120"/>
              </a:rPr>
              <a:t>EXECUTION STALL SENSOR</a:t>
            </a:r>
            <a:endParaRPr lang="en-US" sz="810" dirty="0"/>
          </a:p>
        </p:txBody>
      </p:sp>
      <p:sp>
        <p:nvSpPr>
          <p:cNvPr id="18" name="Text 16"/>
          <p:cNvSpPr txBox="1"/>
          <p:nvPr/>
        </p:nvSpPr>
        <p:spPr>
          <a:xfrm>
            <a:off x="6821424" y="2267712"/>
            <a:ext cx="4242816" cy="438912"/>
          </a:xfrm>
          <a:prstGeom prst="rect">
            <a:avLst/>
          </a:prstGeom>
          <a:noFill/>
          <a:ln/>
        </p:spPr>
        <p:txBody>
          <a:bodyPr wrap="square" lIns="0" tIns="0" rIns="0" bIns="0" rtlCol="0" anchor="ctr">
            <a:normAutofit/>
          </a:bodyPr>
          <a:lstStyle/>
          <a:p>
            <a:pPr algn="ctr" indent="0" marL="0">
              <a:buNone/>
            </a:pPr>
            <a:r>
              <a:rPr lang="en-US" sz="1250" b="1" dirty="0">
                <a:solidFill>
                  <a:srgbClr val="F6F8FC"/>
                </a:solidFill>
                <a:latin typeface="Arial" pitchFamily="34" charset="0"/>
                <a:ea typeface="Arial" pitchFamily="34" charset="-122"/>
                <a:cs typeface="Arial" pitchFamily="34" charset="-120"/>
              </a:rPr>
              <a:t>Telemetry can be slow to reveal failure. Task progress gives direct evidence.</a:t>
            </a:r>
            <a:endParaRPr lang="en-US" sz="1250" dirty="0"/>
          </a:p>
        </p:txBody>
      </p:sp>
      <p:sp>
        <p:nvSpPr>
          <p:cNvPr id="19" name="Shape 17"/>
          <p:cNvSpPr/>
          <p:nvPr/>
        </p:nvSpPr>
        <p:spPr>
          <a:xfrm>
            <a:off x="7040880" y="3063240"/>
            <a:ext cx="1417320" cy="411480"/>
          </a:xfrm>
          <a:prstGeom prst="rect">
            <a:avLst/>
          </a:prstGeom>
          <a:solidFill>
            <a:srgbClr val="18243A"/>
          </a:solidFill>
          <a:ln w="8890">
            <a:solidFill>
              <a:srgbClr val="2A3954"/>
            </a:solidFill>
            <a:prstDash val="solid"/>
          </a:ln>
        </p:spPr>
      </p:sp>
      <p:sp>
        <p:nvSpPr>
          <p:cNvPr id="20" name="Text 18"/>
          <p:cNvSpPr txBox="1"/>
          <p:nvPr/>
        </p:nvSpPr>
        <p:spPr>
          <a:xfrm>
            <a:off x="7077456" y="3163824"/>
            <a:ext cx="1344168" cy="164592"/>
          </a:xfrm>
          <a:prstGeom prst="rect">
            <a:avLst/>
          </a:prstGeom>
          <a:noFill/>
          <a:ln/>
        </p:spPr>
        <p:txBody>
          <a:bodyPr wrap="square" lIns="0" tIns="0" rIns="0" bIns="0" rtlCol="0" anchor="ctr">
            <a:normAutofit/>
          </a:bodyPr>
          <a:lstStyle/>
          <a:p>
            <a:pPr algn="ctr" indent="0" marL="0">
              <a:buNone/>
            </a:pPr>
            <a:r>
              <a:rPr lang="en-US" sz="880" b="1" dirty="0">
                <a:solidFill>
                  <a:srgbClr val="91A0B8"/>
                </a:solidFill>
                <a:latin typeface="Arial" pitchFamily="34" charset="0"/>
                <a:ea typeface="Arial" pitchFamily="34" charset="-122"/>
                <a:cs typeface="Arial" pitchFamily="34" charset="-120"/>
              </a:rPr>
              <a:t>Evidence</a:t>
            </a:r>
            <a:endParaRPr lang="en-US" sz="880" dirty="0"/>
          </a:p>
        </p:txBody>
      </p:sp>
      <p:sp>
        <p:nvSpPr>
          <p:cNvPr id="21" name="Shape 19"/>
          <p:cNvSpPr/>
          <p:nvPr/>
        </p:nvSpPr>
        <p:spPr>
          <a:xfrm>
            <a:off x="8458200" y="3063240"/>
            <a:ext cx="640080" cy="411480"/>
          </a:xfrm>
          <a:prstGeom prst="rect">
            <a:avLst/>
          </a:prstGeom>
          <a:solidFill>
            <a:srgbClr val="18243A"/>
          </a:solidFill>
          <a:ln w="8890">
            <a:solidFill>
              <a:srgbClr val="2A3954"/>
            </a:solidFill>
            <a:prstDash val="solid"/>
          </a:ln>
        </p:spPr>
      </p:sp>
      <p:sp>
        <p:nvSpPr>
          <p:cNvPr id="22" name="Text 20"/>
          <p:cNvSpPr txBox="1"/>
          <p:nvPr/>
        </p:nvSpPr>
        <p:spPr>
          <a:xfrm>
            <a:off x="8494776" y="3163824"/>
            <a:ext cx="566928" cy="164592"/>
          </a:xfrm>
          <a:prstGeom prst="rect">
            <a:avLst/>
          </a:prstGeom>
          <a:noFill/>
          <a:ln/>
        </p:spPr>
        <p:txBody>
          <a:bodyPr wrap="square" lIns="0" tIns="0" rIns="0" bIns="0" rtlCol="0" anchor="ctr">
            <a:normAutofit/>
          </a:bodyPr>
          <a:lstStyle/>
          <a:p>
            <a:pPr algn="ctr" indent="0" marL="0">
              <a:buNone/>
            </a:pPr>
            <a:r>
              <a:rPr lang="en-US" sz="880" b="1" dirty="0">
                <a:solidFill>
                  <a:srgbClr val="91A0B8"/>
                </a:solidFill>
                <a:latin typeface="Arial" pitchFamily="34" charset="0"/>
                <a:ea typeface="Arial" pitchFamily="34" charset="-122"/>
                <a:cs typeface="Arial" pitchFamily="34" charset="-120"/>
              </a:rPr>
              <a:t>H</a:t>
            </a:r>
            <a:endParaRPr lang="en-US" sz="880" dirty="0"/>
          </a:p>
        </p:txBody>
      </p:sp>
      <p:sp>
        <p:nvSpPr>
          <p:cNvPr id="23" name="Shape 21"/>
          <p:cNvSpPr/>
          <p:nvPr/>
        </p:nvSpPr>
        <p:spPr>
          <a:xfrm>
            <a:off x="9098280" y="3063240"/>
            <a:ext cx="640080" cy="411480"/>
          </a:xfrm>
          <a:prstGeom prst="rect">
            <a:avLst/>
          </a:prstGeom>
          <a:solidFill>
            <a:srgbClr val="18243A"/>
          </a:solidFill>
          <a:ln w="8890">
            <a:solidFill>
              <a:srgbClr val="2A3954"/>
            </a:solidFill>
            <a:prstDash val="solid"/>
          </a:ln>
        </p:spPr>
      </p:sp>
      <p:sp>
        <p:nvSpPr>
          <p:cNvPr id="24" name="Text 22"/>
          <p:cNvSpPr txBox="1"/>
          <p:nvPr/>
        </p:nvSpPr>
        <p:spPr>
          <a:xfrm>
            <a:off x="9134856" y="3163824"/>
            <a:ext cx="566928" cy="164592"/>
          </a:xfrm>
          <a:prstGeom prst="rect">
            <a:avLst/>
          </a:prstGeom>
          <a:noFill/>
          <a:ln/>
        </p:spPr>
        <p:txBody>
          <a:bodyPr wrap="square" lIns="0" tIns="0" rIns="0" bIns="0" rtlCol="0" anchor="ctr">
            <a:normAutofit/>
          </a:bodyPr>
          <a:lstStyle/>
          <a:p>
            <a:pPr algn="ctr" indent="0" marL="0">
              <a:buNone/>
            </a:pPr>
            <a:r>
              <a:rPr lang="en-US" sz="880" b="1" dirty="0">
                <a:solidFill>
                  <a:srgbClr val="91A0B8"/>
                </a:solidFill>
                <a:latin typeface="Arial" pitchFamily="34" charset="0"/>
                <a:ea typeface="Arial" pitchFamily="34" charset="-122"/>
                <a:cs typeface="Arial" pitchFamily="34" charset="-120"/>
              </a:rPr>
              <a:t>D</a:t>
            </a:r>
            <a:endParaRPr lang="en-US" sz="880" dirty="0"/>
          </a:p>
        </p:txBody>
      </p:sp>
      <p:sp>
        <p:nvSpPr>
          <p:cNvPr id="25" name="Shape 23"/>
          <p:cNvSpPr/>
          <p:nvPr/>
        </p:nvSpPr>
        <p:spPr>
          <a:xfrm>
            <a:off x="9738360" y="3063240"/>
            <a:ext cx="640080" cy="411480"/>
          </a:xfrm>
          <a:prstGeom prst="rect">
            <a:avLst/>
          </a:prstGeom>
          <a:solidFill>
            <a:srgbClr val="18243A"/>
          </a:solidFill>
          <a:ln w="8890">
            <a:solidFill>
              <a:srgbClr val="2A3954"/>
            </a:solidFill>
            <a:prstDash val="solid"/>
          </a:ln>
        </p:spPr>
      </p:sp>
      <p:sp>
        <p:nvSpPr>
          <p:cNvPr id="26" name="Text 24"/>
          <p:cNvSpPr txBox="1"/>
          <p:nvPr/>
        </p:nvSpPr>
        <p:spPr>
          <a:xfrm>
            <a:off x="9774936" y="3163824"/>
            <a:ext cx="566928" cy="164592"/>
          </a:xfrm>
          <a:prstGeom prst="rect">
            <a:avLst/>
          </a:prstGeom>
          <a:noFill/>
          <a:ln/>
        </p:spPr>
        <p:txBody>
          <a:bodyPr wrap="square" lIns="0" tIns="0" rIns="0" bIns="0" rtlCol="0" anchor="ctr">
            <a:normAutofit/>
          </a:bodyPr>
          <a:lstStyle/>
          <a:p>
            <a:pPr algn="ctr" indent="0" marL="0">
              <a:buNone/>
            </a:pPr>
            <a:r>
              <a:rPr lang="en-US" sz="880" b="1" dirty="0">
                <a:solidFill>
                  <a:srgbClr val="91A0B8"/>
                </a:solidFill>
                <a:latin typeface="Arial" pitchFamily="34" charset="0"/>
                <a:ea typeface="Arial" pitchFamily="34" charset="-122"/>
                <a:cs typeface="Arial" pitchFamily="34" charset="-120"/>
              </a:rPr>
              <a:t>X</a:t>
            </a:r>
            <a:endParaRPr lang="en-US" sz="880" dirty="0"/>
          </a:p>
        </p:txBody>
      </p:sp>
      <p:sp>
        <p:nvSpPr>
          <p:cNvPr id="27" name="Shape 25"/>
          <p:cNvSpPr/>
          <p:nvPr/>
        </p:nvSpPr>
        <p:spPr>
          <a:xfrm>
            <a:off x="7040880" y="3474720"/>
            <a:ext cx="1417320" cy="411480"/>
          </a:xfrm>
          <a:prstGeom prst="rect">
            <a:avLst/>
          </a:prstGeom>
          <a:solidFill>
            <a:srgbClr val="101827"/>
          </a:solidFill>
          <a:ln w="8890">
            <a:solidFill>
              <a:srgbClr val="2A3954"/>
            </a:solidFill>
            <a:prstDash val="solid"/>
          </a:ln>
        </p:spPr>
      </p:sp>
      <p:sp>
        <p:nvSpPr>
          <p:cNvPr id="28" name="Text 26"/>
          <p:cNvSpPr txBox="1"/>
          <p:nvPr/>
        </p:nvSpPr>
        <p:spPr>
          <a:xfrm>
            <a:off x="7077456" y="3575304"/>
            <a:ext cx="1344168" cy="164592"/>
          </a:xfrm>
          <a:prstGeom prst="rect">
            <a:avLst/>
          </a:prstGeom>
          <a:noFill/>
          <a:ln/>
        </p:spPr>
        <p:txBody>
          <a:bodyPr wrap="square" lIns="0" tIns="0" rIns="0" bIns="0" rtlCol="0" anchor="ctr">
            <a:normAutofit/>
          </a:bodyPr>
          <a:lstStyle/>
          <a:p>
            <a:pPr algn="ctr" indent="0" marL="0">
              <a:buNone/>
            </a:pPr>
            <a:r>
              <a:rPr lang="en-US" sz="850" b="1" dirty="0">
                <a:solidFill>
                  <a:srgbClr val="F6F8FC"/>
                </a:solidFill>
                <a:latin typeface="Arial" pitchFamily="34" charset="0"/>
                <a:ea typeface="Arial" pitchFamily="34" charset="-122"/>
                <a:cs typeface="Arial" pitchFamily="34" charset="-120"/>
              </a:rPr>
              <a:t>Progress made</a:t>
            </a:r>
            <a:endParaRPr lang="en-US" sz="850" dirty="0"/>
          </a:p>
        </p:txBody>
      </p:sp>
      <p:sp>
        <p:nvSpPr>
          <p:cNvPr id="29" name="Shape 27"/>
          <p:cNvSpPr/>
          <p:nvPr/>
        </p:nvSpPr>
        <p:spPr>
          <a:xfrm>
            <a:off x="8458200" y="3474720"/>
            <a:ext cx="640080" cy="411480"/>
          </a:xfrm>
          <a:prstGeom prst="rect">
            <a:avLst/>
          </a:prstGeom>
          <a:solidFill>
            <a:srgbClr val="101827"/>
          </a:solidFill>
          <a:ln w="8890">
            <a:solidFill>
              <a:srgbClr val="2A3954"/>
            </a:solidFill>
            <a:prstDash val="solid"/>
          </a:ln>
        </p:spPr>
      </p:sp>
      <p:sp>
        <p:nvSpPr>
          <p:cNvPr id="30" name="Text 28"/>
          <p:cNvSpPr txBox="1"/>
          <p:nvPr/>
        </p:nvSpPr>
        <p:spPr>
          <a:xfrm>
            <a:off x="8494776" y="357530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1.000</a:t>
            </a:r>
            <a:endParaRPr lang="en-US" sz="850" dirty="0"/>
          </a:p>
        </p:txBody>
      </p:sp>
      <p:sp>
        <p:nvSpPr>
          <p:cNvPr id="31" name="Shape 29"/>
          <p:cNvSpPr/>
          <p:nvPr/>
        </p:nvSpPr>
        <p:spPr>
          <a:xfrm>
            <a:off x="9098280" y="3474720"/>
            <a:ext cx="640080" cy="411480"/>
          </a:xfrm>
          <a:prstGeom prst="rect">
            <a:avLst/>
          </a:prstGeom>
          <a:solidFill>
            <a:srgbClr val="101827"/>
          </a:solidFill>
          <a:ln w="8890">
            <a:solidFill>
              <a:srgbClr val="2A3954"/>
            </a:solidFill>
            <a:prstDash val="solid"/>
          </a:ln>
        </p:spPr>
      </p:sp>
      <p:sp>
        <p:nvSpPr>
          <p:cNvPr id="32" name="Text 30"/>
          <p:cNvSpPr txBox="1"/>
          <p:nvPr/>
        </p:nvSpPr>
        <p:spPr>
          <a:xfrm>
            <a:off x="9134856" y="357530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0.40</a:t>
            </a:r>
            <a:endParaRPr lang="en-US" sz="850" dirty="0"/>
          </a:p>
        </p:txBody>
      </p:sp>
      <p:sp>
        <p:nvSpPr>
          <p:cNvPr id="33" name="Shape 31"/>
          <p:cNvSpPr/>
          <p:nvPr/>
        </p:nvSpPr>
        <p:spPr>
          <a:xfrm>
            <a:off x="9738360" y="3474720"/>
            <a:ext cx="640080" cy="411480"/>
          </a:xfrm>
          <a:prstGeom prst="rect">
            <a:avLst/>
          </a:prstGeom>
          <a:solidFill>
            <a:srgbClr val="101827"/>
          </a:solidFill>
          <a:ln w="8890">
            <a:solidFill>
              <a:srgbClr val="2A3954"/>
            </a:solidFill>
            <a:prstDash val="solid"/>
          </a:ln>
        </p:spPr>
      </p:sp>
      <p:sp>
        <p:nvSpPr>
          <p:cNvPr id="34" name="Text 32"/>
          <p:cNvSpPr txBox="1"/>
          <p:nvPr/>
        </p:nvSpPr>
        <p:spPr>
          <a:xfrm>
            <a:off x="9774936" y="357530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0.001</a:t>
            </a:r>
            <a:endParaRPr lang="en-US" sz="850" dirty="0"/>
          </a:p>
        </p:txBody>
      </p:sp>
      <p:sp>
        <p:nvSpPr>
          <p:cNvPr id="35" name="Shape 33"/>
          <p:cNvSpPr/>
          <p:nvPr/>
        </p:nvSpPr>
        <p:spPr>
          <a:xfrm>
            <a:off x="7040880" y="3886200"/>
            <a:ext cx="1417320" cy="411480"/>
          </a:xfrm>
          <a:prstGeom prst="rect">
            <a:avLst/>
          </a:prstGeom>
          <a:solidFill>
            <a:srgbClr val="101827"/>
          </a:solidFill>
          <a:ln w="8890">
            <a:solidFill>
              <a:srgbClr val="2A3954"/>
            </a:solidFill>
            <a:prstDash val="solid"/>
          </a:ln>
        </p:spPr>
      </p:sp>
      <p:sp>
        <p:nvSpPr>
          <p:cNvPr id="36" name="Text 34"/>
          <p:cNvSpPr txBox="1"/>
          <p:nvPr/>
        </p:nvSpPr>
        <p:spPr>
          <a:xfrm>
            <a:off x="7077456" y="3986784"/>
            <a:ext cx="1344168" cy="164592"/>
          </a:xfrm>
          <a:prstGeom prst="rect">
            <a:avLst/>
          </a:prstGeom>
          <a:noFill/>
          <a:ln/>
        </p:spPr>
        <p:txBody>
          <a:bodyPr wrap="square" lIns="0" tIns="0" rIns="0" bIns="0" rtlCol="0" anchor="ctr">
            <a:normAutofit/>
          </a:bodyPr>
          <a:lstStyle/>
          <a:p>
            <a:pPr algn="ctr" indent="0" marL="0">
              <a:buNone/>
            </a:pPr>
            <a:r>
              <a:rPr lang="en-US" sz="850" b="1" dirty="0">
                <a:solidFill>
                  <a:srgbClr val="F6F8FC"/>
                </a:solidFill>
                <a:latin typeface="Arial" pitchFamily="34" charset="0"/>
                <a:ea typeface="Arial" pitchFamily="34" charset="-122"/>
                <a:cs typeface="Arial" pitchFamily="34" charset="-120"/>
              </a:rPr>
              <a:t>Execution stalls</a:t>
            </a:r>
            <a:endParaRPr lang="en-US" sz="850" dirty="0"/>
          </a:p>
        </p:txBody>
      </p:sp>
      <p:sp>
        <p:nvSpPr>
          <p:cNvPr id="37" name="Shape 35"/>
          <p:cNvSpPr/>
          <p:nvPr/>
        </p:nvSpPr>
        <p:spPr>
          <a:xfrm>
            <a:off x="8458200" y="3886200"/>
            <a:ext cx="640080" cy="411480"/>
          </a:xfrm>
          <a:prstGeom prst="rect">
            <a:avLst/>
          </a:prstGeom>
          <a:solidFill>
            <a:srgbClr val="101827"/>
          </a:solidFill>
          <a:ln w="8890">
            <a:solidFill>
              <a:srgbClr val="2A3954"/>
            </a:solidFill>
            <a:prstDash val="solid"/>
          </a:ln>
        </p:spPr>
      </p:sp>
      <p:sp>
        <p:nvSpPr>
          <p:cNvPr id="38" name="Text 36"/>
          <p:cNvSpPr txBox="1"/>
          <p:nvPr/>
        </p:nvSpPr>
        <p:spPr>
          <a:xfrm>
            <a:off x="8494776" y="398678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0.001</a:t>
            </a:r>
            <a:endParaRPr lang="en-US" sz="850" dirty="0"/>
          </a:p>
        </p:txBody>
      </p:sp>
      <p:sp>
        <p:nvSpPr>
          <p:cNvPr id="39" name="Shape 37"/>
          <p:cNvSpPr/>
          <p:nvPr/>
        </p:nvSpPr>
        <p:spPr>
          <a:xfrm>
            <a:off x="9098280" y="3886200"/>
            <a:ext cx="640080" cy="411480"/>
          </a:xfrm>
          <a:prstGeom prst="rect">
            <a:avLst/>
          </a:prstGeom>
          <a:solidFill>
            <a:srgbClr val="101827"/>
          </a:solidFill>
          <a:ln w="8890">
            <a:solidFill>
              <a:srgbClr val="2A3954"/>
            </a:solidFill>
            <a:prstDash val="solid"/>
          </a:ln>
        </p:spPr>
      </p:sp>
      <p:sp>
        <p:nvSpPr>
          <p:cNvPr id="40" name="Text 38"/>
          <p:cNvSpPr txBox="1"/>
          <p:nvPr/>
        </p:nvSpPr>
        <p:spPr>
          <a:xfrm>
            <a:off x="9134856" y="398678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0.60</a:t>
            </a:r>
            <a:endParaRPr lang="en-US" sz="850" dirty="0"/>
          </a:p>
        </p:txBody>
      </p:sp>
      <p:sp>
        <p:nvSpPr>
          <p:cNvPr id="41" name="Shape 39"/>
          <p:cNvSpPr/>
          <p:nvPr/>
        </p:nvSpPr>
        <p:spPr>
          <a:xfrm>
            <a:off x="9738360" y="3886200"/>
            <a:ext cx="640080" cy="411480"/>
          </a:xfrm>
          <a:prstGeom prst="rect">
            <a:avLst/>
          </a:prstGeom>
          <a:solidFill>
            <a:srgbClr val="101827"/>
          </a:solidFill>
          <a:ln w="8890">
            <a:solidFill>
              <a:srgbClr val="2A3954"/>
            </a:solidFill>
            <a:prstDash val="solid"/>
          </a:ln>
        </p:spPr>
      </p:sp>
      <p:sp>
        <p:nvSpPr>
          <p:cNvPr id="42" name="Text 40"/>
          <p:cNvSpPr txBox="1"/>
          <p:nvPr/>
        </p:nvSpPr>
        <p:spPr>
          <a:xfrm>
            <a:off x="9774936" y="3986784"/>
            <a:ext cx="566928" cy="164592"/>
          </a:xfrm>
          <a:prstGeom prst="rect">
            <a:avLst/>
          </a:prstGeom>
          <a:noFill/>
          <a:ln/>
        </p:spPr>
        <p:txBody>
          <a:bodyPr wrap="square" lIns="0" tIns="0" rIns="0" bIns="0" rtlCol="0" anchor="ctr">
            <a:normAutofit/>
          </a:bodyPr>
          <a:lstStyle/>
          <a:p>
            <a:pPr algn="ctr" indent="0" marL="0">
              <a:buNone/>
            </a:pPr>
            <a:r>
              <a:rPr lang="en-US" sz="850" dirty="0">
                <a:solidFill>
                  <a:srgbClr val="D5DEEC"/>
                </a:solidFill>
                <a:latin typeface="Arial" pitchFamily="34" charset="0"/>
                <a:ea typeface="Arial" pitchFamily="34" charset="-122"/>
                <a:cs typeface="Arial" pitchFamily="34" charset="-120"/>
              </a:rPr>
              <a:t>0.999</a:t>
            </a:r>
            <a:endParaRPr lang="en-US" sz="850" dirty="0"/>
          </a:p>
        </p:txBody>
      </p:sp>
      <p:sp>
        <p:nvSpPr>
          <p:cNvPr id="43" name="Shape 41"/>
          <p:cNvSpPr/>
          <p:nvPr/>
        </p:nvSpPr>
        <p:spPr>
          <a:xfrm>
            <a:off x="7040880" y="4681728"/>
            <a:ext cx="1600200" cy="768096"/>
          </a:xfrm>
          <a:prstGeom prst="roundRect">
            <a:avLst>
              <a:gd name="adj" fmla="val 14286"/>
            </a:avLst>
          </a:prstGeom>
          <a:solidFill>
            <a:srgbClr val="0F1726"/>
          </a:solidFill>
          <a:ln w="12700">
            <a:solidFill>
              <a:srgbClr val="3CE28F"/>
            </a:solidFill>
            <a:prstDash val="solid"/>
          </a:ln>
        </p:spPr>
      </p:sp>
      <p:sp>
        <p:nvSpPr>
          <p:cNvPr id="44" name="Text 42"/>
          <p:cNvSpPr txBox="1"/>
          <p:nvPr/>
        </p:nvSpPr>
        <p:spPr>
          <a:xfrm>
            <a:off x="7187184" y="4773168"/>
            <a:ext cx="1307592" cy="384048"/>
          </a:xfrm>
          <a:prstGeom prst="rect">
            <a:avLst/>
          </a:prstGeom>
          <a:noFill/>
          <a:ln/>
        </p:spPr>
        <p:txBody>
          <a:bodyPr wrap="square" lIns="0" tIns="0" rIns="0" bIns="0" rtlCol="0" anchor="ctr">
            <a:normAutofit/>
          </a:bodyPr>
          <a:lstStyle/>
          <a:p>
            <a:pPr algn="l" indent="0" marL="0">
              <a:buNone/>
            </a:pPr>
            <a:r>
              <a:rPr lang="en-US" sz="2100" b="1" dirty="0">
                <a:solidFill>
                  <a:srgbClr val="3CE28F"/>
                </a:solidFill>
                <a:latin typeface="Arial" pitchFamily="34" charset="0"/>
                <a:ea typeface="Arial" pitchFamily="34" charset="-122"/>
                <a:cs typeface="Arial" pitchFamily="34" charset="-120"/>
              </a:rPr>
              <a:t>1–2 ticks</a:t>
            </a:r>
            <a:endParaRPr lang="en-US" sz="2100" dirty="0"/>
          </a:p>
        </p:txBody>
      </p:sp>
      <p:sp>
        <p:nvSpPr>
          <p:cNvPr id="45" name="Text 43"/>
          <p:cNvSpPr txBox="1"/>
          <p:nvPr/>
        </p:nvSpPr>
        <p:spPr>
          <a:xfrm>
            <a:off x="7187184" y="5193792"/>
            <a:ext cx="1307592" cy="18288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dead-node detection</a:t>
            </a:r>
            <a:endParaRPr lang="en-US" sz="910" dirty="0"/>
          </a:p>
        </p:txBody>
      </p:sp>
      <p:sp>
        <p:nvSpPr>
          <p:cNvPr id="46" name="Shape 44"/>
          <p:cNvSpPr/>
          <p:nvPr/>
        </p:nvSpPr>
        <p:spPr>
          <a:xfrm>
            <a:off x="8887968" y="4681728"/>
            <a:ext cx="1956816" cy="768096"/>
          </a:xfrm>
          <a:prstGeom prst="roundRect">
            <a:avLst>
              <a:gd name="adj" fmla="val 14286"/>
            </a:avLst>
          </a:prstGeom>
          <a:solidFill>
            <a:srgbClr val="0F1726"/>
          </a:solidFill>
          <a:ln w="12700">
            <a:solidFill>
              <a:srgbClr val="25D0B1"/>
            </a:solidFill>
            <a:prstDash val="solid"/>
          </a:ln>
        </p:spPr>
      </p:sp>
      <p:sp>
        <p:nvSpPr>
          <p:cNvPr id="47" name="Text 45"/>
          <p:cNvSpPr txBox="1"/>
          <p:nvPr/>
        </p:nvSpPr>
        <p:spPr>
          <a:xfrm>
            <a:off x="9034272" y="4773168"/>
            <a:ext cx="1664208" cy="384048"/>
          </a:xfrm>
          <a:prstGeom prst="rect">
            <a:avLst/>
          </a:prstGeom>
          <a:noFill/>
          <a:ln/>
        </p:spPr>
        <p:txBody>
          <a:bodyPr wrap="square" lIns="0" tIns="0" rIns="0" bIns="0" rtlCol="0" anchor="ctr">
            <a:normAutofit/>
          </a:bodyPr>
          <a:lstStyle/>
          <a:p>
            <a:pPr algn="l" indent="0" marL="0">
              <a:buNone/>
            </a:pPr>
            <a:r>
              <a:rPr lang="en-US" sz="2100" b="1" dirty="0">
                <a:solidFill>
                  <a:srgbClr val="25D0B1"/>
                </a:solidFill>
                <a:latin typeface="Arial" pitchFamily="34" charset="0"/>
                <a:ea typeface="Arial" pitchFamily="34" charset="-122"/>
                <a:cs typeface="Arial" pitchFamily="34" charset="-120"/>
              </a:rPr>
              <a:t>-84.2%</a:t>
            </a:r>
            <a:endParaRPr lang="en-US" sz="2100" dirty="0"/>
          </a:p>
        </p:txBody>
      </p:sp>
      <p:sp>
        <p:nvSpPr>
          <p:cNvPr id="48" name="Text 46"/>
          <p:cNvSpPr txBox="1"/>
          <p:nvPr/>
        </p:nvSpPr>
        <p:spPr>
          <a:xfrm>
            <a:off x="9034272" y="5193792"/>
            <a:ext cx="1664208" cy="18288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dead-node traffic</a:t>
            </a:r>
            <a:endParaRPr lang="en-US" sz="91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ALGORITHM COMPONENT 2</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Finite-horizon Q-value engine</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value of a task-node pair is based on predicted completion, not just current health probability.</a:t>
            </a:r>
            <a:endParaRPr lang="en-US" sz="1200" dirty="0"/>
          </a:p>
        </p:txBody>
      </p:sp>
      <p:sp>
        <p:nvSpPr>
          <p:cNvPr id="5" name="Shape 3"/>
          <p:cNvSpPr/>
          <p:nvPr/>
        </p:nvSpPr>
        <p:spPr>
          <a:xfrm>
            <a:off x="594360" y="1645920"/>
            <a:ext cx="4919472" cy="4297680"/>
          </a:xfrm>
          <a:prstGeom prst="roundRect">
            <a:avLst>
              <a:gd name="adj" fmla="val 2553"/>
            </a:avLst>
          </a:prstGeom>
          <a:solidFill>
            <a:srgbClr val="101827"/>
          </a:solidFill>
          <a:ln w="12700">
            <a:solidFill>
              <a:srgbClr val="5D8CFF"/>
            </a:solidFill>
            <a:prstDash val="solid"/>
          </a:ln>
        </p:spPr>
      </p:sp>
      <p:sp>
        <p:nvSpPr>
          <p:cNvPr id="6" name="Shape 4"/>
          <p:cNvSpPr/>
          <p:nvPr/>
        </p:nvSpPr>
        <p:spPr>
          <a:xfrm>
            <a:off x="841248" y="1865376"/>
            <a:ext cx="1645920" cy="274320"/>
          </a:xfrm>
          <a:prstGeom prst="roundRect">
            <a:avLst>
              <a:gd name="adj" fmla="val 46667"/>
            </a:avLst>
          </a:prstGeom>
          <a:solidFill>
            <a:srgbClr val="5D8CFF">
              <a:alpha val="14000"/>
            </a:srgbClr>
          </a:solidFill>
          <a:ln w="11430">
            <a:solidFill>
              <a:srgbClr val="5D8CFF">
                <a:alpha val="65000"/>
              </a:srgbClr>
            </a:solidFill>
            <a:prstDash val="solid"/>
          </a:ln>
        </p:spPr>
      </p:sp>
      <p:sp>
        <p:nvSpPr>
          <p:cNvPr id="7" name="Text 5"/>
          <p:cNvSpPr txBox="1"/>
          <p:nvPr/>
        </p:nvSpPr>
        <p:spPr>
          <a:xfrm>
            <a:off x="896112" y="1906524"/>
            <a:ext cx="1536192" cy="164592"/>
          </a:xfrm>
          <a:prstGeom prst="rect">
            <a:avLst/>
          </a:prstGeom>
          <a:noFill/>
          <a:ln/>
        </p:spPr>
        <p:txBody>
          <a:bodyPr wrap="square" lIns="0" tIns="0" rIns="0" bIns="0" rtlCol="0" anchor="ctr">
            <a:normAutofit/>
          </a:bodyPr>
          <a:lstStyle/>
          <a:p>
            <a:pPr algn="ctr" indent="0" marL="0">
              <a:buNone/>
            </a:pPr>
            <a:r>
              <a:rPr lang="en-US" sz="810" b="1" dirty="0">
                <a:solidFill>
                  <a:srgbClr val="5D8CFF"/>
                </a:solidFill>
                <a:latin typeface="Arial" pitchFamily="34" charset="0"/>
                <a:ea typeface="Arial" pitchFamily="34" charset="-122"/>
                <a:cs typeface="Arial" pitchFamily="34" charset="-120"/>
              </a:rPr>
              <a:t>CANDIDATE-NODE VALUE</a:t>
            </a:r>
            <a:endParaRPr lang="en-US" sz="810" dirty="0"/>
          </a:p>
        </p:txBody>
      </p:sp>
      <p:sp>
        <p:nvSpPr>
          <p:cNvPr id="8" name="Text 6"/>
          <p:cNvSpPr txBox="1"/>
          <p:nvPr/>
        </p:nvSpPr>
        <p:spPr>
          <a:xfrm>
            <a:off x="932688" y="2468880"/>
            <a:ext cx="4206240" cy="475488"/>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Qₖ(j,t) = E[ Rₖ | assign task k to node j now ]</a:t>
            </a:r>
            <a:endParaRPr lang="en-US" sz="2000" dirty="0"/>
          </a:p>
        </p:txBody>
      </p:sp>
      <p:sp>
        <p:nvSpPr>
          <p:cNvPr id="9" name="Text 7"/>
          <p:cNvSpPr txBox="1"/>
          <p:nvPr/>
        </p:nvSpPr>
        <p:spPr>
          <a:xfrm>
            <a:off x="987552" y="3246120"/>
            <a:ext cx="1572768" cy="201168"/>
          </a:xfrm>
          <a:prstGeom prst="rect">
            <a:avLst/>
          </a:prstGeom>
          <a:noFill/>
          <a:ln/>
        </p:spPr>
        <p:txBody>
          <a:bodyPr wrap="square" lIns="0" tIns="0" rIns="0" bIns="0" rtlCol="0" anchor="ctr">
            <a:normAutofit/>
          </a:bodyPr>
          <a:lstStyle/>
          <a:p>
            <a:pPr algn="l" indent="0" marL="0">
              <a:buNone/>
            </a:pPr>
            <a:r>
              <a:rPr lang="en-US" sz="1100" b="1" dirty="0">
                <a:solidFill>
                  <a:srgbClr val="5D8CFF"/>
                </a:solidFill>
                <a:latin typeface="Arial" pitchFamily="34" charset="0"/>
                <a:ea typeface="Arial" pitchFamily="34" charset="-122"/>
                <a:cs typeface="Arial" pitchFamily="34" charset="-120"/>
              </a:rPr>
              <a:t>Q approximately reflects:</a:t>
            </a:r>
            <a:endParaRPr lang="en-US" sz="1100" dirty="0"/>
          </a:p>
        </p:txBody>
      </p:sp>
      <p:sp>
        <p:nvSpPr>
          <p:cNvPr id="10" name="Shape 8"/>
          <p:cNvSpPr/>
          <p:nvPr/>
        </p:nvSpPr>
        <p:spPr>
          <a:xfrm>
            <a:off x="1033272" y="3611880"/>
            <a:ext cx="73152" cy="73152"/>
          </a:xfrm>
          <a:prstGeom prst="ellipse">
            <a:avLst/>
          </a:prstGeom>
          <a:solidFill>
            <a:srgbClr val="40D9FF"/>
          </a:solidFill>
          <a:ln w="12700">
            <a:solidFill>
              <a:srgbClr val="40D9FF"/>
            </a:solidFill>
            <a:prstDash val="solid"/>
          </a:ln>
        </p:spPr>
      </p:sp>
      <p:sp>
        <p:nvSpPr>
          <p:cNvPr id="11" name="Text 9"/>
          <p:cNvSpPr txBox="1"/>
          <p:nvPr/>
        </p:nvSpPr>
        <p:spPr>
          <a:xfrm>
            <a:off x="1170432" y="3547872"/>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current health belief</a:t>
            </a:r>
            <a:endParaRPr lang="en-US" sz="1020" dirty="0"/>
          </a:p>
        </p:txBody>
      </p:sp>
      <p:sp>
        <p:nvSpPr>
          <p:cNvPr id="12" name="Shape 10"/>
          <p:cNvSpPr/>
          <p:nvPr/>
        </p:nvSpPr>
        <p:spPr>
          <a:xfrm>
            <a:off x="1033272" y="3913632"/>
            <a:ext cx="73152" cy="73152"/>
          </a:xfrm>
          <a:prstGeom prst="ellipse">
            <a:avLst/>
          </a:prstGeom>
          <a:solidFill>
            <a:srgbClr val="A7A1FF"/>
          </a:solidFill>
          <a:ln w="12700">
            <a:solidFill>
              <a:srgbClr val="A7A1FF"/>
            </a:solidFill>
            <a:prstDash val="solid"/>
          </a:ln>
        </p:spPr>
      </p:sp>
      <p:sp>
        <p:nvSpPr>
          <p:cNvPr id="13" name="Text 11"/>
          <p:cNvSpPr txBox="1"/>
          <p:nvPr/>
        </p:nvSpPr>
        <p:spPr>
          <a:xfrm>
            <a:off x="1170432" y="3849624"/>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predicted health evolution</a:t>
            </a:r>
            <a:endParaRPr lang="en-US" sz="1020" dirty="0"/>
          </a:p>
        </p:txBody>
      </p:sp>
      <p:sp>
        <p:nvSpPr>
          <p:cNvPr id="14" name="Shape 12"/>
          <p:cNvSpPr/>
          <p:nvPr/>
        </p:nvSpPr>
        <p:spPr>
          <a:xfrm>
            <a:off x="1033272" y="4215384"/>
            <a:ext cx="73152" cy="73152"/>
          </a:xfrm>
          <a:prstGeom prst="ellipse">
            <a:avLst/>
          </a:prstGeom>
          <a:solidFill>
            <a:srgbClr val="3CE28F"/>
          </a:solidFill>
          <a:ln w="12700">
            <a:solidFill>
              <a:srgbClr val="3CE28F"/>
            </a:solidFill>
            <a:prstDash val="solid"/>
          </a:ln>
        </p:spPr>
      </p:sp>
      <p:sp>
        <p:nvSpPr>
          <p:cNvPr id="15" name="Text 13"/>
          <p:cNvSpPr txBox="1"/>
          <p:nvPr/>
        </p:nvSpPr>
        <p:spPr>
          <a:xfrm>
            <a:off x="1170432" y="4151376"/>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remaining work</a:t>
            </a:r>
            <a:endParaRPr lang="en-US" sz="1020" dirty="0"/>
          </a:p>
        </p:txBody>
      </p:sp>
      <p:sp>
        <p:nvSpPr>
          <p:cNvPr id="16" name="Shape 14"/>
          <p:cNvSpPr/>
          <p:nvPr/>
        </p:nvSpPr>
        <p:spPr>
          <a:xfrm>
            <a:off x="1033272" y="4517136"/>
            <a:ext cx="73152" cy="73152"/>
          </a:xfrm>
          <a:prstGeom prst="ellipse">
            <a:avLst/>
          </a:prstGeom>
          <a:solidFill>
            <a:srgbClr val="F6C453"/>
          </a:solidFill>
          <a:ln w="12700">
            <a:solidFill>
              <a:srgbClr val="F6C453"/>
            </a:solidFill>
            <a:prstDash val="solid"/>
          </a:ln>
        </p:spPr>
      </p:sp>
      <p:sp>
        <p:nvSpPr>
          <p:cNvPr id="17" name="Text 15"/>
          <p:cNvSpPr txBox="1"/>
          <p:nvPr/>
        </p:nvSpPr>
        <p:spPr>
          <a:xfrm>
            <a:off x="1170432" y="4453128"/>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deadline slack</a:t>
            </a:r>
            <a:endParaRPr lang="en-US" sz="1020" dirty="0"/>
          </a:p>
        </p:txBody>
      </p:sp>
      <p:sp>
        <p:nvSpPr>
          <p:cNvPr id="18" name="Shape 16"/>
          <p:cNvSpPr/>
          <p:nvPr/>
        </p:nvSpPr>
        <p:spPr>
          <a:xfrm>
            <a:off x="1033272" y="4818888"/>
            <a:ext cx="73152" cy="73152"/>
          </a:xfrm>
          <a:prstGeom prst="ellipse">
            <a:avLst/>
          </a:prstGeom>
          <a:solidFill>
            <a:srgbClr val="FF637D"/>
          </a:solidFill>
          <a:ln w="12700">
            <a:solidFill>
              <a:srgbClr val="FF637D"/>
            </a:solidFill>
            <a:prstDash val="solid"/>
          </a:ln>
        </p:spPr>
      </p:sp>
      <p:sp>
        <p:nvSpPr>
          <p:cNvPr id="19" name="Text 17"/>
          <p:cNvSpPr txBox="1"/>
          <p:nvPr/>
        </p:nvSpPr>
        <p:spPr>
          <a:xfrm>
            <a:off x="1170432" y="4754880"/>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restart loss</a:t>
            </a:r>
            <a:endParaRPr lang="en-US" sz="1020" dirty="0"/>
          </a:p>
        </p:txBody>
      </p:sp>
      <p:sp>
        <p:nvSpPr>
          <p:cNvPr id="20" name="Shape 18"/>
          <p:cNvSpPr/>
          <p:nvPr/>
        </p:nvSpPr>
        <p:spPr>
          <a:xfrm>
            <a:off x="1033272" y="5120640"/>
            <a:ext cx="73152" cy="73152"/>
          </a:xfrm>
          <a:prstGeom prst="ellipse">
            <a:avLst/>
          </a:prstGeom>
          <a:solidFill>
            <a:srgbClr val="25D0B1"/>
          </a:solidFill>
          <a:ln w="12700">
            <a:solidFill>
              <a:srgbClr val="25D0B1"/>
            </a:solidFill>
            <a:prstDash val="solid"/>
          </a:ln>
        </p:spPr>
      </p:sp>
      <p:sp>
        <p:nvSpPr>
          <p:cNvPr id="21" name="Text 19"/>
          <p:cNvSpPr txBox="1"/>
          <p:nvPr/>
        </p:nvSpPr>
        <p:spPr>
          <a:xfrm>
            <a:off x="1170432" y="5056632"/>
            <a:ext cx="3383280" cy="201168"/>
          </a:xfrm>
          <a:prstGeom prst="rect">
            <a:avLst/>
          </a:prstGeom>
          <a:noFill/>
          <a:ln/>
        </p:spPr>
        <p:txBody>
          <a:bodyPr wrap="square" lIns="0" tIns="0" rIns="0" bIns="0" rtlCol="0" anchor="ctr">
            <a:normAutofit/>
          </a:bodyPr>
          <a:lstStyle/>
          <a:p>
            <a:pPr algn="l" indent="0" marL="0">
              <a:buNone/>
            </a:pPr>
            <a:r>
              <a:rPr lang="en-US" sz="1020" dirty="0">
                <a:solidFill>
                  <a:srgbClr val="D5DEEC"/>
                </a:solidFill>
                <a:latin typeface="Arial" pitchFamily="34" charset="0"/>
                <a:ea typeface="Arial" pitchFamily="34" charset="-122"/>
                <a:cs typeface="Arial" pitchFamily="34" charset="-120"/>
              </a:rPr>
              <a:t>capacity / occupancy</a:t>
            </a:r>
            <a:endParaRPr lang="en-US" sz="1020" dirty="0"/>
          </a:p>
        </p:txBody>
      </p:sp>
      <p:sp>
        <p:nvSpPr>
          <p:cNvPr id="22" name="Shape 20"/>
          <p:cNvSpPr/>
          <p:nvPr/>
        </p:nvSpPr>
        <p:spPr>
          <a:xfrm>
            <a:off x="5806440" y="1645920"/>
            <a:ext cx="5742432" cy="4297680"/>
          </a:xfrm>
          <a:prstGeom prst="roundRect">
            <a:avLst>
              <a:gd name="adj" fmla="val 2553"/>
            </a:avLst>
          </a:prstGeom>
          <a:solidFill>
            <a:srgbClr val="101827"/>
          </a:solidFill>
          <a:ln w="12700">
            <a:solidFill>
              <a:srgbClr val="3CE28F"/>
            </a:solidFill>
            <a:prstDash val="solid"/>
          </a:ln>
        </p:spPr>
      </p:sp>
      <p:sp>
        <p:nvSpPr>
          <p:cNvPr id="23" name="Shape 21"/>
          <p:cNvSpPr/>
          <p:nvPr/>
        </p:nvSpPr>
        <p:spPr>
          <a:xfrm>
            <a:off x="6053328" y="1865376"/>
            <a:ext cx="1444752" cy="274320"/>
          </a:xfrm>
          <a:prstGeom prst="roundRect">
            <a:avLst>
              <a:gd name="adj" fmla="val 46667"/>
            </a:avLst>
          </a:prstGeom>
          <a:solidFill>
            <a:srgbClr val="3CE28F">
              <a:alpha val="14000"/>
            </a:srgbClr>
          </a:solidFill>
          <a:ln w="11430">
            <a:solidFill>
              <a:srgbClr val="3CE28F">
                <a:alpha val="65000"/>
              </a:srgbClr>
            </a:solidFill>
            <a:prstDash val="solid"/>
          </a:ln>
        </p:spPr>
      </p:sp>
      <p:sp>
        <p:nvSpPr>
          <p:cNvPr id="24" name="Text 22"/>
          <p:cNvSpPr txBox="1"/>
          <p:nvPr/>
        </p:nvSpPr>
        <p:spPr>
          <a:xfrm>
            <a:off x="6108192" y="1906524"/>
            <a:ext cx="1335024" cy="164592"/>
          </a:xfrm>
          <a:prstGeom prst="rect">
            <a:avLst/>
          </a:prstGeom>
          <a:noFill/>
          <a:ln/>
        </p:spPr>
        <p:txBody>
          <a:bodyPr wrap="square" lIns="0" tIns="0" rIns="0" bIns="0" rtlCol="0" anchor="ctr">
            <a:normAutofit/>
          </a:bodyPr>
          <a:lstStyle/>
          <a:p>
            <a:pPr algn="ctr" indent="0" marL="0">
              <a:buNone/>
            </a:pPr>
            <a:r>
              <a:rPr lang="en-US" sz="810" b="1" dirty="0">
                <a:solidFill>
                  <a:srgbClr val="3CE28F"/>
                </a:solidFill>
                <a:latin typeface="Arial" pitchFamily="34" charset="0"/>
                <a:ea typeface="Arial" pitchFamily="34" charset="-122"/>
                <a:cs typeface="Arial" pitchFamily="34" charset="-120"/>
              </a:rPr>
              <a:t>FORWARD PREDICTION</a:t>
            </a:r>
            <a:endParaRPr lang="en-US" sz="810" dirty="0"/>
          </a:p>
        </p:txBody>
      </p:sp>
      <p:sp>
        <p:nvSpPr>
          <p:cNvPr id="25" name="Shape 23"/>
          <p:cNvSpPr/>
          <p:nvPr/>
        </p:nvSpPr>
        <p:spPr>
          <a:xfrm>
            <a:off x="6309360" y="2542032"/>
            <a:ext cx="749808" cy="749808"/>
          </a:xfrm>
          <a:prstGeom prst="ellipse">
            <a:avLst/>
          </a:prstGeom>
          <a:solidFill>
            <a:srgbClr val="40D9FF">
              <a:alpha val="16000"/>
            </a:srgbClr>
          </a:solidFill>
          <a:ln w="12700">
            <a:solidFill>
              <a:srgbClr val="40D9FF"/>
            </a:solidFill>
            <a:prstDash val="solid"/>
          </a:ln>
        </p:spPr>
      </p:sp>
      <p:sp>
        <p:nvSpPr>
          <p:cNvPr id="26" name="Text 24"/>
          <p:cNvSpPr txBox="1"/>
          <p:nvPr/>
        </p:nvSpPr>
        <p:spPr>
          <a:xfrm>
            <a:off x="6309360" y="2724912"/>
            <a:ext cx="749808" cy="164592"/>
          </a:xfrm>
          <a:prstGeom prst="rect">
            <a:avLst/>
          </a:prstGeom>
          <a:noFill/>
          <a:ln/>
        </p:spPr>
        <p:txBody>
          <a:bodyPr wrap="square" lIns="0" tIns="0" rIns="0" bIns="0" rtlCol="0" anchor="ctr">
            <a:normAutofit/>
          </a:bodyPr>
          <a:lstStyle/>
          <a:p>
            <a:pPr algn="ctr" indent="0" marL="0">
              <a:buNone/>
            </a:pPr>
            <a:r>
              <a:rPr lang="en-US" sz="1000" b="1" dirty="0">
                <a:solidFill>
                  <a:srgbClr val="40D9FF"/>
                </a:solidFill>
                <a:latin typeface="Arial" pitchFamily="34" charset="0"/>
                <a:ea typeface="Arial" pitchFamily="34" charset="-122"/>
                <a:cs typeface="Arial" pitchFamily="34" charset="-120"/>
              </a:rPr>
              <a:t>t</a:t>
            </a:r>
            <a:endParaRPr lang="en-US" sz="1000" dirty="0"/>
          </a:p>
        </p:txBody>
      </p:sp>
      <p:sp>
        <p:nvSpPr>
          <p:cNvPr id="27" name="Text 25"/>
          <p:cNvSpPr txBox="1"/>
          <p:nvPr/>
        </p:nvSpPr>
        <p:spPr>
          <a:xfrm>
            <a:off x="6035040" y="3401568"/>
            <a:ext cx="1298448" cy="237744"/>
          </a:xfrm>
          <a:prstGeom prst="rect">
            <a:avLst/>
          </a:prstGeom>
          <a:noFill/>
          <a:ln/>
        </p:spPr>
        <p:txBody>
          <a:bodyPr wrap="square" lIns="0" tIns="0" rIns="0" bIns="0" rtlCol="0" anchor="ctr">
            <a:normAutofit/>
          </a:bodyPr>
          <a:lstStyle/>
          <a:p>
            <a:pPr algn="ctr" indent="0" marL="0">
              <a:buNone/>
            </a:pPr>
            <a:r>
              <a:rPr lang="en-US" sz="900" dirty="0">
                <a:solidFill>
                  <a:srgbClr val="91A0B8"/>
                </a:solidFill>
                <a:latin typeface="Arial" pitchFamily="34" charset="0"/>
                <a:ea typeface="Arial" pitchFamily="34" charset="-122"/>
                <a:cs typeface="Arial" pitchFamily="34" charset="-120"/>
              </a:rPr>
              <a:t>belief bⱼ(t)</a:t>
            </a:r>
            <a:endParaRPr lang="en-US" sz="900" dirty="0"/>
          </a:p>
        </p:txBody>
      </p:sp>
      <p:sp>
        <p:nvSpPr>
          <p:cNvPr id="28" name="Shape 26"/>
          <p:cNvSpPr/>
          <p:nvPr/>
        </p:nvSpPr>
        <p:spPr>
          <a:xfrm>
            <a:off x="7077456" y="2907792"/>
            <a:ext cx="374904" cy="0"/>
          </a:xfrm>
          <a:prstGeom prst="line">
            <a:avLst/>
          </a:prstGeom>
          <a:noFill/>
          <a:ln w="13970">
            <a:solidFill>
              <a:srgbClr val="2A3954"/>
            </a:solidFill>
            <a:prstDash val="solid"/>
            <a:headEnd type="none"/>
            <a:tailEnd type="triangle"/>
          </a:ln>
        </p:spPr>
      </p:sp>
      <p:sp>
        <p:nvSpPr>
          <p:cNvPr id="29" name="Shape 27"/>
          <p:cNvSpPr/>
          <p:nvPr/>
        </p:nvSpPr>
        <p:spPr>
          <a:xfrm>
            <a:off x="7680960" y="2542032"/>
            <a:ext cx="749808" cy="749808"/>
          </a:xfrm>
          <a:prstGeom prst="ellipse">
            <a:avLst/>
          </a:prstGeom>
          <a:solidFill>
            <a:srgbClr val="25D0B1">
              <a:alpha val="16000"/>
            </a:srgbClr>
          </a:solidFill>
          <a:ln w="12700">
            <a:solidFill>
              <a:srgbClr val="25D0B1"/>
            </a:solidFill>
            <a:prstDash val="solid"/>
          </a:ln>
        </p:spPr>
      </p:sp>
      <p:sp>
        <p:nvSpPr>
          <p:cNvPr id="30" name="Text 28"/>
          <p:cNvSpPr txBox="1"/>
          <p:nvPr/>
        </p:nvSpPr>
        <p:spPr>
          <a:xfrm>
            <a:off x="7680960" y="2724912"/>
            <a:ext cx="749808" cy="164592"/>
          </a:xfrm>
          <a:prstGeom prst="rect">
            <a:avLst/>
          </a:prstGeom>
          <a:noFill/>
          <a:ln/>
        </p:spPr>
        <p:txBody>
          <a:bodyPr wrap="square" lIns="0" tIns="0" rIns="0" bIns="0" rtlCol="0" anchor="ctr">
            <a:normAutofit/>
          </a:bodyPr>
          <a:lstStyle/>
          <a:p>
            <a:pPr algn="ctr" indent="0" marL="0">
              <a:buNone/>
            </a:pPr>
            <a:r>
              <a:rPr lang="en-US" sz="1000" b="1" dirty="0">
                <a:solidFill>
                  <a:srgbClr val="25D0B1"/>
                </a:solidFill>
                <a:latin typeface="Arial" pitchFamily="34" charset="0"/>
                <a:ea typeface="Arial" pitchFamily="34" charset="-122"/>
                <a:cs typeface="Arial" pitchFamily="34" charset="-120"/>
              </a:rPr>
              <a:t>t+1</a:t>
            </a:r>
            <a:endParaRPr lang="en-US" sz="1000" dirty="0"/>
          </a:p>
        </p:txBody>
      </p:sp>
      <p:sp>
        <p:nvSpPr>
          <p:cNvPr id="31" name="Text 29"/>
          <p:cNvSpPr txBox="1"/>
          <p:nvPr/>
        </p:nvSpPr>
        <p:spPr>
          <a:xfrm>
            <a:off x="7406640" y="3401568"/>
            <a:ext cx="1298448" cy="237744"/>
          </a:xfrm>
          <a:prstGeom prst="rect">
            <a:avLst/>
          </a:prstGeom>
          <a:noFill/>
          <a:ln/>
        </p:spPr>
        <p:txBody>
          <a:bodyPr wrap="square" lIns="0" tIns="0" rIns="0" bIns="0" rtlCol="0" anchor="ctr">
            <a:normAutofit/>
          </a:bodyPr>
          <a:lstStyle/>
          <a:p>
            <a:pPr algn="ctr" indent="0" marL="0">
              <a:buNone/>
            </a:pPr>
            <a:r>
              <a:rPr lang="en-US" sz="900" dirty="0">
                <a:solidFill>
                  <a:srgbClr val="91A0B8"/>
                </a:solidFill>
                <a:latin typeface="Arial" pitchFamily="34" charset="0"/>
                <a:ea typeface="Arial" pitchFamily="34" charset="-122"/>
                <a:cs typeface="Arial" pitchFamily="34" charset="-120"/>
              </a:rPr>
              <a:t>bP</a:t>
            </a:r>
            <a:endParaRPr lang="en-US" sz="900" dirty="0"/>
          </a:p>
        </p:txBody>
      </p:sp>
      <p:sp>
        <p:nvSpPr>
          <p:cNvPr id="32" name="Shape 30"/>
          <p:cNvSpPr/>
          <p:nvPr/>
        </p:nvSpPr>
        <p:spPr>
          <a:xfrm>
            <a:off x="8449056" y="2907792"/>
            <a:ext cx="374904" cy="0"/>
          </a:xfrm>
          <a:prstGeom prst="line">
            <a:avLst/>
          </a:prstGeom>
          <a:noFill/>
          <a:ln w="13970">
            <a:solidFill>
              <a:srgbClr val="2A3954"/>
            </a:solidFill>
            <a:prstDash val="solid"/>
            <a:headEnd type="none"/>
            <a:tailEnd type="triangle"/>
          </a:ln>
        </p:spPr>
      </p:sp>
      <p:sp>
        <p:nvSpPr>
          <p:cNvPr id="33" name="Shape 31"/>
          <p:cNvSpPr/>
          <p:nvPr/>
        </p:nvSpPr>
        <p:spPr>
          <a:xfrm>
            <a:off x="9052560" y="2542032"/>
            <a:ext cx="749808" cy="749808"/>
          </a:xfrm>
          <a:prstGeom prst="ellipse">
            <a:avLst/>
          </a:prstGeom>
          <a:solidFill>
            <a:srgbClr val="3CE28F">
              <a:alpha val="16000"/>
            </a:srgbClr>
          </a:solidFill>
          <a:ln w="12700">
            <a:solidFill>
              <a:srgbClr val="3CE28F"/>
            </a:solidFill>
            <a:prstDash val="solid"/>
          </a:ln>
        </p:spPr>
      </p:sp>
      <p:sp>
        <p:nvSpPr>
          <p:cNvPr id="34" name="Text 32"/>
          <p:cNvSpPr txBox="1"/>
          <p:nvPr/>
        </p:nvSpPr>
        <p:spPr>
          <a:xfrm>
            <a:off x="9052560" y="2724912"/>
            <a:ext cx="749808" cy="164592"/>
          </a:xfrm>
          <a:prstGeom prst="rect">
            <a:avLst/>
          </a:prstGeom>
          <a:noFill/>
          <a:ln/>
        </p:spPr>
        <p:txBody>
          <a:bodyPr wrap="square" lIns="0" tIns="0" rIns="0" bIns="0" rtlCol="0" anchor="ctr">
            <a:normAutofit/>
          </a:bodyPr>
          <a:lstStyle/>
          <a:p>
            <a:pPr algn="ctr" indent="0" marL="0">
              <a:buNone/>
            </a:pPr>
            <a:r>
              <a:rPr lang="en-US" sz="1000" b="1" dirty="0">
                <a:solidFill>
                  <a:srgbClr val="3CE28F"/>
                </a:solidFill>
                <a:latin typeface="Arial" pitchFamily="34" charset="0"/>
                <a:ea typeface="Arial" pitchFamily="34" charset="-122"/>
                <a:cs typeface="Arial" pitchFamily="34" charset="-120"/>
              </a:rPr>
              <a:t>t+2</a:t>
            </a:r>
            <a:endParaRPr lang="en-US" sz="1000" dirty="0"/>
          </a:p>
        </p:txBody>
      </p:sp>
      <p:sp>
        <p:nvSpPr>
          <p:cNvPr id="35" name="Text 33"/>
          <p:cNvSpPr txBox="1"/>
          <p:nvPr/>
        </p:nvSpPr>
        <p:spPr>
          <a:xfrm>
            <a:off x="8778240" y="3401568"/>
            <a:ext cx="1298448" cy="237744"/>
          </a:xfrm>
          <a:prstGeom prst="rect">
            <a:avLst/>
          </a:prstGeom>
          <a:noFill/>
          <a:ln/>
        </p:spPr>
        <p:txBody>
          <a:bodyPr wrap="square" lIns="0" tIns="0" rIns="0" bIns="0" rtlCol="0" anchor="ctr">
            <a:normAutofit/>
          </a:bodyPr>
          <a:lstStyle/>
          <a:p>
            <a:pPr algn="ctr" indent="0" marL="0">
              <a:buNone/>
            </a:pPr>
            <a:r>
              <a:rPr lang="en-US" sz="900" dirty="0">
                <a:solidFill>
                  <a:srgbClr val="91A0B8"/>
                </a:solidFill>
                <a:latin typeface="Arial" pitchFamily="34" charset="0"/>
                <a:ea typeface="Arial" pitchFamily="34" charset="-122"/>
                <a:cs typeface="Arial" pitchFamily="34" charset="-120"/>
              </a:rPr>
              <a:t>bP²</a:t>
            </a:r>
            <a:endParaRPr lang="en-US" sz="900" dirty="0"/>
          </a:p>
        </p:txBody>
      </p:sp>
      <p:sp>
        <p:nvSpPr>
          <p:cNvPr id="36" name="Shape 34"/>
          <p:cNvSpPr/>
          <p:nvPr/>
        </p:nvSpPr>
        <p:spPr>
          <a:xfrm>
            <a:off x="9820656" y="2907792"/>
            <a:ext cx="374904" cy="0"/>
          </a:xfrm>
          <a:prstGeom prst="line">
            <a:avLst/>
          </a:prstGeom>
          <a:noFill/>
          <a:ln w="13970">
            <a:solidFill>
              <a:srgbClr val="2A3954"/>
            </a:solidFill>
            <a:prstDash val="solid"/>
            <a:headEnd type="none"/>
            <a:tailEnd type="triangle"/>
          </a:ln>
        </p:spPr>
      </p:sp>
      <p:sp>
        <p:nvSpPr>
          <p:cNvPr id="37" name="Shape 35"/>
          <p:cNvSpPr/>
          <p:nvPr/>
        </p:nvSpPr>
        <p:spPr>
          <a:xfrm>
            <a:off x="10424160" y="2542032"/>
            <a:ext cx="749808" cy="749808"/>
          </a:xfrm>
          <a:prstGeom prst="ellipse">
            <a:avLst/>
          </a:prstGeom>
          <a:solidFill>
            <a:srgbClr val="F6C453">
              <a:alpha val="16000"/>
            </a:srgbClr>
          </a:solidFill>
          <a:ln w="12700">
            <a:solidFill>
              <a:srgbClr val="F6C453"/>
            </a:solidFill>
            <a:prstDash val="solid"/>
          </a:ln>
        </p:spPr>
      </p:sp>
      <p:sp>
        <p:nvSpPr>
          <p:cNvPr id="38" name="Text 36"/>
          <p:cNvSpPr txBox="1"/>
          <p:nvPr/>
        </p:nvSpPr>
        <p:spPr>
          <a:xfrm>
            <a:off x="10424160" y="2724912"/>
            <a:ext cx="749808" cy="164592"/>
          </a:xfrm>
          <a:prstGeom prst="rect">
            <a:avLst/>
          </a:prstGeom>
          <a:noFill/>
          <a:ln/>
        </p:spPr>
        <p:txBody>
          <a:bodyPr wrap="square" lIns="0" tIns="0" rIns="0" bIns="0" rtlCol="0" anchor="ctr">
            <a:normAutofit/>
          </a:bodyPr>
          <a:lstStyle/>
          <a:p>
            <a:pPr algn="ctr" indent="0" marL="0">
              <a:buNone/>
            </a:pPr>
            <a:r>
              <a:rPr lang="en-US" sz="1000" b="1" dirty="0">
                <a:solidFill>
                  <a:srgbClr val="F6C453"/>
                </a:solidFill>
                <a:latin typeface="Arial" pitchFamily="34" charset="0"/>
                <a:ea typeface="Arial" pitchFamily="34" charset="-122"/>
                <a:cs typeface="Arial" pitchFamily="34" charset="-120"/>
              </a:rPr>
              <a:t>...</a:t>
            </a:r>
            <a:endParaRPr lang="en-US" sz="1000" dirty="0"/>
          </a:p>
        </p:txBody>
      </p:sp>
      <p:sp>
        <p:nvSpPr>
          <p:cNvPr id="39" name="Text 37"/>
          <p:cNvSpPr txBox="1"/>
          <p:nvPr/>
        </p:nvSpPr>
        <p:spPr>
          <a:xfrm>
            <a:off x="10149840" y="3401568"/>
            <a:ext cx="1298448" cy="237744"/>
          </a:xfrm>
          <a:prstGeom prst="rect">
            <a:avLst/>
          </a:prstGeom>
          <a:noFill/>
          <a:ln/>
        </p:spPr>
        <p:txBody>
          <a:bodyPr wrap="square" lIns="0" tIns="0" rIns="0" bIns="0" rtlCol="0" anchor="ctr">
            <a:normAutofit/>
          </a:bodyPr>
          <a:lstStyle/>
          <a:p>
            <a:pPr algn="ctr" indent="0" marL="0">
              <a:buNone/>
            </a:pPr>
            <a:r>
              <a:rPr lang="en-US" sz="900" dirty="0">
                <a:solidFill>
                  <a:srgbClr val="91A0B8"/>
                </a:solidFill>
                <a:latin typeface="Arial" pitchFamily="34" charset="0"/>
                <a:ea typeface="Arial" pitchFamily="34" charset="-122"/>
                <a:cs typeface="Arial" pitchFamily="34" charset="-120"/>
              </a:rPr>
              <a:t>until deadline</a:t>
            </a:r>
            <a:endParaRPr lang="en-US" sz="900" dirty="0"/>
          </a:p>
        </p:txBody>
      </p:sp>
      <p:sp>
        <p:nvSpPr>
          <p:cNvPr id="40" name="Text 38"/>
          <p:cNvSpPr txBox="1"/>
          <p:nvPr/>
        </p:nvSpPr>
        <p:spPr>
          <a:xfrm>
            <a:off x="6263640" y="4005072"/>
            <a:ext cx="1143000" cy="201168"/>
          </a:xfrm>
          <a:prstGeom prst="rect">
            <a:avLst/>
          </a:prstGeom>
          <a:noFill/>
          <a:ln/>
        </p:spPr>
        <p:txBody>
          <a:bodyPr wrap="square" lIns="0" tIns="0" rIns="0" bIns="0" rtlCol="0" anchor="ctr">
            <a:normAutofit/>
          </a:bodyPr>
          <a:lstStyle/>
          <a:p>
            <a:pPr algn="l" indent="0" marL="0">
              <a:buNone/>
            </a:pPr>
            <a:r>
              <a:rPr lang="en-US" sz="1100" b="1" dirty="0">
                <a:solidFill>
                  <a:srgbClr val="3CE28F"/>
                </a:solidFill>
                <a:latin typeface="Arial" pitchFamily="34" charset="0"/>
                <a:ea typeface="Arial" pitchFamily="34" charset="-122"/>
                <a:cs typeface="Arial" pitchFamily="34" charset="-120"/>
              </a:rPr>
              <a:t>Progress model</a:t>
            </a:r>
            <a:endParaRPr lang="en-US" sz="1100" dirty="0"/>
          </a:p>
        </p:txBody>
      </p:sp>
      <p:sp>
        <p:nvSpPr>
          <p:cNvPr id="41" name="Text 39"/>
          <p:cNvSpPr txBox="1"/>
          <p:nvPr/>
        </p:nvSpPr>
        <p:spPr>
          <a:xfrm>
            <a:off x="6263640" y="4352544"/>
            <a:ext cx="4526280" cy="237744"/>
          </a:xfrm>
          <a:prstGeom prst="rect">
            <a:avLst/>
          </a:prstGeom>
          <a:noFill/>
          <a:ln/>
        </p:spPr>
        <p:txBody>
          <a:bodyPr wrap="square" lIns="0" tIns="0" rIns="0" bIns="0" rtlCol="0" anchor="ctr">
            <a:normAutofit/>
          </a:bodyPr>
          <a:lstStyle/>
          <a:p>
            <a:pPr algn="ctr" indent="0" marL="0">
              <a:buNone/>
            </a:pPr>
            <a:r>
              <a:rPr lang="en-US" sz="1050" dirty="0">
                <a:solidFill>
                  <a:srgbClr val="D5DEEC"/>
                </a:solidFill>
                <a:latin typeface="Arial" pitchFamily="34" charset="0"/>
                <a:ea typeface="Arial" pitchFamily="34" charset="-122"/>
                <a:cs typeface="Arial" pitchFamily="34" charset="-120"/>
              </a:rPr>
              <a:t>Healthy: progress every tick     Degraded: stochastic progress     Down: no progress</a:t>
            </a:r>
            <a:endParaRPr lang="en-US" sz="1050" dirty="0"/>
          </a:p>
        </p:txBody>
      </p:sp>
      <p:sp>
        <p:nvSpPr>
          <p:cNvPr id="42" name="Text 40"/>
          <p:cNvSpPr txBox="1"/>
          <p:nvPr/>
        </p:nvSpPr>
        <p:spPr>
          <a:xfrm>
            <a:off x="6263640" y="4983480"/>
            <a:ext cx="4526280" cy="256032"/>
          </a:xfrm>
          <a:prstGeom prst="rect">
            <a:avLst/>
          </a:prstGeom>
          <a:noFill/>
          <a:ln/>
        </p:spPr>
        <p:txBody>
          <a:bodyPr wrap="square" lIns="0" tIns="0" rIns="0" bIns="0" rtlCol="0" anchor="ctr">
            <a:normAutofit/>
          </a:bodyPr>
          <a:lstStyle/>
          <a:p>
            <a:pPr algn="ctr" indent="0" marL="0">
              <a:buNone/>
            </a:pPr>
            <a:r>
              <a:rPr lang="en-US" sz="1120" b="1" dirty="0">
                <a:solidFill>
                  <a:srgbClr val="F6F8FC"/>
                </a:solidFill>
                <a:latin typeface="Arial" pitchFamily="34" charset="0"/>
                <a:ea typeface="Arial" pitchFamily="34" charset="-122"/>
                <a:cs typeface="Arial" pitchFamily="34" charset="-120"/>
              </a:rPr>
              <a:t>Finite horizon: simulate only until the task deadline, not an infinite horizon.</a:t>
            </a:r>
            <a:endParaRPr lang="en-US" sz="112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ALGORITHM COMPONENT 3</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Dual continuation semantics: pending is not running</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Waiting for a pending task costs holding penalty; staying with a running task preserves progress.</a:t>
            </a:r>
            <a:endParaRPr lang="en-US" sz="1200" dirty="0"/>
          </a:p>
        </p:txBody>
      </p:sp>
      <p:sp>
        <p:nvSpPr>
          <p:cNvPr id="5" name="Shape 3"/>
          <p:cNvSpPr/>
          <p:nvPr/>
        </p:nvSpPr>
        <p:spPr>
          <a:xfrm>
            <a:off x="530352" y="1627632"/>
            <a:ext cx="5440680" cy="4407408"/>
          </a:xfrm>
          <a:prstGeom prst="roundRect">
            <a:avLst>
              <a:gd name="adj" fmla="val 2490"/>
            </a:avLst>
          </a:prstGeom>
          <a:solidFill>
            <a:srgbClr val="101827"/>
          </a:solidFill>
          <a:ln w="12700">
            <a:solidFill>
              <a:srgbClr val="40D9FF"/>
            </a:solidFill>
            <a:prstDash val="solid"/>
          </a:ln>
        </p:spPr>
      </p:sp>
      <p:sp>
        <p:nvSpPr>
          <p:cNvPr id="6" name="Shape 4"/>
          <p:cNvSpPr/>
          <p:nvPr/>
        </p:nvSpPr>
        <p:spPr>
          <a:xfrm>
            <a:off x="777240" y="1847088"/>
            <a:ext cx="1133856"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7" name="Text 5"/>
          <p:cNvSpPr txBox="1"/>
          <p:nvPr/>
        </p:nvSpPr>
        <p:spPr>
          <a:xfrm>
            <a:off x="832104" y="1888236"/>
            <a:ext cx="1024128"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PENDING TASK</a:t>
            </a:r>
            <a:endParaRPr lang="en-US" sz="810" dirty="0"/>
          </a:p>
        </p:txBody>
      </p:sp>
      <p:sp>
        <p:nvSpPr>
          <p:cNvPr id="8" name="Text 6"/>
          <p:cNvSpPr txBox="1"/>
          <p:nvPr/>
        </p:nvSpPr>
        <p:spPr>
          <a:xfrm>
            <a:off x="960120" y="2359152"/>
            <a:ext cx="4407408" cy="310896"/>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COMMIT vs HOLD</a:t>
            </a:r>
            <a:endParaRPr lang="en-US" sz="2000" dirty="0"/>
          </a:p>
        </p:txBody>
      </p:sp>
      <p:sp>
        <p:nvSpPr>
          <p:cNvPr id="9" name="Text 7"/>
          <p:cNvSpPr txBox="1"/>
          <p:nvPr/>
        </p:nvSpPr>
        <p:spPr>
          <a:xfrm>
            <a:off x="960120" y="2907792"/>
            <a:ext cx="4407408" cy="310896"/>
          </a:xfrm>
          <a:prstGeom prst="rect">
            <a:avLst/>
          </a:prstGeom>
          <a:noFill/>
          <a:ln/>
        </p:spPr>
        <p:txBody>
          <a:bodyPr wrap="square" lIns="0" tIns="0" rIns="0" bIns="0" rtlCol="0" anchor="ctr">
            <a:normAutofit/>
          </a:bodyPr>
          <a:lstStyle/>
          <a:p>
            <a:pPr algn="ctr" indent="0" marL="0">
              <a:buNone/>
            </a:pPr>
            <a:r>
              <a:rPr lang="en-US" sz="1700" b="1" dirty="0">
                <a:solidFill>
                  <a:srgbClr val="40D9FF"/>
                </a:solidFill>
                <a:latin typeface="Arial" pitchFamily="34" charset="0"/>
                <a:ea typeface="Arial" pitchFamily="34" charset="-122"/>
                <a:cs typeface="Arial" pitchFamily="34" charset="-120"/>
              </a:rPr>
              <a:t>Cₖ(t) = maxⱼ Q(k,j)</a:t>
            </a:r>
            <a:endParaRPr lang="en-US" sz="1700" dirty="0"/>
          </a:p>
        </p:txBody>
      </p:sp>
      <p:sp>
        <p:nvSpPr>
          <p:cNvPr id="10" name="Text 8"/>
          <p:cNvSpPr txBox="1"/>
          <p:nvPr/>
        </p:nvSpPr>
        <p:spPr>
          <a:xfrm>
            <a:off x="960120" y="3346704"/>
            <a:ext cx="4407408" cy="310896"/>
          </a:xfrm>
          <a:prstGeom prst="rect">
            <a:avLst/>
          </a:prstGeom>
          <a:noFill/>
          <a:ln/>
        </p:spPr>
        <p:txBody>
          <a:bodyPr wrap="square" lIns="0" tIns="0" rIns="0" bIns="0" rtlCol="0" anchor="ctr">
            <a:normAutofit/>
          </a:bodyPr>
          <a:lstStyle/>
          <a:p>
            <a:pPr algn="ctr" indent="0" marL="0">
              <a:buNone/>
            </a:pPr>
            <a:r>
              <a:rPr lang="en-US" sz="1600" b="1" dirty="0">
                <a:solidFill>
                  <a:srgbClr val="25D0B1"/>
                </a:solidFill>
                <a:latin typeface="Arial" pitchFamily="34" charset="0"/>
                <a:ea typeface="Arial" pitchFamily="34" charset="-122"/>
                <a:cs typeface="Arial" pitchFamily="34" charset="-120"/>
              </a:rPr>
              <a:t>Hₖ(t) = −0.01 + E[Vₖ(t+1)]</a:t>
            </a:r>
            <a:endParaRPr lang="en-US" sz="1600" dirty="0"/>
          </a:p>
        </p:txBody>
      </p:sp>
      <p:sp>
        <p:nvSpPr>
          <p:cNvPr id="11" name="Shape 9"/>
          <p:cNvSpPr/>
          <p:nvPr/>
        </p:nvSpPr>
        <p:spPr>
          <a:xfrm>
            <a:off x="822960" y="3886200"/>
            <a:ext cx="4754880" cy="0"/>
          </a:xfrm>
          <a:prstGeom prst="line">
            <a:avLst/>
          </a:prstGeom>
          <a:noFill/>
          <a:ln w="12700">
            <a:solidFill>
              <a:srgbClr val="2A3954"/>
            </a:solidFill>
            <a:prstDash val="solid"/>
          </a:ln>
        </p:spPr>
      </p:sp>
      <p:sp>
        <p:nvSpPr>
          <p:cNvPr id="12" name="Text 10"/>
          <p:cNvSpPr txBox="1"/>
          <p:nvPr/>
        </p:nvSpPr>
        <p:spPr>
          <a:xfrm>
            <a:off x="950976" y="4151376"/>
            <a:ext cx="1051560" cy="201168"/>
          </a:xfrm>
          <a:prstGeom prst="rect">
            <a:avLst/>
          </a:prstGeom>
          <a:noFill/>
          <a:ln/>
        </p:spPr>
        <p:txBody>
          <a:bodyPr wrap="square" lIns="0" tIns="0" rIns="0" bIns="0" rtlCol="0" anchor="ctr">
            <a:normAutofit/>
          </a:bodyPr>
          <a:lstStyle/>
          <a:p>
            <a:pPr algn="l" indent="0" marL="0">
              <a:buNone/>
            </a:pPr>
            <a:r>
              <a:rPr lang="en-US" sz="1000" b="1" dirty="0">
                <a:solidFill>
                  <a:srgbClr val="91A0B8"/>
                </a:solidFill>
                <a:latin typeface="Arial" pitchFamily="34" charset="0"/>
                <a:ea typeface="Arial" pitchFamily="34" charset="-122"/>
                <a:cs typeface="Arial" pitchFamily="34" charset="-120"/>
              </a:rPr>
              <a:t>Decision rule</a:t>
            </a:r>
            <a:endParaRPr lang="en-US" sz="1000" dirty="0"/>
          </a:p>
        </p:txBody>
      </p:sp>
      <p:sp>
        <p:nvSpPr>
          <p:cNvPr id="13" name="Text 11"/>
          <p:cNvSpPr txBox="1"/>
          <p:nvPr/>
        </p:nvSpPr>
        <p:spPr>
          <a:xfrm>
            <a:off x="2103120" y="4032504"/>
            <a:ext cx="2971800" cy="640080"/>
          </a:xfrm>
          <a:prstGeom prst="rect">
            <a:avLst/>
          </a:prstGeom>
          <a:noFill/>
          <a:ln/>
        </p:spPr>
        <p:txBody>
          <a:bodyPr wrap="square" lIns="0" tIns="0" rIns="0" bIns="0" rtlCol="0" anchor="ctr">
            <a:normAutofit/>
          </a:bodyPr>
          <a:lstStyle/>
          <a:p>
            <a:pPr algn="ctr" indent="0" marL="0">
              <a:buNone/>
            </a:pPr>
            <a:r>
              <a:rPr lang="en-US" sz="1500" b="1" dirty="0">
                <a:solidFill>
                  <a:srgbClr val="F6F8FC"/>
                </a:solidFill>
                <a:latin typeface="Arial" pitchFamily="34" charset="0"/>
                <a:ea typeface="Arial" pitchFamily="34" charset="-122"/>
                <a:cs typeface="Arial" pitchFamily="34" charset="-120"/>
              </a:rPr>
              <a:t>if Cₖ &gt; Hₖ → COMMIT</a:t>
            </a:r>
            <a:endParaRPr lang="en-US" sz="1500" dirty="0"/>
          </a:p>
          <a:p>
            <a:pPr algn="ctr" indent="0" marL="0">
              <a:buNone/>
            </a:pPr>
            <a:r>
              <a:rPr lang="en-US" sz="1500" b="1" dirty="0">
                <a:solidFill>
                  <a:srgbClr val="F6F8FC"/>
                </a:solidFill>
                <a:latin typeface="Arial" pitchFamily="34" charset="0"/>
                <a:ea typeface="Arial" pitchFamily="34" charset="-122"/>
                <a:cs typeface="Arial" pitchFamily="34" charset="-120"/>
              </a:rPr>
              <a:t>else → HOLD one step</a:t>
            </a:r>
            <a:endParaRPr lang="en-US" sz="1500" dirty="0"/>
          </a:p>
        </p:txBody>
      </p:sp>
      <p:sp>
        <p:nvSpPr>
          <p:cNvPr id="14" name="Text 12"/>
          <p:cNvSpPr txBox="1"/>
          <p:nvPr/>
        </p:nvSpPr>
        <p:spPr>
          <a:xfrm>
            <a:off x="960120" y="5029200"/>
            <a:ext cx="4370832" cy="402336"/>
          </a:xfrm>
          <a:prstGeom prst="rect">
            <a:avLst/>
          </a:prstGeom>
          <a:noFill/>
          <a:ln/>
        </p:spPr>
        <p:txBody>
          <a:bodyPr wrap="square" lIns="0" tIns="0" rIns="0" bIns="0" rtlCol="0" anchor="ctr">
            <a:normAutofit/>
          </a:bodyPr>
          <a:lstStyle/>
          <a:p>
            <a:pPr algn="ctr" indent="0" marL="0">
              <a:buNone/>
            </a:pPr>
            <a:r>
              <a:rPr lang="en-US" sz="1100" dirty="0">
                <a:solidFill>
                  <a:srgbClr val="D5DEEC"/>
                </a:solidFill>
                <a:latin typeface="Arial" pitchFamily="34" charset="0"/>
                <a:ea typeface="Arial" pitchFamily="34" charset="-122"/>
                <a:cs typeface="Arial" pitchFamily="34" charset="-120"/>
              </a:rPr>
              <a:t>As slack shrinks, holding value falls and commitment becomes urgent.</a:t>
            </a:r>
            <a:endParaRPr lang="en-US" sz="1100" dirty="0"/>
          </a:p>
        </p:txBody>
      </p:sp>
      <p:sp>
        <p:nvSpPr>
          <p:cNvPr id="15" name="Shape 13"/>
          <p:cNvSpPr/>
          <p:nvPr/>
        </p:nvSpPr>
        <p:spPr>
          <a:xfrm>
            <a:off x="6217920" y="1627632"/>
            <a:ext cx="5440680" cy="4407408"/>
          </a:xfrm>
          <a:prstGeom prst="roundRect">
            <a:avLst>
              <a:gd name="adj" fmla="val 2490"/>
            </a:avLst>
          </a:prstGeom>
          <a:solidFill>
            <a:srgbClr val="101827"/>
          </a:solidFill>
          <a:ln w="12700">
            <a:solidFill>
              <a:srgbClr val="25D0B1"/>
            </a:solidFill>
            <a:prstDash val="solid"/>
          </a:ln>
        </p:spPr>
      </p:sp>
      <p:sp>
        <p:nvSpPr>
          <p:cNvPr id="16" name="Shape 14"/>
          <p:cNvSpPr/>
          <p:nvPr/>
        </p:nvSpPr>
        <p:spPr>
          <a:xfrm>
            <a:off x="6464808" y="1847088"/>
            <a:ext cx="1115568" cy="274320"/>
          </a:xfrm>
          <a:prstGeom prst="roundRect">
            <a:avLst>
              <a:gd name="adj" fmla="val 46667"/>
            </a:avLst>
          </a:prstGeom>
          <a:solidFill>
            <a:srgbClr val="25D0B1">
              <a:alpha val="14000"/>
            </a:srgbClr>
          </a:solidFill>
          <a:ln w="11430">
            <a:solidFill>
              <a:srgbClr val="25D0B1">
                <a:alpha val="65000"/>
              </a:srgbClr>
            </a:solidFill>
            <a:prstDash val="solid"/>
          </a:ln>
        </p:spPr>
      </p:sp>
      <p:sp>
        <p:nvSpPr>
          <p:cNvPr id="17" name="Text 15"/>
          <p:cNvSpPr txBox="1"/>
          <p:nvPr/>
        </p:nvSpPr>
        <p:spPr>
          <a:xfrm>
            <a:off x="6519672" y="1888236"/>
            <a:ext cx="1005840" cy="164592"/>
          </a:xfrm>
          <a:prstGeom prst="rect">
            <a:avLst/>
          </a:prstGeom>
          <a:noFill/>
          <a:ln/>
        </p:spPr>
        <p:txBody>
          <a:bodyPr wrap="square" lIns="0" tIns="0" rIns="0" bIns="0" rtlCol="0" anchor="ctr">
            <a:normAutofit/>
          </a:bodyPr>
          <a:lstStyle/>
          <a:p>
            <a:pPr algn="ctr" indent="0" marL="0">
              <a:buNone/>
            </a:pPr>
            <a:r>
              <a:rPr lang="en-US" sz="810" b="1" dirty="0">
                <a:solidFill>
                  <a:srgbClr val="25D0B1"/>
                </a:solidFill>
                <a:latin typeface="Arial" pitchFamily="34" charset="0"/>
                <a:ea typeface="Arial" pitchFamily="34" charset="-122"/>
                <a:cs typeface="Arial" pitchFamily="34" charset="-120"/>
              </a:rPr>
              <a:t>RUNNING TASK</a:t>
            </a:r>
            <a:endParaRPr lang="en-US" sz="810" dirty="0"/>
          </a:p>
        </p:txBody>
      </p:sp>
      <p:sp>
        <p:nvSpPr>
          <p:cNvPr id="18" name="Text 16"/>
          <p:cNvSpPr txBox="1"/>
          <p:nvPr/>
        </p:nvSpPr>
        <p:spPr>
          <a:xfrm>
            <a:off x="6647688" y="2359152"/>
            <a:ext cx="4407408" cy="310896"/>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STAY vs REROUTE</a:t>
            </a:r>
            <a:endParaRPr lang="en-US" sz="2000" dirty="0"/>
          </a:p>
        </p:txBody>
      </p:sp>
      <p:sp>
        <p:nvSpPr>
          <p:cNvPr id="19" name="Text 17"/>
          <p:cNvSpPr txBox="1"/>
          <p:nvPr/>
        </p:nvSpPr>
        <p:spPr>
          <a:xfrm>
            <a:off x="6647688" y="2907792"/>
            <a:ext cx="4407408" cy="310896"/>
          </a:xfrm>
          <a:prstGeom prst="rect">
            <a:avLst/>
          </a:prstGeom>
          <a:noFill/>
          <a:ln/>
        </p:spPr>
        <p:txBody>
          <a:bodyPr wrap="square" lIns="0" tIns="0" rIns="0" bIns="0" rtlCol="0" anchor="ctr">
            <a:normAutofit/>
          </a:bodyPr>
          <a:lstStyle/>
          <a:p>
            <a:pPr algn="ctr" indent="0" marL="0">
              <a:buNone/>
            </a:pPr>
            <a:r>
              <a:rPr lang="en-US" sz="1550" b="1" dirty="0">
                <a:solidFill>
                  <a:srgbClr val="25D0B1"/>
                </a:solidFill>
                <a:latin typeface="Arial" pitchFamily="34" charset="0"/>
                <a:ea typeface="Arial" pitchFamily="34" charset="-122"/>
                <a:cs typeface="Arial" pitchFamily="34" charset="-120"/>
              </a:rPr>
              <a:t>Q_stay = Q(k,current, remaining_d)</a:t>
            </a:r>
            <a:endParaRPr lang="en-US" sz="1550" dirty="0"/>
          </a:p>
        </p:txBody>
      </p:sp>
      <p:sp>
        <p:nvSpPr>
          <p:cNvPr id="20" name="Text 18"/>
          <p:cNvSpPr txBox="1"/>
          <p:nvPr/>
        </p:nvSpPr>
        <p:spPr>
          <a:xfrm>
            <a:off x="6647688" y="3346704"/>
            <a:ext cx="4407408" cy="310896"/>
          </a:xfrm>
          <a:prstGeom prst="rect">
            <a:avLst/>
          </a:prstGeom>
          <a:noFill/>
          <a:ln/>
        </p:spPr>
        <p:txBody>
          <a:bodyPr wrap="square" lIns="0" tIns="0" rIns="0" bIns="0" rtlCol="0" anchor="ctr">
            <a:normAutofit/>
          </a:bodyPr>
          <a:lstStyle/>
          <a:p>
            <a:pPr algn="ctr" indent="0" marL="0">
              <a:buNone/>
            </a:pPr>
            <a:r>
              <a:rPr lang="en-US" sz="1550" b="1" dirty="0">
                <a:solidFill>
                  <a:srgbClr val="F6C453"/>
                </a:solidFill>
                <a:latin typeface="Arial" pitchFamily="34" charset="0"/>
                <a:ea typeface="Arial" pitchFamily="34" charset="-122"/>
                <a:cs typeface="Arial" pitchFamily="34" charset="-120"/>
              </a:rPr>
              <a:t>Q_reroute = max Q(k,j, d_orig)</a:t>
            </a:r>
            <a:endParaRPr lang="en-US" sz="1550" dirty="0"/>
          </a:p>
        </p:txBody>
      </p:sp>
      <p:sp>
        <p:nvSpPr>
          <p:cNvPr id="21" name="Shape 19"/>
          <p:cNvSpPr/>
          <p:nvPr/>
        </p:nvSpPr>
        <p:spPr>
          <a:xfrm>
            <a:off x="6510528" y="3886200"/>
            <a:ext cx="4754880" cy="0"/>
          </a:xfrm>
          <a:prstGeom prst="line">
            <a:avLst/>
          </a:prstGeom>
          <a:noFill/>
          <a:ln w="12700">
            <a:solidFill>
              <a:srgbClr val="2A3954"/>
            </a:solidFill>
            <a:prstDash val="solid"/>
          </a:ln>
        </p:spPr>
      </p:sp>
      <p:sp>
        <p:nvSpPr>
          <p:cNvPr id="22" name="Text 20"/>
          <p:cNvSpPr txBox="1"/>
          <p:nvPr/>
        </p:nvSpPr>
        <p:spPr>
          <a:xfrm>
            <a:off x="6675120" y="4151376"/>
            <a:ext cx="1444752" cy="201168"/>
          </a:xfrm>
          <a:prstGeom prst="rect">
            <a:avLst/>
          </a:prstGeom>
          <a:noFill/>
          <a:ln/>
        </p:spPr>
        <p:txBody>
          <a:bodyPr wrap="square" lIns="0" tIns="0" rIns="0" bIns="0" rtlCol="0" anchor="ctr">
            <a:normAutofit/>
          </a:bodyPr>
          <a:lstStyle/>
          <a:p>
            <a:pPr algn="l" indent="0" marL="0">
              <a:buNone/>
            </a:pPr>
            <a:r>
              <a:rPr lang="en-US" sz="1000" b="1" dirty="0">
                <a:solidFill>
                  <a:srgbClr val="F6C453"/>
                </a:solidFill>
                <a:latin typeface="Arial" pitchFamily="34" charset="0"/>
                <a:ea typeface="Arial" pitchFamily="34" charset="-122"/>
                <a:cs typeface="Arial" pitchFamily="34" charset="-120"/>
              </a:rPr>
              <a:t>Cold restart barrier</a:t>
            </a:r>
            <a:endParaRPr lang="en-US" sz="1000" dirty="0"/>
          </a:p>
        </p:txBody>
      </p:sp>
      <p:sp>
        <p:nvSpPr>
          <p:cNvPr id="23" name="Shape 21"/>
          <p:cNvSpPr/>
          <p:nvPr/>
        </p:nvSpPr>
        <p:spPr>
          <a:xfrm>
            <a:off x="8211312" y="4160520"/>
            <a:ext cx="2414016" cy="256032"/>
          </a:xfrm>
          <a:prstGeom prst="rect">
            <a:avLst/>
          </a:prstGeom>
          <a:solidFill>
            <a:srgbClr val="26364A"/>
          </a:solidFill>
          <a:ln w="12700">
            <a:solidFill>
              <a:srgbClr val="2A3954"/>
            </a:solidFill>
            <a:prstDash val="solid"/>
          </a:ln>
        </p:spPr>
      </p:sp>
      <p:sp>
        <p:nvSpPr>
          <p:cNvPr id="24" name="Shape 22"/>
          <p:cNvSpPr/>
          <p:nvPr/>
        </p:nvSpPr>
        <p:spPr>
          <a:xfrm>
            <a:off x="8211312" y="4160520"/>
            <a:ext cx="1682496" cy="256032"/>
          </a:xfrm>
          <a:prstGeom prst="rect">
            <a:avLst/>
          </a:prstGeom>
          <a:solidFill>
            <a:srgbClr val="3CE28F"/>
          </a:solidFill>
          <a:ln w="12700">
            <a:solidFill>
              <a:srgbClr val="3CE28F"/>
            </a:solidFill>
            <a:prstDash val="solid"/>
          </a:ln>
        </p:spPr>
      </p:sp>
      <p:sp>
        <p:nvSpPr>
          <p:cNvPr id="25" name="Text 23"/>
          <p:cNvSpPr txBox="1"/>
          <p:nvPr/>
        </p:nvSpPr>
        <p:spPr>
          <a:xfrm>
            <a:off x="8449056" y="4197096"/>
            <a:ext cx="1207008" cy="128016"/>
          </a:xfrm>
          <a:prstGeom prst="rect">
            <a:avLst/>
          </a:prstGeom>
          <a:noFill/>
          <a:ln/>
        </p:spPr>
        <p:txBody>
          <a:bodyPr wrap="square" lIns="0" tIns="0" rIns="0" bIns="0" rtlCol="0" anchor="ctr">
            <a:normAutofit/>
          </a:bodyPr>
          <a:lstStyle/>
          <a:p>
            <a:pPr algn="ctr" indent="0" marL="0">
              <a:buNone/>
            </a:pPr>
            <a:r>
              <a:rPr lang="en-US" sz="800" b="1" dirty="0">
                <a:solidFill>
                  <a:srgbClr val="070B16"/>
                </a:solidFill>
                <a:latin typeface="Arial" pitchFamily="34" charset="0"/>
                <a:ea typeface="Arial" pitchFamily="34" charset="-122"/>
                <a:cs typeface="Arial" pitchFamily="34" charset="-120"/>
              </a:rPr>
              <a:t>earned progress</a:t>
            </a:r>
            <a:endParaRPr lang="en-US" sz="800" dirty="0"/>
          </a:p>
        </p:txBody>
      </p:sp>
      <p:sp>
        <p:nvSpPr>
          <p:cNvPr id="26" name="Shape 24"/>
          <p:cNvSpPr/>
          <p:nvPr/>
        </p:nvSpPr>
        <p:spPr>
          <a:xfrm>
            <a:off x="10716768" y="4279392"/>
            <a:ext cx="329184" cy="0"/>
          </a:xfrm>
          <a:prstGeom prst="line">
            <a:avLst/>
          </a:prstGeom>
          <a:noFill/>
          <a:ln w="12700">
            <a:solidFill>
              <a:srgbClr val="FF637D"/>
            </a:solidFill>
            <a:prstDash val="solid"/>
            <a:headEnd type="none"/>
            <a:tailEnd type="triangle"/>
          </a:ln>
        </p:spPr>
      </p:sp>
      <p:sp>
        <p:nvSpPr>
          <p:cNvPr id="27" name="Text 25"/>
          <p:cNvSpPr txBox="1"/>
          <p:nvPr/>
        </p:nvSpPr>
        <p:spPr>
          <a:xfrm>
            <a:off x="10698480" y="4480560"/>
            <a:ext cx="384048" cy="146304"/>
          </a:xfrm>
          <a:prstGeom prst="rect">
            <a:avLst/>
          </a:prstGeom>
          <a:noFill/>
          <a:ln/>
        </p:spPr>
        <p:txBody>
          <a:bodyPr wrap="square" lIns="0" tIns="0" rIns="0" bIns="0" rtlCol="0" anchor="ctr">
            <a:normAutofit/>
          </a:bodyPr>
          <a:lstStyle/>
          <a:p>
            <a:pPr algn="ctr" indent="0" marL="0">
              <a:buNone/>
            </a:pPr>
            <a:r>
              <a:rPr lang="en-US" sz="800" dirty="0">
                <a:solidFill>
                  <a:srgbClr val="FF637D"/>
                </a:solidFill>
                <a:latin typeface="Arial" pitchFamily="34" charset="0"/>
                <a:ea typeface="Arial" pitchFamily="34" charset="-122"/>
                <a:cs typeface="Arial" pitchFamily="34" charset="-120"/>
              </a:rPr>
              <a:t>reset</a:t>
            </a:r>
            <a:endParaRPr lang="en-US" sz="800" dirty="0"/>
          </a:p>
        </p:txBody>
      </p:sp>
      <p:sp>
        <p:nvSpPr>
          <p:cNvPr id="28" name="Text 26"/>
          <p:cNvSpPr txBox="1"/>
          <p:nvPr/>
        </p:nvSpPr>
        <p:spPr>
          <a:xfrm>
            <a:off x="6748272" y="5029200"/>
            <a:ext cx="4224528" cy="402336"/>
          </a:xfrm>
          <a:prstGeom prst="rect">
            <a:avLst/>
          </a:prstGeom>
          <a:noFill/>
          <a:ln/>
        </p:spPr>
        <p:txBody>
          <a:bodyPr wrap="square" lIns="0" tIns="0" rIns="0" bIns="0" rtlCol="0" anchor="ctr">
            <a:normAutofit/>
          </a:bodyPr>
          <a:lstStyle/>
          <a:p>
            <a:pPr algn="ctr" indent="0" marL="0">
              <a:buNone/>
            </a:pPr>
            <a:r>
              <a:rPr lang="en-US" sz="1100" dirty="0">
                <a:solidFill>
                  <a:srgbClr val="D5DEEC"/>
                </a:solidFill>
                <a:latin typeface="Arial" pitchFamily="34" charset="0"/>
                <a:ea typeface="Arial" pitchFamily="34" charset="-122"/>
                <a:cs typeface="Arial" pitchFamily="34" charset="-120"/>
              </a:rPr>
              <a:t>Reroute only when the completion benefit exceeds progress loss.</a:t>
            </a:r>
            <a:endParaRPr lang="en-US" sz="11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ALGORITHM COMPONENT 4</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Capacity-constrained allocation: HOLD competes with bad nodes</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ACT first decides whether a task deserves commitment, then allocates scarce node slots.</a:t>
            </a:r>
            <a:endParaRPr lang="en-US" sz="1200" dirty="0"/>
          </a:p>
        </p:txBody>
      </p:sp>
      <p:sp>
        <p:nvSpPr>
          <p:cNvPr id="5" name="Shape 3"/>
          <p:cNvSpPr/>
          <p:nvPr/>
        </p:nvSpPr>
        <p:spPr>
          <a:xfrm>
            <a:off x="566928" y="1664208"/>
            <a:ext cx="5212080" cy="4334256"/>
          </a:xfrm>
          <a:prstGeom prst="roundRect">
            <a:avLst>
              <a:gd name="adj" fmla="val 2532"/>
            </a:avLst>
          </a:prstGeom>
          <a:solidFill>
            <a:srgbClr val="101827"/>
          </a:solidFill>
          <a:ln w="12700">
            <a:solidFill>
              <a:srgbClr val="F6C453"/>
            </a:solidFill>
            <a:prstDash val="solid"/>
          </a:ln>
        </p:spPr>
      </p:sp>
      <p:sp>
        <p:nvSpPr>
          <p:cNvPr id="6" name="Shape 4"/>
          <p:cNvSpPr/>
          <p:nvPr/>
        </p:nvSpPr>
        <p:spPr>
          <a:xfrm>
            <a:off x="822960" y="1883664"/>
            <a:ext cx="1572768" cy="274320"/>
          </a:xfrm>
          <a:prstGeom prst="roundRect">
            <a:avLst>
              <a:gd name="adj" fmla="val 46667"/>
            </a:avLst>
          </a:prstGeom>
          <a:solidFill>
            <a:srgbClr val="F6C453">
              <a:alpha val="14000"/>
            </a:srgbClr>
          </a:solidFill>
          <a:ln w="11430">
            <a:solidFill>
              <a:srgbClr val="F6C453">
                <a:alpha val="65000"/>
              </a:srgbClr>
            </a:solidFill>
            <a:prstDash val="solid"/>
          </a:ln>
        </p:spPr>
      </p:sp>
      <p:sp>
        <p:nvSpPr>
          <p:cNvPr id="7" name="Text 5"/>
          <p:cNvSpPr txBox="1"/>
          <p:nvPr/>
        </p:nvSpPr>
        <p:spPr>
          <a:xfrm>
            <a:off x="877824" y="1924812"/>
            <a:ext cx="1463040" cy="164592"/>
          </a:xfrm>
          <a:prstGeom prst="rect">
            <a:avLst/>
          </a:prstGeom>
          <a:noFill/>
          <a:ln/>
        </p:spPr>
        <p:txBody>
          <a:bodyPr wrap="square" lIns="0" tIns="0" rIns="0" bIns="0" rtlCol="0" anchor="ctr">
            <a:normAutofit/>
          </a:bodyPr>
          <a:lstStyle/>
          <a:p>
            <a:pPr algn="ctr" indent="0" marL="0">
              <a:buNone/>
            </a:pPr>
            <a:r>
              <a:rPr lang="en-US" sz="810" b="1" dirty="0">
                <a:solidFill>
                  <a:srgbClr val="F6C453"/>
                </a:solidFill>
                <a:latin typeface="Arial" pitchFamily="34" charset="0"/>
                <a:ea typeface="Arial" pitchFamily="34" charset="-122"/>
                <a:cs typeface="Arial" pitchFamily="34" charset="-120"/>
              </a:rPr>
              <a:t>STOPPING + ASSIGNMENT</a:t>
            </a:r>
            <a:endParaRPr lang="en-US" sz="810" dirty="0"/>
          </a:p>
        </p:txBody>
      </p:sp>
      <p:sp>
        <p:nvSpPr>
          <p:cNvPr id="8" name="Shape 6"/>
          <p:cNvSpPr/>
          <p:nvPr/>
        </p:nvSpPr>
        <p:spPr>
          <a:xfrm>
            <a:off x="877824" y="2395728"/>
            <a:ext cx="310896" cy="310896"/>
          </a:xfrm>
          <a:prstGeom prst="ellipse">
            <a:avLst/>
          </a:prstGeom>
          <a:solidFill>
            <a:srgbClr val="F6C453">
              <a:alpha val="15000"/>
            </a:srgbClr>
          </a:solidFill>
          <a:ln w="12700">
            <a:solidFill>
              <a:srgbClr val="F6C453"/>
            </a:solidFill>
            <a:prstDash val="solid"/>
          </a:ln>
        </p:spPr>
      </p:sp>
      <p:sp>
        <p:nvSpPr>
          <p:cNvPr id="9" name="Text 7"/>
          <p:cNvSpPr txBox="1"/>
          <p:nvPr/>
        </p:nvSpPr>
        <p:spPr>
          <a:xfrm>
            <a:off x="877824" y="2459736"/>
            <a:ext cx="310896" cy="146304"/>
          </a:xfrm>
          <a:prstGeom prst="rect">
            <a:avLst/>
          </a:prstGeom>
          <a:noFill/>
          <a:ln/>
        </p:spPr>
        <p:txBody>
          <a:bodyPr wrap="square" lIns="0" tIns="0" rIns="0" bIns="0" rtlCol="0" anchor="ctr">
            <a:normAutofit/>
          </a:bodyPr>
          <a:lstStyle/>
          <a:p>
            <a:pPr algn="ctr" indent="0" marL="0">
              <a:buNone/>
            </a:pPr>
            <a:r>
              <a:rPr lang="en-US" sz="850" b="1" dirty="0">
                <a:solidFill>
                  <a:srgbClr val="F6C453"/>
                </a:solidFill>
                <a:latin typeface="Arial" pitchFamily="34" charset="0"/>
                <a:ea typeface="Arial" pitchFamily="34" charset="-122"/>
                <a:cs typeface="Arial" pitchFamily="34" charset="-120"/>
              </a:rPr>
              <a:t>1</a:t>
            </a:r>
            <a:endParaRPr lang="en-US" sz="850" dirty="0"/>
          </a:p>
        </p:txBody>
      </p:sp>
      <p:sp>
        <p:nvSpPr>
          <p:cNvPr id="10" name="Text 8"/>
          <p:cNvSpPr txBox="1"/>
          <p:nvPr/>
        </p:nvSpPr>
        <p:spPr>
          <a:xfrm>
            <a:off x="1335024" y="2386584"/>
            <a:ext cx="3977640" cy="310896"/>
          </a:xfrm>
          <a:prstGeom prst="rect">
            <a:avLst/>
          </a:prstGeom>
          <a:noFill/>
          <a:ln/>
        </p:spPr>
        <p:txBody>
          <a:bodyPr wrap="square" lIns="0" tIns="0" rIns="0" bIns="0" rtlCol="0" anchor="ctr">
            <a:normAutofit/>
          </a:bodyPr>
          <a:lstStyle/>
          <a:p>
            <a:pPr algn="l" indent="0" marL="0">
              <a:buNone/>
            </a:pPr>
            <a:r>
              <a:rPr lang="en-US" sz="1100" dirty="0">
                <a:solidFill>
                  <a:srgbClr val="D5DEEC"/>
                </a:solidFill>
                <a:latin typeface="Arial" pitchFamily="34" charset="0"/>
                <a:ea typeface="Arial" pitchFamily="34" charset="-122"/>
                <a:cs typeface="Arial" pitchFamily="34" charset="-120"/>
              </a:rPr>
              <a:t>Calculate Cₖ=max Qₖⱼ</a:t>
            </a:r>
            <a:endParaRPr lang="en-US" sz="1100" dirty="0"/>
          </a:p>
        </p:txBody>
      </p:sp>
      <p:sp>
        <p:nvSpPr>
          <p:cNvPr id="11" name="Shape 9"/>
          <p:cNvSpPr/>
          <p:nvPr/>
        </p:nvSpPr>
        <p:spPr>
          <a:xfrm>
            <a:off x="877824" y="2962656"/>
            <a:ext cx="310896" cy="310896"/>
          </a:xfrm>
          <a:prstGeom prst="ellipse">
            <a:avLst/>
          </a:prstGeom>
          <a:solidFill>
            <a:srgbClr val="F6C453">
              <a:alpha val="15000"/>
            </a:srgbClr>
          </a:solidFill>
          <a:ln w="12700">
            <a:solidFill>
              <a:srgbClr val="F6C453"/>
            </a:solidFill>
            <a:prstDash val="solid"/>
          </a:ln>
        </p:spPr>
      </p:sp>
      <p:sp>
        <p:nvSpPr>
          <p:cNvPr id="12" name="Text 10"/>
          <p:cNvSpPr txBox="1"/>
          <p:nvPr/>
        </p:nvSpPr>
        <p:spPr>
          <a:xfrm>
            <a:off x="877824" y="3026664"/>
            <a:ext cx="310896" cy="146304"/>
          </a:xfrm>
          <a:prstGeom prst="rect">
            <a:avLst/>
          </a:prstGeom>
          <a:noFill/>
          <a:ln/>
        </p:spPr>
        <p:txBody>
          <a:bodyPr wrap="square" lIns="0" tIns="0" rIns="0" bIns="0" rtlCol="0" anchor="ctr">
            <a:normAutofit/>
          </a:bodyPr>
          <a:lstStyle/>
          <a:p>
            <a:pPr algn="ctr" indent="0" marL="0">
              <a:buNone/>
            </a:pPr>
            <a:r>
              <a:rPr lang="en-US" sz="850" b="1" dirty="0">
                <a:solidFill>
                  <a:srgbClr val="F6C453"/>
                </a:solidFill>
                <a:latin typeface="Arial" pitchFamily="34" charset="0"/>
                <a:ea typeface="Arial" pitchFamily="34" charset="-122"/>
                <a:cs typeface="Arial" pitchFamily="34" charset="-120"/>
              </a:rPr>
              <a:t>2</a:t>
            </a:r>
            <a:endParaRPr lang="en-US" sz="850" dirty="0"/>
          </a:p>
        </p:txBody>
      </p:sp>
      <p:sp>
        <p:nvSpPr>
          <p:cNvPr id="13" name="Text 11"/>
          <p:cNvSpPr txBox="1"/>
          <p:nvPr/>
        </p:nvSpPr>
        <p:spPr>
          <a:xfrm>
            <a:off x="1335024" y="2953512"/>
            <a:ext cx="3977640" cy="310896"/>
          </a:xfrm>
          <a:prstGeom prst="rect">
            <a:avLst/>
          </a:prstGeom>
          <a:noFill/>
          <a:ln/>
        </p:spPr>
        <p:txBody>
          <a:bodyPr wrap="square" lIns="0" tIns="0" rIns="0" bIns="0" rtlCol="0" anchor="ctr">
            <a:normAutofit/>
          </a:bodyPr>
          <a:lstStyle/>
          <a:p>
            <a:pPr algn="l" indent="0" marL="0">
              <a:buNone/>
            </a:pPr>
            <a:r>
              <a:rPr lang="en-US" sz="1100" dirty="0">
                <a:solidFill>
                  <a:srgbClr val="D5DEEC"/>
                </a:solidFill>
                <a:latin typeface="Arial" pitchFamily="34" charset="0"/>
                <a:ea typeface="Arial" pitchFamily="34" charset="-122"/>
                <a:cs typeface="Arial" pitchFamily="34" charset="-120"/>
              </a:rPr>
              <a:t>Estimate Hₖ</a:t>
            </a:r>
            <a:endParaRPr lang="en-US" sz="1100" dirty="0"/>
          </a:p>
        </p:txBody>
      </p:sp>
      <p:sp>
        <p:nvSpPr>
          <p:cNvPr id="14" name="Shape 12"/>
          <p:cNvSpPr/>
          <p:nvPr/>
        </p:nvSpPr>
        <p:spPr>
          <a:xfrm>
            <a:off x="877824" y="3529584"/>
            <a:ext cx="310896" cy="310896"/>
          </a:xfrm>
          <a:prstGeom prst="ellipse">
            <a:avLst/>
          </a:prstGeom>
          <a:solidFill>
            <a:srgbClr val="F6C453">
              <a:alpha val="15000"/>
            </a:srgbClr>
          </a:solidFill>
          <a:ln w="12700">
            <a:solidFill>
              <a:srgbClr val="F6C453"/>
            </a:solidFill>
            <a:prstDash val="solid"/>
          </a:ln>
        </p:spPr>
      </p:sp>
      <p:sp>
        <p:nvSpPr>
          <p:cNvPr id="15" name="Text 13"/>
          <p:cNvSpPr txBox="1"/>
          <p:nvPr/>
        </p:nvSpPr>
        <p:spPr>
          <a:xfrm>
            <a:off x="877824" y="3593592"/>
            <a:ext cx="310896" cy="146304"/>
          </a:xfrm>
          <a:prstGeom prst="rect">
            <a:avLst/>
          </a:prstGeom>
          <a:noFill/>
          <a:ln/>
        </p:spPr>
        <p:txBody>
          <a:bodyPr wrap="square" lIns="0" tIns="0" rIns="0" bIns="0" rtlCol="0" anchor="ctr">
            <a:normAutofit/>
          </a:bodyPr>
          <a:lstStyle/>
          <a:p>
            <a:pPr algn="ctr" indent="0" marL="0">
              <a:buNone/>
            </a:pPr>
            <a:r>
              <a:rPr lang="en-US" sz="850" b="1" dirty="0">
                <a:solidFill>
                  <a:srgbClr val="F6C453"/>
                </a:solidFill>
                <a:latin typeface="Arial" pitchFamily="34" charset="0"/>
                <a:ea typeface="Arial" pitchFamily="34" charset="-122"/>
                <a:cs typeface="Arial" pitchFamily="34" charset="-120"/>
              </a:rPr>
              <a:t>3</a:t>
            </a:r>
            <a:endParaRPr lang="en-US" sz="850" dirty="0"/>
          </a:p>
        </p:txBody>
      </p:sp>
      <p:sp>
        <p:nvSpPr>
          <p:cNvPr id="16" name="Text 14"/>
          <p:cNvSpPr txBox="1"/>
          <p:nvPr/>
        </p:nvSpPr>
        <p:spPr>
          <a:xfrm>
            <a:off x="1335024" y="3520440"/>
            <a:ext cx="3977640" cy="310896"/>
          </a:xfrm>
          <a:prstGeom prst="rect">
            <a:avLst/>
          </a:prstGeom>
          <a:noFill/>
          <a:ln/>
        </p:spPr>
        <p:txBody>
          <a:bodyPr wrap="square" lIns="0" tIns="0" rIns="0" bIns="0" rtlCol="0" anchor="ctr">
            <a:normAutofit/>
          </a:bodyPr>
          <a:lstStyle/>
          <a:p>
            <a:pPr algn="l" indent="0" marL="0">
              <a:buNone/>
            </a:pPr>
            <a:r>
              <a:rPr lang="en-US" sz="1100" b="1" dirty="0">
                <a:solidFill>
                  <a:srgbClr val="D5DEEC"/>
                </a:solidFill>
                <a:latin typeface="Arial" pitchFamily="34" charset="0"/>
                <a:ea typeface="Arial" pitchFamily="34" charset="-122"/>
                <a:cs typeface="Arial" pitchFamily="34" charset="-120"/>
              </a:rPr>
              <a:t>Stopping advantage Aₖ=Cₖ−Hₖ</a:t>
            </a:r>
            <a:endParaRPr lang="en-US" sz="1100" dirty="0"/>
          </a:p>
        </p:txBody>
      </p:sp>
      <p:sp>
        <p:nvSpPr>
          <p:cNvPr id="17" name="Shape 15"/>
          <p:cNvSpPr/>
          <p:nvPr/>
        </p:nvSpPr>
        <p:spPr>
          <a:xfrm>
            <a:off x="877824" y="4096512"/>
            <a:ext cx="310896" cy="310896"/>
          </a:xfrm>
          <a:prstGeom prst="ellipse">
            <a:avLst/>
          </a:prstGeom>
          <a:solidFill>
            <a:srgbClr val="F6C453">
              <a:alpha val="15000"/>
            </a:srgbClr>
          </a:solidFill>
          <a:ln w="12700">
            <a:solidFill>
              <a:srgbClr val="F6C453"/>
            </a:solidFill>
            <a:prstDash val="solid"/>
          </a:ln>
        </p:spPr>
      </p:sp>
      <p:sp>
        <p:nvSpPr>
          <p:cNvPr id="18" name="Text 16"/>
          <p:cNvSpPr txBox="1"/>
          <p:nvPr/>
        </p:nvSpPr>
        <p:spPr>
          <a:xfrm>
            <a:off x="877824" y="4160520"/>
            <a:ext cx="310896" cy="146304"/>
          </a:xfrm>
          <a:prstGeom prst="rect">
            <a:avLst/>
          </a:prstGeom>
          <a:noFill/>
          <a:ln/>
        </p:spPr>
        <p:txBody>
          <a:bodyPr wrap="square" lIns="0" tIns="0" rIns="0" bIns="0" rtlCol="0" anchor="ctr">
            <a:normAutofit/>
          </a:bodyPr>
          <a:lstStyle/>
          <a:p>
            <a:pPr algn="ctr" indent="0" marL="0">
              <a:buNone/>
            </a:pPr>
            <a:r>
              <a:rPr lang="en-US" sz="850" b="1" dirty="0">
                <a:solidFill>
                  <a:srgbClr val="F6C453"/>
                </a:solidFill>
                <a:latin typeface="Arial" pitchFamily="34" charset="0"/>
                <a:ea typeface="Arial" pitchFamily="34" charset="-122"/>
                <a:cs typeface="Arial" pitchFamily="34" charset="-120"/>
              </a:rPr>
              <a:t>4</a:t>
            </a:r>
            <a:endParaRPr lang="en-US" sz="850" dirty="0"/>
          </a:p>
        </p:txBody>
      </p:sp>
      <p:sp>
        <p:nvSpPr>
          <p:cNvPr id="19" name="Text 17"/>
          <p:cNvSpPr txBox="1"/>
          <p:nvPr/>
        </p:nvSpPr>
        <p:spPr>
          <a:xfrm>
            <a:off x="1335024" y="4087368"/>
            <a:ext cx="3977640" cy="310896"/>
          </a:xfrm>
          <a:prstGeom prst="rect">
            <a:avLst/>
          </a:prstGeom>
          <a:noFill/>
          <a:ln/>
        </p:spPr>
        <p:txBody>
          <a:bodyPr wrap="square" lIns="0" tIns="0" rIns="0" bIns="0" rtlCol="0" anchor="ctr">
            <a:normAutofit/>
          </a:bodyPr>
          <a:lstStyle/>
          <a:p>
            <a:pPr algn="l" indent="0" marL="0">
              <a:buNone/>
            </a:pPr>
            <a:r>
              <a:rPr lang="en-US" sz="1100" dirty="0">
                <a:solidFill>
                  <a:srgbClr val="D5DEEC"/>
                </a:solidFill>
                <a:latin typeface="Arial" pitchFamily="34" charset="0"/>
                <a:ea typeface="Arial" pitchFamily="34" charset="-122"/>
                <a:cs typeface="Arial" pitchFamily="34" charset="-120"/>
              </a:rPr>
              <a:t>Aₖ≤0 stays pending</a:t>
            </a:r>
            <a:endParaRPr lang="en-US" sz="1100" dirty="0"/>
          </a:p>
        </p:txBody>
      </p:sp>
      <p:sp>
        <p:nvSpPr>
          <p:cNvPr id="20" name="Shape 18"/>
          <p:cNvSpPr/>
          <p:nvPr/>
        </p:nvSpPr>
        <p:spPr>
          <a:xfrm>
            <a:off x="877824" y="4663440"/>
            <a:ext cx="310896" cy="310896"/>
          </a:xfrm>
          <a:prstGeom prst="ellipse">
            <a:avLst/>
          </a:prstGeom>
          <a:solidFill>
            <a:srgbClr val="F6C453">
              <a:alpha val="15000"/>
            </a:srgbClr>
          </a:solidFill>
          <a:ln w="12700">
            <a:solidFill>
              <a:srgbClr val="F6C453"/>
            </a:solidFill>
            <a:prstDash val="solid"/>
          </a:ln>
        </p:spPr>
      </p:sp>
      <p:sp>
        <p:nvSpPr>
          <p:cNvPr id="21" name="Text 19"/>
          <p:cNvSpPr txBox="1"/>
          <p:nvPr/>
        </p:nvSpPr>
        <p:spPr>
          <a:xfrm>
            <a:off x="877824" y="4727448"/>
            <a:ext cx="310896" cy="146304"/>
          </a:xfrm>
          <a:prstGeom prst="rect">
            <a:avLst/>
          </a:prstGeom>
          <a:noFill/>
          <a:ln/>
        </p:spPr>
        <p:txBody>
          <a:bodyPr wrap="square" lIns="0" tIns="0" rIns="0" bIns="0" rtlCol="0" anchor="ctr">
            <a:normAutofit/>
          </a:bodyPr>
          <a:lstStyle/>
          <a:p>
            <a:pPr algn="ctr" indent="0" marL="0">
              <a:buNone/>
            </a:pPr>
            <a:r>
              <a:rPr lang="en-US" sz="850" b="1" dirty="0">
                <a:solidFill>
                  <a:srgbClr val="F6C453"/>
                </a:solidFill>
                <a:latin typeface="Arial" pitchFamily="34" charset="0"/>
                <a:ea typeface="Arial" pitchFamily="34" charset="-122"/>
                <a:cs typeface="Arial" pitchFamily="34" charset="-120"/>
              </a:rPr>
              <a:t>5</a:t>
            </a:r>
            <a:endParaRPr lang="en-US" sz="850" dirty="0"/>
          </a:p>
        </p:txBody>
      </p:sp>
      <p:sp>
        <p:nvSpPr>
          <p:cNvPr id="22" name="Text 20"/>
          <p:cNvSpPr txBox="1"/>
          <p:nvPr/>
        </p:nvSpPr>
        <p:spPr>
          <a:xfrm>
            <a:off x="1335024" y="4654296"/>
            <a:ext cx="3977640" cy="310896"/>
          </a:xfrm>
          <a:prstGeom prst="rect">
            <a:avLst/>
          </a:prstGeom>
          <a:noFill/>
          <a:ln/>
        </p:spPr>
        <p:txBody>
          <a:bodyPr wrap="square" lIns="0" tIns="0" rIns="0" bIns="0" rtlCol="0" anchor="ctr">
            <a:normAutofit/>
          </a:bodyPr>
          <a:lstStyle/>
          <a:p>
            <a:pPr algn="l" indent="0" marL="0">
              <a:buNone/>
            </a:pPr>
            <a:r>
              <a:rPr lang="en-US" sz="1100" dirty="0">
                <a:solidFill>
                  <a:srgbClr val="D5DEEC"/>
                </a:solidFill>
                <a:latin typeface="Arial" pitchFamily="34" charset="0"/>
                <a:ea typeface="Arial" pitchFamily="34" charset="-122"/>
                <a:cs typeface="Arial" pitchFamily="34" charset="-120"/>
              </a:rPr>
              <a:t>Aₖ&gt;0 enters feasible assignment</a:t>
            </a:r>
            <a:endParaRPr lang="en-US" sz="1100" dirty="0"/>
          </a:p>
        </p:txBody>
      </p:sp>
      <p:sp>
        <p:nvSpPr>
          <p:cNvPr id="23" name="Shape 21"/>
          <p:cNvSpPr/>
          <p:nvPr/>
        </p:nvSpPr>
        <p:spPr>
          <a:xfrm>
            <a:off x="6089904" y="1664208"/>
            <a:ext cx="5532120" cy="4334256"/>
          </a:xfrm>
          <a:prstGeom prst="roundRect">
            <a:avLst>
              <a:gd name="adj" fmla="val 2532"/>
            </a:avLst>
          </a:prstGeom>
          <a:solidFill>
            <a:srgbClr val="101827"/>
          </a:solidFill>
          <a:ln w="12700">
            <a:solidFill>
              <a:srgbClr val="25D0B1"/>
            </a:solidFill>
            <a:prstDash val="solid"/>
          </a:ln>
        </p:spPr>
      </p:sp>
      <p:sp>
        <p:nvSpPr>
          <p:cNvPr id="24" name="Shape 22"/>
          <p:cNvSpPr/>
          <p:nvPr/>
        </p:nvSpPr>
        <p:spPr>
          <a:xfrm>
            <a:off x="6345936" y="1883664"/>
            <a:ext cx="1572768" cy="274320"/>
          </a:xfrm>
          <a:prstGeom prst="roundRect">
            <a:avLst>
              <a:gd name="adj" fmla="val 46667"/>
            </a:avLst>
          </a:prstGeom>
          <a:solidFill>
            <a:srgbClr val="25D0B1">
              <a:alpha val="14000"/>
            </a:srgbClr>
          </a:solidFill>
          <a:ln w="11430">
            <a:solidFill>
              <a:srgbClr val="25D0B1">
                <a:alpha val="65000"/>
              </a:srgbClr>
            </a:solidFill>
            <a:prstDash val="solid"/>
          </a:ln>
        </p:spPr>
      </p:sp>
      <p:sp>
        <p:nvSpPr>
          <p:cNvPr id="25" name="Text 23"/>
          <p:cNvSpPr txBox="1"/>
          <p:nvPr/>
        </p:nvSpPr>
        <p:spPr>
          <a:xfrm>
            <a:off x="6400800" y="1924812"/>
            <a:ext cx="1463040" cy="164592"/>
          </a:xfrm>
          <a:prstGeom prst="rect">
            <a:avLst/>
          </a:prstGeom>
          <a:noFill/>
          <a:ln/>
        </p:spPr>
        <p:txBody>
          <a:bodyPr wrap="square" lIns="0" tIns="0" rIns="0" bIns="0" rtlCol="0" anchor="ctr">
            <a:normAutofit/>
          </a:bodyPr>
          <a:lstStyle/>
          <a:p>
            <a:pPr algn="ctr" indent="0" marL="0">
              <a:buNone/>
            </a:pPr>
            <a:r>
              <a:rPr lang="en-US" sz="810" b="1" dirty="0">
                <a:solidFill>
                  <a:srgbClr val="25D0B1"/>
                </a:solidFill>
                <a:latin typeface="Arial" pitchFamily="34" charset="0"/>
                <a:ea typeface="Arial" pitchFamily="34" charset="-122"/>
                <a:cs typeface="Arial" pitchFamily="34" charset="-120"/>
              </a:rPr>
              <a:t>ALTERNATIVE SCARCITY</a:t>
            </a:r>
            <a:endParaRPr lang="en-US" sz="810" dirty="0"/>
          </a:p>
        </p:txBody>
      </p:sp>
      <p:sp>
        <p:nvSpPr>
          <p:cNvPr id="26" name="Text 24"/>
          <p:cNvSpPr txBox="1"/>
          <p:nvPr/>
        </p:nvSpPr>
        <p:spPr>
          <a:xfrm>
            <a:off x="6519672" y="2359152"/>
            <a:ext cx="4315968" cy="365760"/>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Δₖ = Q(k,j₁) − Q(k,j₂)</a:t>
            </a:r>
            <a:endParaRPr lang="en-US" sz="2000" dirty="0"/>
          </a:p>
        </p:txBody>
      </p:sp>
      <p:sp>
        <p:nvSpPr>
          <p:cNvPr id="27" name="Text 25"/>
          <p:cNvSpPr txBox="1"/>
          <p:nvPr/>
        </p:nvSpPr>
        <p:spPr>
          <a:xfrm>
            <a:off x="6519672" y="2834640"/>
            <a:ext cx="4315968" cy="365760"/>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Priorityₖ = Aₖ × (1 + Δₖ)</a:t>
            </a:r>
            <a:endParaRPr lang="en-US" sz="2000" dirty="0"/>
          </a:p>
        </p:txBody>
      </p:sp>
      <p:sp>
        <p:nvSpPr>
          <p:cNvPr id="28" name="Shape 26"/>
          <p:cNvSpPr/>
          <p:nvPr/>
        </p:nvSpPr>
        <p:spPr>
          <a:xfrm>
            <a:off x="6419088" y="3584448"/>
            <a:ext cx="4315968" cy="438912"/>
          </a:xfrm>
          <a:prstGeom prst="roundRect">
            <a:avLst/>
          </a:prstGeom>
          <a:solidFill>
            <a:srgbClr val="101827"/>
          </a:solidFill>
          <a:ln w="10160">
            <a:solidFill>
              <a:srgbClr val="2A3954"/>
            </a:solidFill>
            <a:prstDash val="solid"/>
          </a:ln>
        </p:spPr>
      </p:sp>
      <p:sp>
        <p:nvSpPr>
          <p:cNvPr id="29" name="Text 27"/>
          <p:cNvSpPr txBox="1"/>
          <p:nvPr/>
        </p:nvSpPr>
        <p:spPr>
          <a:xfrm>
            <a:off x="6547104" y="3703320"/>
            <a:ext cx="640080" cy="164592"/>
          </a:xfrm>
          <a:prstGeom prst="rect">
            <a:avLst/>
          </a:prstGeom>
          <a:noFill/>
          <a:ln/>
        </p:spPr>
        <p:txBody>
          <a:bodyPr wrap="square" lIns="0" tIns="0" rIns="0" bIns="0" rtlCol="0" anchor="ctr">
            <a:normAutofit/>
          </a:bodyPr>
          <a:lstStyle/>
          <a:p>
            <a:pPr algn="l" indent="0" marL="0">
              <a:buNone/>
            </a:pPr>
            <a:r>
              <a:rPr lang="en-US" sz="880" b="1" dirty="0">
                <a:solidFill>
                  <a:srgbClr val="F6F8FC"/>
                </a:solidFill>
                <a:latin typeface="Arial" pitchFamily="34" charset="0"/>
                <a:ea typeface="Arial" pitchFamily="34" charset="-122"/>
                <a:cs typeface="Arial" pitchFamily="34" charset="-120"/>
              </a:rPr>
              <a:t>Task A</a:t>
            </a:r>
            <a:endParaRPr lang="en-US" sz="880" dirty="0"/>
          </a:p>
        </p:txBody>
      </p:sp>
      <p:sp>
        <p:nvSpPr>
          <p:cNvPr id="30" name="Text 28"/>
          <p:cNvSpPr txBox="1"/>
          <p:nvPr/>
        </p:nvSpPr>
        <p:spPr>
          <a:xfrm>
            <a:off x="7242048" y="3703320"/>
            <a:ext cx="1005840" cy="164592"/>
          </a:xfrm>
          <a:prstGeom prst="rect">
            <a:avLst/>
          </a:prstGeom>
          <a:noFill/>
          <a:ln/>
        </p:spPr>
        <p:txBody>
          <a:bodyPr wrap="square" lIns="0" tIns="0" rIns="0" bIns="0" rtlCol="0" anchor="ctr">
            <a:normAutofit/>
          </a:bodyPr>
          <a:lstStyle/>
          <a:p>
            <a:pPr algn="l" indent="0" marL="0">
              <a:buNone/>
            </a:pPr>
            <a:r>
              <a:rPr lang="en-US" sz="860" dirty="0">
                <a:solidFill>
                  <a:srgbClr val="91A0B8"/>
                </a:solidFill>
                <a:latin typeface="Arial" pitchFamily="34" charset="0"/>
                <a:ea typeface="Arial" pitchFamily="34" charset="-122"/>
                <a:cs typeface="Arial" pitchFamily="34" charset="-120"/>
              </a:rPr>
              <a:t>Node 2 = 0.91</a:t>
            </a:r>
            <a:endParaRPr lang="en-US" sz="860" dirty="0"/>
          </a:p>
        </p:txBody>
      </p:sp>
      <p:sp>
        <p:nvSpPr>
          <p:cNvPr id="31" name="Text 29"/>
          <p:cNvSpPr txBox="1"/>
          <p:nvPr/>
        </p:nvSpPr>
        <p:spPr>
          <a:xfrm>
            <a:off x="8275320" y="3703320"/>
            <a:ext cx="1005840" cy="164592"/>
          </a:xfrm>
          <a:prstGeom prst="rect">
            <a:avLst/>
          </a:prstGeom>
          <a:noFill/>
          <a:ln/>
        </p:spPr>
        <p:txBody>
          <a:bodyPr wrap="square" lIns="0" tIns="0" rIns="0" bIns="0" rtlCol="0" anchor="ctr">
            <a:normAutofit/>
          </a:bodyPr>
          <a:lstStyle/>
          <a:p>
            <a:pPr algn="l" indent="0" marL="0">
              <a:buNone/>
            </a:pPr>
            <a:r>
              <a:rPr lang="en-US" sz="860" dirty="0">
                <a:solidFill>
                  <a:srgbClr val="91A0B8"/>
                </a:solidFill>
                <a:latin typeface="Arial" pitchFamily="34" charset="0"/>
                <a:ea typeface="Arial" pitchFamily="34" charset="-122"/>
                <a:cs typeface="Arial" pitchFamily="34" charset="-120"/>
              </a:rPr>
              <a:t>Node 3 = 0.10</a:t>
            </a:r>
            <a:endParaRPr lang="en-US" sz="860" dirty="0"/>
          </a:p>
        </p:txBody>
      </p:sp>
      <p:sp>
        <p:nvSpPr>
          <p:cNvPr id="32" name="Text 30"/>
          <p:cNvSpPr txBox="1"/>
          <p:nvPr/>
        </p:nvSpPr>
        <p:spPr>
          <a:xfrm>
            <a:off x="9308592" y="3703320"/>
            <a:ext cx="621792" cy="164592"/>
          </a:xfrm>
          <a:prstGeom prst="rect">
            <a:avLst/>
          </a:prstGeom>
          <a:noFill/>
          <a:ln/>
        </p:spPr>
        <p:txBody>
          <a:bodyPr wrap="square" lIns="0" tIns="0" rIns="0" bIns="0" rtlCol="0" anchor="ctr">
            <a:normAutofit/>
          </a:bodyPr>
          <a:lstStyle/>
          <a:p>
            <a:pPr algn="l" indent="0" marL="0">
              <a:buNone/>
            </a:pPr>
            <a:r>
              <a:rPr lang="en-US" sz="880" b="1" dirty="0">
                <a:solidFill>
                  <a:srgbClr val="F6C453"/>
                </a:solidFill>
                <a:latin typeface="Arial" pitchFamily="34" charset="0"/>
                <a:ea typeface="Arial" pitchFamily="34" charset="-122"/>
                <a:cs typeface="Arial" pitchFamily="34" charset="-120"/>
              </a:rPr>
              <a:t>Δ = 0.81</a:t>
            </a:r>
            <a:endParaRPr lang="en-US" sz="880" dirty="0"/>
          </a:p>
        </p:txBody>
      </p:sp>
      <p:sp>
        <p:nvSpPr>
          <p:cNvPr id="33" name="Text 31"/>
          <p:cNvSpPr txBox="1"/>
          <p:nvPr/>
        </p:nvSpPr>
        <p:spPr>
          <a:xfrm>
            <a:off x="9985248" y="3703320"/>
            <a:ext cx="594360" cy="164592"/>
          </a:xfrm>
          <a:prstGeom prst="rect">
            <a:avLst/>
          </a:prstGeom>
          <a:noFill/>
          <a:ln/>
        </p:spPr>
        <p:txBody>
          <a:bodyPr wrap="square" lIns="0" tIns="0" rIns="0" bIns="0" rtlCol="0" anchor="ctr">
            <a:normAutofit/>
          </a:bodyPr>
          <a:lstStyle/>
          <a:p>
            <a:pPr algn="l" indent="0" marL="0">
              <a:buNone/>
            </a:pPr>
            <a:r>
              <a:rPr lang="en-US" sz="860" b="1" dirty="0">
                <a:solidFill>
                  <a:srgbClr val="F6C453"/>
                </a:solidFill>
                <a:latin typeface="Arial" pitchFamily="34" charset="0"/>
                <a:ea typeface="Arial" pitchFamily="34" charset="-122"/>
                <a:cs typeface="Arial" pitchFamily="34" charset="-120"/>
              </a:rPr>
              <a:t>scarce</a:t>
            </a:r>
            <a:endParaRPr lang="en-US" sz="860" dirty="0"/>
          </a:p>
        </p:txBody>
      </p:sp>
      <p:sp>
        <p:nvSpPr>
          <p:cNvPr id="34" name="Shape 32"/>
          <p:cNvSpPr/>
          <p:nvPr/>
        </p:nvSpPr>
        <p:spPr>
          <a:xfrm>
            <a:off x="6419088" y="4224528"/>
            <a:ext cx="4315968" cy="438912"/>
          </a:xfrm>
          <a:prstGeom prst="roundRect">
            <a:avLst/>
          </a:prstGeom>
          <a:solidFill>
            <a:srgbClr val="101827"/>
          </a:solidFill>
          <a:ln w="10160">
            <a:solidFill>
              <a:srgbClr val="2A3954"/>
            </a:solidFill>
            <a:prstDash val="solid"/>
          </a:ln>
        </p:spPr>
      </p:sp>
      <p:sp>
        <p:nvSpPr>
          <p:cNvPr id="35" name="Text 33"/>
          <p:cNvSpPr txBox="1"/>
          <p:nvPr/>
        </p:nvSpPr>
        <p:spPr>
          <a:xfrm>
            <a:off x="6547104" y="4343400"/>
            <a:ext cx="640080" cy="164592"/>
          </a:xfrm>
          <a:prstGeom prst="rect">
            <a:avLst/>
          </a:prstGeom>
          <a:noFill/>
          <a:ln/>
        </p:spPr>
        <p:txBody>
          <a:bodyPr wrap="square" lIns="0" tIns="0" rIns="0" bIns="0" rtlCol="0" anchor="ctr">
            <a:normAutofit/>
          </a:bodyPr>
          <a:lstStyle/>
          <a:p>
            <a:pPr algn="l" indent="0" marL="0">
              <a:buNone/>
            </a:pPr>
            <a:r>
              <a:rPr lang="en-US" sz="880" b="1" dirty="0">
                <a:solidFill>
                  <a:srgbClr val="F6F8FC"/>
                </a:solidFill>
                <a:latin typeface="Arial" pitchFamily="34" charset="0"/>
                <a:ea typeface="Arial" pitchFamily="34" charset="-122"/>
                <a:cs typeface="Arial" pitchFamily="34" charset="-120"/>
              </a:rPr>
              <a:t>Task B</a:t>
            </a:r>
            <a:endParaRPr lang="en-US" sz="880" dirty="0"/>
          </a:p>
        </p:txBody>
      </p:sp>
      <p:sp>
        <p:nvSpPr>
          <p:cNvPr id="36" name="Text 34"/>
          <p:cNvSpPr txBox="1"/>
          <p:nvPr/>
        </p:nvSpPr>
        <p:spPr>
          <a:xfrm>
            <a:off x="7242048" y="4343400"/>
            <a:ext cx="1005840" cy="164592"/>
          </a:xfrm>
          <a:prstGeom prst="rect">
            <a:avLst/>
          </a:prstGeom>
          <a:noFill/>
          <a:ln/>
        </p:spPr>
        <p:txBody>
          <a:bodyPr wrap="square" lIns="0" tIns="0" rIns="0" bIns="0" rtlCol="0" anchor="ctr">
            <a:normAutofit/>
          </a:bodyPr>
          <a:lstStyle/>
          <a:p>
            <a:pPr algn="l" indent="0" marL="0">
              <a:buNone/>
            </a:pPr>
            <a:r>
              <a:rPr lang="en-US" sz="860" dirty="0">
                <a:solidFill>
                  <a:srgbClr val="91A0B8"/>
                </a:solidFill>
                <a:latin typeface="Arial" pitchFamily="34" charset="0"/>
                <a:ea typeface="Arial" pitchFamily="34" charset="-122"/>
                <a:cs typeface="Arial" pitchFamily="34" charset="-120"/>
              </a:rPr>
              <a:t>Node 2 = 0.90</a:t>
            </a:r>
            <a:endParaRPr lang="en-US" sz="860" dirty="0"/>
          </a:p>
        </p:txBody>
      </p:sp>
      <p:sp>
        <p:nvSpPr>
          <p:cNvPr id="37" name="Text 35"/>
          <p:cNvSpPr txBox="1"/>
          <p:nvPr/>
        </p:nvSpPr>
        <p:spPr>
          <a:xfrm>
            <a:off x="8275320" y="4343400"/>
            <a:ext cx="1005840" cy="164592"/>
          </a:xfrm>
          <a:prstGeom prst="rect">
            <a:avLst/>
          </a:prstGeom>
          <a:noFill/>
          <a:ln/>
        </p:spPr>
        <p:txBody>
          <a:bodyPr wrap="square" lIns="0" tIns="0" rIns="0" bIns="0" rtlCol="0" anchor="ctr">
            <a:normAutofit/>
          </a:bodyPr>
          <a:lstStyle/>
          <a:p>
            <a:pPr algn="l" indent="0" marL="0">
              <a:buNone/>
            </a:pPr>
            <a:r>
              <a:rPr lang="en-US" sz="860" dirty="0">
                <a:solidFill>
                  <a:srgbClr val="91A0B8"/>
                </a:solidFill>
                <a:latin typeface="Arial" pitchFamily="34" charset="0"/>
                <a:ea typeface="Arial" pitchFamily="34" charset="-122"/>
                <a:cs typeface="Arial" pitchFamily="34" charset="-120"/>
              </a:rPr>
              <a:t>Node 3 = 0.89</a:t>
            </a:r>
            <a:endParaRPr lang="en-US" sz="860" dirty="0"/>
          </a:p>
        </p:txBody>
      </p:sp>
      <p:sp>
        <p:nvSpPr>
          <p:cNvPr id="38" name="Text 36"/>
          <p:cNvSpPr txBox="1"/>
          <p:nvPr/>
        </p:nvSpPr>
        <p:spPr>
          <a:xfrm>
            <a:off x="9308592" y="4343400"/>
            <a:ext cx="621792" cy="164592"/>
          </a:xfrm>
          <a:prstGeom prst="rect">
            <a:avLst/>
          </a:prstGeom>
          <a:noFill/>
          <a:ln/>
        </p:spPr>
        <p:txBody>
          <a:bodyPr wrap="square" lIns="0" tIns="0" rIns="0" bIns="0" rtlCol="0" anchor="ctr">
            <a:normAutofit/>
          </a:bodyPr>
          <a:lstStyle/>
          <a:p>
            <a:pPr algn="l" indent="0" marL="0">
              <a:buNone/>
            </a:pPr>
            <a:r>
              <a:rPr lang="en-US" sz="880" b="1" dirty="0">
                <a:solidFill>
                  <a:srgbClr val="25D0B1"/>
                </a:solidFill>
                <a:latin typeface="Arial" pitchFamily="34" charset="0"/>
                <a:ea typeface="Arial" pitchFamily="34" charset="-122"/>
                <a:cs typeface="Arial" pitchFamily="34" charset="-120"/>
              </a:rPr>
              <a:t>Δ = 0.01</a:t>
            </a:r>
            <a:endParaRPr lang="en-US" sz="880" dirty="0"/>
          </a:p>
        </p:txBody>
      </p:sp>
      <p:sp>
        <p:nvSpPr>
          <p:cNvPr id="39" name="Text 37"/>
          <p:cNvSpPr txBox="1"/>
          <p:nvPr/>
        </p:nvSpPr>
        <p:spPr>
          <a:xfrm>
            <a:off x="9985248" y="4343400"/>
            <a:ext cx="594360" cy="164592"/>
          </a:xfrm>
          <a:prstGeom prst="rect">
            <a:avLst/>
          </a:prstGeom>
          <a:noFill/>
          <a:ln/>
        </p:spPr>
        <p:txBody>
          <a:bodyPr wrap="square" lIns="0" tIns="0" rIns="0" bIns="0" rtlCol="0" anchor="ctr">
            <a:normAutofit/>
          </a:bodyPr>
          <a:lstStyle/>
          <a:p>
            <a:pPr algn="l" indent="0" marL="0">
              <a:buNone/>
            </a:pPr>
            <a:r>
              <a:rPr lang="en-US" sz="860" b="1" dirty="0">
                <a:solidFill>
                  <a:srgbClr val="25D0B1"/>
                </a:solidFill>
                <a:latin typeface="Arial" pitchFamily="34" charset="0"/>
                <a:ea typeface="Arial" pitchFamily="34" charset="-122"/>
                <a:cs typeface="Arial" pitchFamily="34" charset="-120"/>
              </a:rPr>
              <a:t>flexible</a:t>
            </a:r>
            <a:endParaRPr lang="en-US" sz="860" dirty="0"/>
          </a:p>
        </p:txBody>
      </p:sp>
      <p:sp>
        <p:nvSpPr>
          <p:cNvPr id="40" name="Text 38"/>
          <p:cNvSpPr txBox="1"/>
          <p:nvPr/>
        </p:nvSpPr>
        <p:spPr>
          <a:xfrm>
            <a:off x="6455664" y="5047488"/>
            <a:ext cx="4407408" cy="457200"/>
          </a:xfrm>
          <a:prstGeom prst="rect">
            <a:avLst/>
          </a:prstGeom>
          <a:noFill/>
          <a:ln/>
        </p:spPr>
        <p:txBody>
          <a:bodyPr wrap="square" lIns="0" tIns="0" rIns="0" bIns="0" rtlCol="0" anchor="ctr">
            <a:normAutofit/>
          </a:bodyPr>
          <a:lstStyle/>
          <a:p>
            <a:pPr algn="ctr" indent="0" marL="0">
              <a:buNone/>
            </a:pPr>
            <a:r>
              <a:rPr lang="en-US" sz="1100" b="1" dirty="0">
                <a:solidFill>
                  <a:srgbClr val="F6F8FC"/>
                </a:solidFill>
                <a:latin typeface="Arial" pitchFamily="34" charset="0"/>
                <a:ea typeface="Arial" pitchFamily="34" charset="-122"/>
                <a:cs typeface="Arial" pitchFamily="34" charset="-120"/>
              </a:rPr>
              <a:t>Result: high-scarcity tasks get scarce slots; flexible tasks use fallback nodes; unsafe tasks can HOLD.</a:t>
            </a:r>
            <a:endParaRPr lang="en-US" sz="11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EXPLAINABILITY LAYER</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What the dashboard should show for each decision</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dashboard makes ACT’s timing behavior visible instead of hiding it inside a score.</a:t>
            </a:r>
            <a:endParaRPr lang="en-US" sz="1200" dirty="0"/>
          </a:p>
        </p:txBody>
      </p:sp>
      <p:sp>
        <p:nvSpPr>
          <p:cNvPr id="5" name="Shape 3"/>
          <p:cNvSpPr/>
          <p:nvPr/>
        </p:nvSpPr>
        <p:spPr>
          <a:xfrm>
            <a:off x="548640" y="1627632"/>
            <a:ext cx="3273552" cy="4553712"/>
          </a:xfrm>
          <a:prstGeom prst="roundRect">
            <a:avLst>
              <a:gd name="adj" fmla="val 3352"/>
            </a:avLst>
          </a:prstGeom>
          <a:solidFill>
            <a:srgbClr val="101827"/>
          </a:solidFill>
          <a:ln w="12700">
            <a:solidFill>
              <a:srgbClr val="A7A1FF"/>
            </a:solidFill>
            <a:prstDash val="solid"/>
          </a:ln>
        </p:spPr>
      </p:sp>
      <p:sp>
        <p:nvSpPr>
          <p:cNvPr id="6" name="Shape 4"/>
          <p:cNvSpPr/>
          <p:nvPr/>
        </p:nvSpPr>
        <p:spPr>
          <a:xfrm>
            <a:off x="786384" y="1847088"/>
            <a:ext cx="1078992" cy="274320"/>
          </a:xfrm>
          <a:prstGeom prst="roundRect">
            <a:avLst>
              <a:gd name="adj" fmla="val 46667"/>
            </a:avLst>
          </a:prstGeom>
          <a:solidFill>
            <a:srgbClr val="A7A1FF">
              <a:alpha val="14000"/>
            </a:srgbClr>
          </a:solidFill>
          <a:ln w="11430">
            <a:solidFill>
              <a:srgbClr val="A7A1FF">
                <a:alpha val="65000"/>
              </a:srgbClr>
            </a:solidFill>
            <a:prstDash val="solid"/>
          </a:ln>
        </p:spPr>
      </p:sp>
      <p:sp>
        <p:nvSpPr>
          <p:cNvPr id="7" name="Text 5"/>
          <p:cNvSpPr txBox="1"/>
          <p:nvPr/>
        </p:nvSpPr>
        <p:spPr>
          <a:xfrm>
            <a:off x="841248" y="1888236"/>
            <a:ext cx="969264" cy="164592"/>
          </a:xfrm>
          <a:prstGeom prst="rect">
            <a:avLst/>
          </a:prstGeom>
          <a:noFill/>
          <a:ln/>
        </p:spPr>
        <p:txBody>
          <a:bodyPr wrap="square" lIns="0" tIns="0" rIns="0" bIns="0" rtlCol="0" anchor="ctr">
            <a:normAutofit/>
          </a:bodyPr>
          <a:lstStyle/>
          <a:p>
            <a:pPr algn="ctr" indent="0" marL="0">
              <a:buNone/>
            </a:pPr>
            <a:r>
              <a:rPr lang="en-US" sz="810" b="1" dirty="0">
                <a:solidFill>
                  <a:srgbClr val="A7A1FF"/>
                </a:solidFill>
                <a:latin typeface="Arial" pitchFamily="34" charset="0"/>
                <a:ea typeface="Arial" pitchFamily="34" charset="-122"/>
                <a:cs typeface="Arial" pitchFamily="34" charset="-120"/>
              </a:rPr>
              <a:t>NODE BELIEF</a:t>
            </a:r>
            <a:endParaRPr lang="en-US" sz="810" dirty="0"/>
          </a:p>
        </p:txBody>
      </p:sp>
      <p:sp>
        <p:nvSpPr>
          <p:cNvPr id="8" name="Text 6"/>
          <p:cNvSpPr txBox="1"/>
          <p:nvPr/>
        </p:nvSpPr>
        <p:spPr>
          <a:xfrm>
            <a:off x="859536" y="2359152"/>
            <a:ext cx="841248" cy="219456"/>
          </a:xfrm>
          <a:prstGeom prst="rect">
            <a:avLst/>
          </a:prstGeom>
          <a:noFill/>
          <a:ln/>
        </p:spPr>
        <p:txBody>
          <a:bodyPr wrap="square" lIns="0" tIns="0" rIns="0" bIns="0" rtlCol="0" anchor="ctr">
            <a:normAutofit/>
          </a:bodyPr>
          <a:lstStyle/>
          <a:p>
            <a:pPr algn="l" indent="0" marL="0">
              <a:buNone/>
            </a:pPr>
            <a:r>
              <a:rPr lang="en-US" sz="1300" b="1" dirty="0">
                <a:solidFill>
                  <a:srgbClr val="F6F8FC"/>
                </a:solidFill>
                <a:latin typeface="Arial" pitchFamily="34" charset="0"/>
                <a:ea typeface="Arial" pitchFamily="34" charset="-122"/>
                <a:cs typeface="Arial" pitchFamily="34" charset="-120"/>
              </a:rPr>
              <a:t>Node 4</a:t>
            </a:r>
            <a:endParaRPr lang="en-US" sz="1300" dirty="0"/>
          </a:p>
        </p:txBody>
      </p:sp>
      <p:sp>
        <p:nvSpPr>
          <p:cNvPr id="9" name="Text 7"/>
          <p:cNvSpPr txBox="1"/>
          <p:nvPr/>
        </p:nvSpPr>
        <p:spPr>
          <a:xfrm>
            <a:off x="877824" y="2761488"/>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91A0B8"/>
                </a:solidFill>
                <a:latin typeface="Arial" pitchFamily="34" charset="0"/>
                <a:ea typeface="Arial" pitchFamily="34" charset="-122"/>
                <a:cs typeface="Arial" pitchFamily="34" charset="-120"/>
              </a:rPr>
              <a:t>P(Healthy)</a:t>
            </a:r>
            <a:endParaRPr lang="en-US" sz="950" dirty="0"/>
          </a:p>
        </p:txBody>
      </p:sp>
      <p:sp>
        <p:nvSpPr>
          <p:cNvPr id="10" name="Shape 8"/>
          <p:cNvSpPr/>
          <p:nvPr/>
        </p:nvSpPr>
        <p:spPr>
          <a:xfrm>
            <a:off x="1874520" y="2779776"/>
            <a:ext cx="1371600" cy="146304"/>
          </a:xfrm>
          <a:prstGeom prst="rect">
            <a:avLst/>
          </a:prstGeom>
          <a:solidFill>
            <a:srgbClr val="26364A"/>
          </a:solidFill>
          <a:ln w="12700">
            <a:solidFill>
              <a:srgbClr val="26364A"/>
            </a:solidFill>
            <a:prstDash val="solid"/>
          </a:ln>
        </p:spPr>
      </p:sp>
      <p:sp>
        <p:nvSpPr>
          <p:cNvPr id="11" name="Shape 9"/>
          <p:cNvSpPr/>
          <p:nvPr/>
        </p:nvSpPr>
        <p:spPr>
          <a:xfrm>
            <a:off x="1874520" y="2779776"/>
            <a:ext cx="987552" cy="146304"/>
          </a:xfrm>
          <a:prstGeom prst="rect">
            <a:avLst/>
          </a:prstGeom>
          <a:solidFill>
            <a:srgbClr val="3CE28F"/>
          </a:solidFill>
          <a:ln w="12700">
            <a:solidFill>
              <a:srgbClr val="3CE28F"/>
            </a:solidFill>
            <a:prstDash val="solid"/>
          </a:ln>
        </p:spPr>
      </p:sp>
      <p:sp>
        <p:nvSpPr>
          <p:cNvPr id="12" name="Text 10"/>
          <p:cNvSpPr txBox="1"/>
          <p:nvPr/>
        </p:nvSpPr>
        <p:spPr>
          <a:xfrm>
            <a:off x="3291840" y="2743200"/>
            <a:ext cx="329184" cy="182880"/>
          </a:xfrm>
          <a:prstGeom prst="rect">
            <a:avLst/>
          </a:prstGeom>
          <a:noFill/>
          <a:ln/>
        </p:spPr>
        <p:txBody>
          <a:bodyPr wrap="square" lIns="0" tIns="0" rIns="0" bIns="0" rtlCol="0" anchor="ctr">
            <a:normAutofit/>
          </a:bodyPr>
          <a:lstStyle/>
          <a:p>
            <a:pPr algn="r" indent="0" marL="0">
              <a:buNone/>
            </a:pPr>
            <a:r>
              <a:rPr lang="en-US" sz="850" b="1" dirty="0">
                <a:solidFill>
                  <a:srgbClr val="3CE28F"/>
                </a:solidFill>
                <a:latin typeface="Arial" pitchFamily="34" charset="0"/>
                <a:ea typeface="Arial" pitchFamily="34" charset="-122"/>
                <a:cs typeface="Arial" pitchFamily="34" charset="-120"/>
              </a:rPr>
              <a:t>72%</a:t>
            </a:r>
            <a:endParaRPr lang="en-US" sz="850" dirty="0"/>
          </a:p>
        </p:txBody>
      </p:sp>
      <p:sp>
        <p:nvSpPr>
          <p:cNvPr id="13" name="Text 11"/>
          <p:cNvSpPr txBox="1"/>
          <p:nvPr/>
        </p:nvSpPr>
        <p:spPr>
          <a:xfrm>
            <a:off x="877824" y="3255264"/>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91A0B8"/>
                </a:solidFill>
                <a:latin typeface="Arial" pitchFamily="34" charset="0"/>
                <a:ea typeface="Arial" pitchFamily="34" charset="-122"/>
                <a:cs typeface="Arial" pitchFamily="34" charset="-120"/>
              </a:rPr>
              <a:t>P(Degraded)</a:t>
            </a:r>
            <a:endParaRPr lang="en-US" sz="950" dirty="0"/>
          </a:p>
        </p:txBody>
      </p:sp>
      <p:sp>
        <p:nvSpPr>
          <p:cNvPr id="14" name="Shape 12"/>
          <p:cNvSpPr/>
          <p:nvPr/>
        </p:nvSpPr>
        <p:spPr>
          <a:xfrm>
            <a:off x="1874520" y="3273552"/>
            <a:ext cx="1371600" cy="146304"/>
          </a:xfrm>
          <a:prstGeom prst="rect">
            <a:avLst/>
          </a:prstGeom>
          <a:solidFill>
            <a:srgbClr val="26364A"/>
          </a:solidFill>
          <a:ln w="12700">
            <a:solidFill>
              <a:srgbClr val="26364A"/>
            </a:solidFill>
            <a:prstDash val="solid"/>
          </a:ln>
        </p:spPr>
      </p:sp>
      <p:sp>
        <p:nvSpPr>
          <p:cNvPr id="15" name="Shape 13"/>
          <p:cNvSpPr/>
          <p:nvPr/>
        </p:nvSpPr>
        <p:spPr>
          <a:xfrm>
            <a:off x="1874520" y="3273552"/>
            <a:ext cx="288036" cy="146304"/>
          </a:xfrm>
          <a:prstGeom prst="rect">
            <a:avLst/>
          </a:prstGeom>
          <a:solidFill>
            <a:srgbClr val="F6C453"/>
          </a:solidFill>
          <a:ln w="12700">
            <a:solidFill>
              <a:srgbClr val="F6C453"/>
            </a:solidFill>
            <a:prstDash val="solid"/>
          </a:ln>
        </p:spPr>
      </p:sp>
      <p:sp>
        <p:nvSpPr>
          <p:cNvPr id="16" name="Text 14"/>
          <p:cNvSpPr txBox="1"/>
          <p:nvPr/>
        </p:nvSpPr>
        <p:spPr>
          <a:xfrm>
            <a:off x="3291840" y="3236976"/>
            <a:ext cx="329184" cy="182880"/>
          </a:xfrm>
          <a:prstGeom prst="rect">
            <a:avLst/>
          </a:prstGeom>
          <a:noFill/>
          <a:ln/>
        </p:spPr>
        <p:txBody>
          <a:bodyPr wrap="square" lIns="0" tIns="0" rIns="0" bIns="0" rtlCol="0" anchor="ctr">
            <a:normAutofit/>
          </a:bodyPr>
          <a:lstStyle/>
          <a:p>
            <a:pPr algn="r" indent="0" marL="0">
              <a:buNone/>
            </a:pPr>
            <a:r>
              <a:rPr lang="en-US" sz="850" b="1" dirty="0">
                <a:solidFill>
                  <a:srgbClr val="F6C453"/>
                </a:solidFill>
                <a:latin typeface="Arial" pitchFamily="34" charset="0"/>
                <a:ea typeface="Arial" pitchFamily="34" charset="-122"/>
                <a:cs typeface="Arial" pitchFamily="34" charset="-120"/>
              </a:rPr>
              <a:t>21%</a:t>
            </a:r>
            <a:endParaRPr lang="en-US" sz="850" dirty="0"/>
          </a:p>
        </p:txBody>
      </p:sp>
      <p:sp>
        <p:nvSpPr>
          <p:cNvPr id="17" name="Text 15"/>
          <p:cNvSpPr txBox="1"/>
          <p:nvPr/>
        </p:nvSpPr>
        <p:spPr>
          <a:xfrm>
            <a:off x="877824" y="3749040"/>
            <a:ext cx="932688" cy="182880"/>
          </a:xfrm>
          <a:prstGeom prst="rect">
            <a:avLst/>
          </a:prstGeom>
          <a:noFill/>
          <a:ln/>
        </p:spPr>
        <p:txBody>
          <a:bodyPr wrap="square" lIns="0" tIns="0" rIns="0" bIns="0" rtlCol="0" anchor="ctr">
            <a:normAutofit/>
          </a:bodyPr>
          <a:lstStyle/>
          <a:p>
            <a:pPr algn="l" indent="0" marL="0">
              <a:buNone/>
            </a:pPr>
            <a:r>
              <a:rPr lang="en-US" sz="950" b="1" dirty="0">
                <a:solidFill>
                  <a:srgbClr val="91A0B8"/>
                </a:solidFill>
                <a:latin typeface="Arial" pitchFamily="34" charset="0"/>
                <a:ea typeface="Arial" pitchFamily="34" charset="-122"/>
                <a:cs typeface="Arial" pitchFamily="34" charset="-120"/>
              </a:rPr>
              <a:t>P(Down)</a:t>
            </a:r>
            <a:endParaRPr lang="en-US" sz="950" dirty="0"/>
          </a:p>
        </p:txBody>
      </p:sp>
      <p:sp>
        <p:nvSpPr>
          <p:cNvPr id="18" name="Shape 16"/>
          <p:cNvSpPr/>
          <p:nvPr/>
        </p:nvSpPr>
        <p:spPr>
          <a:xfrm>
            <a:off x="1874520" y="3767328"/>
            <a:ext cx="1371600" cy="146304"/>
          </a:xfrm>
          <a:prstGeom prst="rect">
            <a:avLst/>
          </a:prstGeom>
          <a:solidFill>
            <a:srgbClr val="26364A"/>
          </a:solidFill>
          <a:ln w="12700">
            <a:solidFill>
              <a:srgbClr val="26364A"/>
            </a:solidFill>
            <a:prstDash val="solid"/>
          </a:ln>
        </p:spPr>
      </p:sp>
      <p:sp>
        <p:nvSpPr>
          <p:cNvPr id="19" name="Shape 17"/>
          <p:cNvSpPr/>
          <p:nvPr/>
        </p:nvSpPr>
        <p:spPr>
          <a:xfrm>
            <a:off x="1874520" y="3767328"/>
            <a:ext cx="96012" cy="146304"/>
          </a:xfrm>
          <a:prstGeom prst="rect">
            <a:avLst/>
          </a:prstGeom>
          <a:solidFill>
            <a:srgbClr val="FF637D"/>
          </a:solidFill>
          <a:ln w="12700">
            <a:solidFill>
              <a:srgbClr val="FF637D"/>
            </a:solidFill>
            <a:prstDash val="solid"/>
          </a:ln>
        </p:spPr>
      </p:sp>
      <p:sp>
        <p:nvSpPr>
          <p:cNvPr id="20" name="Text 18"/>
          <p:cNvSpPr txBox="1"/>
          <p:nvPr/>
        </p:nvSpPr>
        <p:spPr>
          <a:xfrm>
            <a:off x="3291840" y="3730752"/>
            <a:ext cx="329184" cy="182880"/>
          </a:xfrm>
          <a:prstGeom prst="rect">
            <a:avLst/>
          </a:prstGeom>
          <a:noFill/>
          <a:ln/>
        </p:spPr>
        <p:txBody>
          <a:bodyPr wrap="square" lIns="0" tIns="0" rIns="0" bIns="0" rtlCol="0" anchor="ctr">
            <a:normAutofit/>
          </a:bodyPr>
          <a:lstStyle/>
          <a:p>
            <a:pPr algn="r" indent="0" marL="0">
              <a:buNone/>
            </a:pPr>
            <a:r>
              <a:rPr lang="en-US" sz="850" b="1" dirty="0">
                <a:solidFill>
                  <a:srgbClr val="FF637D"/>
                </a:solidFill>
                <a:latin typeface="Arial" pitchFamily="34" charset="0"/>
                <a:ea typeface="Arial" pitchFamily="34" charset="-122"/>
                <a:cs typeface="Arial" pitchFamily="34" charset="-120"/>
              </a:rPr>
              <a:t>7%</a:t>
            </a:r>
            <a:endParaRPr lang="en-US" sz="850" dirty="0"/>
          </a:p>
        </p:txBody>
      </p:sp>
      <p:sp>
        <p:nvSpPr>
          <p:cNvPr id="21" name="Text 19"/>
          <p:cNvSpPr txBox="1"/>
          <p:nvPr/>
        </p:nvSpPr>
        <p:spPr>
          <a:xfrm>
            <a:off x="877824" y="4462272"/>
            <a:ext cx="2487168" cy="475488"/>
          </a:xfrm>
          <a:prstGeom prst="rect">
            <a:avLst/>
          </a:prstGeom>
          <a:noFill/>
          <a:ln/>
        </p:spPr>
        <p:txBody>
          <a:bodyPr wrap="square" lIns="0" tIns="0" rIns="0" bIns="0" rtlCol="0" anchor="ctr">
            <a:normAutofit/>
          </a:bodyPr>
          <a:lstStyle/>
          <a:p>
            <a:pPr algn="ctr" indent="0" marL="0">
              <a:buNone/>
            </a:pPr>
            <a:r>
              <a:rPr lang="en-US" sz="1000" dirty="0">
                <a:solidFill>
                  <a:srgbClr val="D5DEEC"/>
                </a:solidFill>
                <a:latin typeface="Arial" pitchFamily="34" charset="0"/>
                <a:ea typeface="Arial" pitchFamily="34" charset="-122"/>
                <a:cs typeface="Arial" pitchFamily="34" charset="-120"/>
              </a:rPr>
              <a:t>Telemetry: heartbeat OK • latency 24 ms • error 2.1%</a:t>
            </a:r>
            <a:endParaRPr lang="en-US" sz="1000" dirty="0"/>
          </a:p>
        </p:txBody>
      </p:sp>
      <p:sp>
        <p:nvSpPr>
          <p:cNvPr id="22" name="Shape 20"/>
          <p:cNvSpPr/>
          <p:nvPr/>
        </p:nvSpPr>
        <p:spPr>
          <a:xfrm>
            <a:off x="4133088" y="1627632"/>
            <a:ext cx="3840480" cy="4553712"/>
          </a:xfrm>
          <a:prstGeom prst="roundRect">
            <a:avLst>
              <a:gd name="adj" fmla="val 2857"/>
            </a:avLst>
          </a:prstGeom>
          <a:solidFill>
            <a:srgbClr val="101827"/>
          </a:solidFill>
          <a:ln w="12700">
            <a:solidFill>
              <a:srgbClr val="40D9FF"/>
            </a:solidFill>
            <a:prstDash val="solid"/>
          </a:ln>
        </p:spPr>
      </p:sp>
      <p:sp>
        <p:nvSpPr>
          <p:cNvPr id="23" name="Shape 21"/>
          <p:cNvSpPr/>
          <p:nvPr/>
        </p:nvSpPr>
        <p:spPr>
          <a:xfrm>
            <a:off x="4370832" y="1847088"/>
            <a:ext cx="1188720" cy="274320"/>
          </a:xfrm>
          <a:prstGeom prst="roundRect">
            <a:avLst>
              <a:gd name="adj" fmla="val 46667"/>
            </a:avLst>
          </a:prstGeom>
          <a:solidFill>
            <a:srgbClr val="40D9FF">
              <a:alpha val="14000"/>
            </a:srgbClr>
          </a:solidFill>
          <a:ln w="11430">
            <a:solidFill>
              <a:srgbClr val="40D9FF">
                <a:alpha val="65000"/>
              </a:srgbClr>
            </a:solidFill>
            <a:prstDash val="solid"/>
          </a:ln>
        </p:spPr>
      </p:sp>
      <p:sp>
        <p:nvSpPr>
          <p:cNvPr id="24" name="Text 22"/>
          <p:cNvSpPr txBox="1"/>
          <p:nvPr/>
        </p:nvSpPr>
        <p:spPr>
          <a:xfrm>
            <a:off x="4425696" y="1888236"/>
            <a:ext cx="1078992" cy="164592"/>
          </a:xfrm>
          <a:prstGeom prst="rect">
            <a:avLst/>
          </a:prstGeom>
          <a:noFill/>
          <a:ln/>
        </p:spPr>
        <p:txBody>
          <a:bodyPr wrap="square" lIns="0" tIns="0" rIns="0" bIns="0" rtlCol="0" anchor="ctr">
            <a:normAutofit/>
          </a:bodyPr>
          <a:lstStyle/>
          <a:p>
            <a:pPr algn="ctr" indent="0" marL="0">
              <a:buNone/>
            </a:pPr>
            <a:r>
              <a:rPr lang="en-US" sz="810" b="1" dirty="0">
                <a:solidFill>
                  <a:srgbClr val="40D9FF"/>
                </a:solidFill>
                <a:latin typeface="Arial" pitchFamily="34" charset="0"/>
                <a:ea typeface="Arial" pitchFamily="34" charset="-122"/>
                <a:cs typeface="Arial" pitchFamily="34" charset="-120"/>
              </a:rPr>
              <a:t>TASK DECISION</a:t>
            </a:r>
            <a:endParaRPr lang="en-US" sz="810" dirty="0"/>
          </a:p>
        </p:txBody>
      </p:sp>
      <p:sp>
        <p:nvSpPr>
          <p:cNvPr id="25" name="Text 23"/>
          <p:cNvSpPr txBox="1"/>
          <p:nvPr/>
        </p:nvSpPr>
        <p:spPr>
          <a:xfrm>
            <a:off x="4462272" y="2359152"/>
            <a:ext cx="914400" cy="219456"/>
          </a:xfrm>
          <a:prstGeom prst="rect">
            <a:avLst/>
          </a:prstGeom>
          <a:noFill/>
          <a:ln/>
        </p:spPr>
        <p:txBody>
          <a:bodyPr wrap="square" lIns="0" tIns="0" rIns="0" bIns="0" rtlCol="0" anchor="ctr">
            <a:normAutofit/>
          </a:bodyPr>
          <a:lstStyle/>
          <a:p>
            <a:pPr algn="l" indent="0" marL="0">
              <a:buNone/>
            </a:pPr>
            <a:r>
              <a:rPr lang="en-US" sz="1300" b="1" dirty="0">
                <a:solidFill>
                  <a:srgbClr val="F6F8FC"/>
                </a:solidFill>
                <a:latin typeface="Arial" pitchFamily="34" charset="0"/>
                <a:ea typeface="Arial" pitchFamily="34" charset="-122"/>
                <a:cs typeface="Arial" pitchFamily="34" charset="-120"/>
              </a:rPr>
              <a:t>Task 17</a:t>
            </a:r>
            <a:endParaRPr lang="en-US" sz="1300" dirty="0"/>
          </a:p>
        </p:txBody>
      </p:sp>
      <p:sp>
        <p:nvSpPr>
          <p:cNvPr id="26" name="Text 24"/>
          <p:cNvSpPr txBox="1"/>
          <p:nvPr/>
        </p:nvSpPr>
        <p:spPr>
          <a:xfrm>
            <a:off x="4498848" y="2743200"/>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Remaining work</a:t>
            </a:r>
            <a:endParaRPr lang="en-US" sz="940" dirty="0"/>
          </a:p>
        </p:txBody>
      </p:sp>
      <p:sp>
        <p:nvSpPr>
          <p:cNvPr id="27" name="Text 25"/>
          <p:cNvSpPr txBox="1"/>
          <p:nvPr/>
        </p:nvSpPr>
        <p:spPr>
          <a:xfrm>
            <a:off x="6217920" y="2743200"/>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F8FC"/>
                </a:solidFill>
                <a:latin typeface="Arial" pitchFamily="34" charset="0"/>
                <a:ea typeface="Arial" pitchFamily="34" charset="-122"/>
                <a:cs typeface="Arial" pitchFamily="34" charset="-120"/>
              </a:rPr>
              <a:t>4</a:t>
            </a:r>
            <a:endParaRPr lang="en-US" sz="1020" dirty="0"/>
          </a:p>
        </p:txBody>
      </p:sp>
      <p:sp>
        <p:nvSpPr>
          <p:cNvPr id="28" name="Text 26"/>
          <p:cNvSpPr txBox="1"/>
          <p:nvPr/>
        </p:nvSpPr>
        <p:spPr>
          <a:xfrm>
            <a:off x="4498848" y="3090672"/>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Deadline</a:t>
            </a:r>
            <a:endParaRPr lang="en-US" sz="940" dirty="0"/>
          </a:p>
        </p:txBody>
      </p:sp>
      <p:sp>
        <p:nvSpPr>
          <p:cNvPr id="29" name="Text 27"/>
          <p:cNvSpPr txBox="1"/>
          <p:nvPr/>
        </p:nvSpPr>
        <p:spPr>
          <a:xfrm>
            <a:off x="6217920" y="3090672"/>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F8FC"/>
                </a:solidFill>
                <a:latin typeface="Arial" pitchFamily="34" charset="0"/>
                <a:ea typeface="Arial" pitchFamily="34" charset="-122"/>
                <a:cs typeface="Arial" pitchFamily="34" charset="-120"/>
              </a:rPr>
              <a:t>8</a:t>
            </a:r>
            <a:endParaRPr lang="en-US" sz="1020" dirty="0"/>
          </a:p>
        </p:txBody>
      </p:sp>
      <p:sp>
        <p:nvSpPr>
          <p:cNvPr id="30" name="Text 28"/>
          <p:cNvSpPr txBox="1"/>
          <p:nvPr/>
        </p:nvSpPr>
        <p:spPr>
          <a:xfrm>
            <a:off x="4498848" y="3438144"/>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Best node</a:t>
            </a:r>
            <a:endParaRPr lang="en-US" sz="940" dirty="0"/>
          </a:p>
        </p:txBody>
      </p:sp>
      <p:sp>
        <p:nvSpPr>
          <p:cNvPr id="31" name="Text 29"/>
          <p:cNvSpPr txBox="1"/>
          <p:nvPr/>
        </p:nvSpPr>
        <p:spPr>
          <a:xfrm>
            <a:off x="6217920" y="3438144"/>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F8FC"/>
                </a:solidFill>
                <a:latin typeface="Arial" pitchFamily="34" charset="0"/>
                <a:ea typeface="Arial" pitchFamily="34" charset="-122"/>
                <a:cs typeface="Arial" pitchFamily="34" charset="-120"/>
              </a:rPr>
              <a:t>Node 4</a:t>
            </a:r>
            <a:endParaRPr lang="en-US" sz="1020" dirty="0"/>
          </a:p>
        </p:txBody>
      </p:sp>
      <p:sp>
        <p:nvSpPr>
          <p:cNvPr id="32" name="Text 30"/>
          <p:cNvSpPr txBox="1"/>
          <p:nvPr/>
        </p:nvSpPr>
        <p:spPr>
          <a:xfrm>
            <a:off x="4498848" y="3785616"/>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Commit value</a:t>
            </a:r>
            <a:endParaRPr lang="en-US" sz="940" dirty="0"/>
          </a:p>
        </p:txBody>
      </p:sp>
      <p:sp>
        <p:nvSpPr>
          <p:cNvPr id="33" name="Text 31"/>
          <p:cNvSpPr txBox="1"/>
          <p:nvPr/>
        </p:nvSpPr>
        <p:spPr>
          <a:xfrm>
            <a:off x="6217920" y="3785616"/>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F8FC"/>
                </a:solidFill>
                <a:latin typeface="Arial" pitchFamily="34" charset="0"/>
                <a:ea typeface="Arial" pitchFamily="34" charset="-122"/>
                <a:cs typeface="Arial" pitchFamily="34" charset="-120"/>
              </a:rPr>
              <a:t>0.71</a:t>
            </a:r>
            <a:endParaRPr lang="en-US" sz="1020" dirty="0"/>
          </a:p>
        </p:txBody>
      </p:sp>
      <p:sp>
        <p:nvSpPr>
          <p:cNvPr id="34" name="Text 32"/>
          <p:cNvSpPr txBox="1"/>
          <p:nvPr/>
        </p:nvSpPr>
        <p:spPr>
          <a:xfrm>
            <a:off x="4498848" y="4133088"/>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Hold value</a:t>
            </a:r>
            <a:endParaRPr lang="en-US" sz="940" dirty="0"/>
          </a:p>
        </p:txBody>
      </p:sp>
      <p:sp>
        <p:nvSpPr>
          <p:cNvPr id="35" name="Text 33"/>
          <p:cNvSpPr txBox="1"/>
          <p:nvPr/>
        </p:nvSpPr>
        <p:spPr>
          <a:xfrm>
            <a:off x="6217920" y="4133088"/>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F8FC"/>
                </a:solidFill>
                <a:latin typeface="Arial" pitchFamily="34" charset="0"/>
                <a:ea typeface="Arial" pitchFamily="34" charset="-122"/>
                <a:cs typeface="Arial" pitchFamily="34" charset="-120"/>
              </a:rPr>
              <a:t>0.76</a:t>
            </a:r>
            <a:endParaRPr lang="en-US" sz="1020" dirty="0"/>
          </a:p>
        </p:txBody>
      </p:sp>
      <p:sp>
        <p:nvSpPr>
          <p:cNvPr id="36" name="Text 34"/>
          <p:cNvSpPr txBox="1"/>
          <p:nvPr/>
        </p:nvSpPr>
        <p:spPr>
          <a:xfrm>
            <a:off x="4498848" y="4480560"/>
            <a:ext cx="1417320" cy="182880"/>
          </a:xfrm>
          <a:prstGeom prst="rect">
            <a:avLst/>
          </a:prstGeom>
          <a:noFill/>
          <a:ln/>
        </p:spPr>
        <p:txBody>
          <a:bodyPr wrap="square" lIns="0" tIns="0" rIns="0" bIns="0" rtlCol="0" anchor="ctr">
            <a:normAutofit/>
          </a:bodyPr>
          <a:lstStyle/>
          <a:p>
            <a:pPr algn="l" indent="0" marL="0">
              <a:buNone/>
            </a:pPr>
            <a:r>
              <a:rPr lang="en-US" sz="940" b="1" dirty="0">
                <a:solidFill>
                  <a:srgbClr val="91A0B8"/>
                </a:solidFill>
                <a:latin typeface="Arial" pitchFamily="34" charset="0"/>
                <a:ea typeface="Arial" pitchFamily="34" charset="-122"/>
                <a:cs typeface="Arial" pitchFamily="34" charset="-120"/>
              </a:rPr>
              <a:t>Stopping advantage</a:t>
            </a:r>
            <a:endParaRPr lang="en-US" sz="940" dirty="0"/>
          </a:p>
        </p:txBody>
      </p:sp>
      <p:sp>
        <p:nvSpPr>
          <p:cNvPr id="37" name="Text 35"/>
          <p:cNvSpPr txBox="1"/>
          <p:nvPr/>
        </p:nvSpPr>
        <p:spPr>
          <a:xfrm>
            <a:off x="6217920" y="4480560"/>
            <a:ext cx="640080" cy="182880"/>
          </a:xfrm>
          <a:prstGeom prst="rect">
            <a:avLst/>
          </a:prstGeom>
          <a:noFill/>
          <a:ln/>
        </p:spPr>
        <p:txBody>
          <a:bodyPr wrap="square" lIns="0" tIns="0" rIns="0" bIns="0" rtlCol="0" anchor="ctr">
            <a:normAutofit/>
          </a:bodyPr>
          <a:lstStyle/>
          <a:p>
            <a:pPr algn="r" indent="0" marL="0">
              <a:buNone/>
            </a:pPr>
            <a:r>
              <a:rPr lang="en-US" sz="1020" b="1" dirty="0">
                <a:solidFill>
                  <a:srgbClr val="F6C453"/>
                </a:solidFill>
                <a:latin typeface="Arial" pitchFamily="34" charset="0"/>
                <a:ea typeface="Arial" pitchFamily="34" charset="-122"/>
                <a:cs typeface="Arial" pitchFamily="34" charset="-120"/>
              </a:rPr>
              <a:t>−0.05</a:t>
            </a:r>
            <a:endParaRPr lang="en-US" sz="1020" dirty="0"/>
          </a:p>
        </p:txBody>
      </p:sp>
      <p:sp>
        <p:nvSpPr>
          <p:cNvPr id="38" name="Shape 36"/>
          <p:cNvSpPr/>
          <p:nvPr/>
        </p:nvSpPr>
        <p:spPr>
          <a:xfrm>
            <a:off x="4709160" y="5157216"/>
            <a:ext cx="2304288" cy="384048"/>
          </a:xfrm>
          <a:prstGeom prst="roundRect">
            <a:avLst/>
          </a:prstGeom>
          <a:solidFill>
            <a:srgbClr val="F6C453">
              <a:alpha val="14000"/>
            </a:srgbClr>
          </a:solidFill>
          <a:ln w="12700">
            <a:solidFill>
              <a:srgbClr val="F6C453"/>
            </a:solidFill>
            <a:prstDash val="solid"/>
          </a:ln>
        </p:spPr>
      </p:sp>
      <p:sp>
        <p:nvSpPr>
          <p:cNvPr id="39" name="Text 37"/>
          <p:cNvSpPr txBox="1"/>
          <p:nvPr/>
        </p:nvSpPr>
        <p:spPr>
          <a:xfrm>
            <a:off x="4709160" y="5266944"/>
            <a:ext cx="2304288" cy="164592"/>
          </a:xfrm>
          <a:prstGeom prst="rect">
            <a:avLst/>
          </a:prstGeom>
          <a:noFill/>
          <a:ln/>
        </p:spPr>
        <p:txBody>
          <a:bodyPr wrap="square" lIns="0" tIns="0" rIns="0" bIns="0" rtlCol="0" anchor="ctr">
            <a:normAutofit/>
          </a:bodyPr>
          <a:lstStyle/>
          <a:p>
            <a:pPr algn="ctr" indent="0" marL="0">
              <a:buNone/>
            </a:pPr>
            <a:r>
              <a:rPr lang="en-US" sz="1100" b="1" dirty="0">
                <a:solidFill>
                  <a:srgbClr val="F6C453"/>
                </a:solidFill>
                <a:latin typeface="Arial" pitchFamily="34" charset="0"/>
                <a:ea typeface="Arial" pitchFamily="34" charset="-122"/>
                <a:cs typeface="Arial" pitchFamily="34" charset="-120"/>
              </a:rPr>
              <a:t>Decision: HOLD</a:t>
            </a:r>
            <a:endParaRPr lang="en-US" sz="1100" dirty="0"/>
          </a:p>
        </p:txBody>
      </p:sp>
      <p:sp>
        <p:nvSpPr>
          <p:cNvPr id="40" name="Shape 38"/>
          <p:cNvSpPr/>
          <p:nvPr/>
        </p:nvSpPr>
        <p:spPr>
          <a:xfrm>
            <a:off x="8302752" y="1627632"/>
            <a:ext cx="3291840" cy="4553712"/>
          </a:xfrm>
          <a:prstGeom prst="roundRect">
            <a:avLst>
              <a:gd name="adj" fmla="val 3333"/>
            </a:avLst>
          </a:prstGeom>
          <a:solidFill>
            <a:srgbClr val="101827"/>
          </a:solidFill>
          <a:ln w="12700">
            <a:solidFill>
              <a:srgbClr val="25D0B1"/>
            </a:solidFill>
            <a:prstDash val="solid"/>
          </a:ln>
        </p:spPr>
      </p:sp>
      <p:sp>
        <p:nvSpPr>
          <p:cNvPr id="41" name="Shape 39"/>
          <p:cNvSpPr/>
          <p:nvPr/>
        </p:nvSpPr>
        <p:spPr>
          <a:xfrm>
            <a:off x="8540496" y="1847088"/>
            <a:ext cx="1554480" cy="274320"/>
          </a:xfrm>
          <a:prstGeom prst="roundRect">
            <a:avLst>
              <a:gd name="adj" fmla="val 46667"/>
            </a:avLst>
          </a:prstGeom>
          <a:solidFill>
            <a:srgbClr val="25D0B1">
              <a:alpha val="14000"/>
            </a:srgbClr>
          </a:solidFill>
          <a:ln w="11430">
            <a:solidFill>
              <a:srgbClr val="25D0B1">
                <a:alpha val="65000"/>
              </a:srgbClr>
            </a:solidFill>
            <a:prstDash val="solid"/>
          </a:ln>
        </p:spPr>
      </p:sp>
      <p:sp>
        <p:nvSpPr>
          <p:cNvPr id="42" name="Text 40"/>
          <p:cNvSpPr txBox="1"/>
          <p:nvPr/>
        </p:nvSpPr>
        <p:spPr>
          <a:xfrm>
            <a:off x="8595360" y="1888236"/>
            <a:ext cx="1444752" cy="164592"/>
          </a:xfrm>
          <a:prstGeom prst="rect">
            <a:avLst/>
          </a:prstGeom>
          <a:noFill/>
          <a:ln/>
        </p:spPr>
        <p:txBody>
          <a:bodyPr wrap="square" lIns="0" tIns="0" rIns="0" bIns="0" rtlCol="0" anchor="ctr">
            <a:normAutofit/>
          </a:bodyPr>
          <a:lstStyle/>
          <a:p>
            <a:pPr algn="ctr" indent="0" marL="0">
              <a:buNone/>
            </a:pPr>
            <a:r>
              <a:rPr lang="en-US" sz="810" b="1" dirty="0">
                <a:solidFill>
                  <a:srgbClr val="25D0B1"/>
                </a:solidFill>
                <a:latin typeface="Arial" pitchFamily="34" charset="0"/>
                <a:ea typeface="Arial" pitchFamily="34" charset="-122"/>
                <a:cs typeface="Arial" pitchFamily="34" charset="-120"/>
              </a:rPr>
              <a:t>REROUTE EXPLANATION</a:t>
            </a:r>
            <a:endParaRPr lang="en-US" sz="810" dirty="0"/>
          </a:p>
        </p:txBody>
      </p:sp>
      <p:sp>
        <p:nvSpPr>
          <p:cNvPr id="43" name="Text 41"/>
          <p:cNvSpPr txBox="1"/>
          <p:nvPr/>
        </p:nvSpPr>
        <p:spPr>
          <a:xfrm>
            <a:off x="8641080" y="2377440"/>
            <a:ext cx="1554480" cy="201168"/>
          </a:xfrm>
          <a:prstGeom prst="rect">
            <a:avLst/>
          </a:prstGeom>
          <a:noFill/>
          <a:ln/>
        </p:spPr>
        <p:txBody>
          <a:bodyPr wrap="square" lIns="0" tIns="0" rIns="0" bIns="0" rtlCol="0" anchor="ctr">
            <a:normAutofit/>
          </a:bodyPr>
          <a:lstStyle/>
          <a:p>
            <a:pPr algn="l" indent="0" marL="0">
              <a:buNone/>
            </a:pPr>
            <a:r>
              <a:rPr lang="en-US" sz="1200" b="1" dirty="0">
                <a:solidFill>
                  <a:srgbClr val="F6F8FC"/>
                </a:solidFill>
                <a:latin typeface="Arial" pitchFamily="34" charset="0"/>
                <a:ea typeface="Arial" pitchFamily="34" charset="-122"/>
                <a:cs typeface="Arial" pitchFamily="34" charset="-120"/>
              </a:rPr>
              <a:t>Task 21 on Node 3</a:t>
            </a:r>
            <a:endParaRPr lang="en-US" sz="1200" dirty="0"/>
          </a:p>
        </p:txBody>
      </p:sp>
      <p:sp>
        <p:nvSpPr>
          <p:cNvPr id="44" name="Text 42"/>
          <p:cNvSpPr txBox="1"/>
          <p:nvPr/>
        </p:nvSpPr>
        <p:spPr>
          <a:xfrm>
            <a:off x="8668512" y="2907792"/>
            <a:ext cx="1645920" cy="530352"/>
          </a:xfrm>
          <a:prstGeom prst="rect">
            <a:avLst/>
          </a:prstGeom>
          <a:noFill/>
          <a:ln/>
        </p:spPr>
        <p:txBody>
          <a:bodyPr wrap="square" lIns="0" tIns="0" rIns="0" bIns="0" rtlCol="0" anchor="ctr">
            <a:normAutofit/>
          </a:bodyPr>
          <a:lstStyle/>
          <a:p>
            <a:pPr algn="l" indent="0" marL="0">
              <a:buNone/>
            </a:pPr>
            <a:r>
              <a:rPr lang="en-US" sz="1200" b="1" dirty="0">
                <a:solidFill>
                  <a:srgbClr val="D5DEEC"/>
                </a:solidFill>
                <a:latin typeface="Arial" pitchFamily="34" charset="0"/>
                <a:ea typeface="Arial" pitchFamily="34" charset="-122"/>
                <a:cs typeface="Arial" pitchFamily="34" charset="-120"/>
              </a:rPr>
              <a:t>Stay value: 0.42</a:t>
            </a:r>
            <a:endParaRPr lang="en-US" sz="1200" dirty="0"/>
          </a:p>
          <a:p>
            <a:pPr algn="l" indent="0" marL="0">
              <a:buNone/>
            </a:pPr>
            <a:r>
              <a:rPr lang="en-US" sz="1200" b="1" dirty="0">
                <a:solidFill>
                  <a:srgbClr val="D5DEEC"/>
                </a:solidFill>
                <a:latin typeface="Arial" pitchFamily="34" charset="0"/>
                <a:ea typeface="Arial" pitchFamily="34" charset="-122"/>
                <a:cs typeface="Arial" pitchFamily="34" charset="-120"/>
              </a:rPr>
              <a:t>Reroute value: 0.31</a:t>
            </a:r>
            <a:endParaRPr lang="en-US" sz="1200" dirty="0"/>
          </a:p>
        </p:txBody>
      </p:sp>
      <p:sp>
        <p:nvSpPr>
          <p:cNvPr id="45" name="Text 43"/>
          <p:cNvSpPr txBox="1"/>
          <p:nvPr/>
        </p:nvSpPr>
        <p:spPr>
          <a:xfrm>
            <a:off x="8668512" y="3767328"/>
            <a:ext cx="1554480" cy="219456"/>
          </a:xfrm>
          <a:prstGeom prst="rect">
            <a:avLst/>
          </a:prstGeom>
          <a:noFill/>
          <a:ln/>
        </p:spPr>
        <p:txBody>
          <a:bodyPr wrap="square" lIns="0" tIns="0" rIns="0" bIns="0" rtlCol="0" anchor="ctr">
            <a:normAutofit/>
          </a:bodyPr>
          <a:lstStyle/>
          <a:p>
            <a:pPr algn="l" indent="0" marL="0">
              <a:buNone/>
            </a:pPr>
            <a:r>
              <a:rPr lang="en-US" sz="1300" b="1" dirty="0">
                <a:solidFill>
                  <a:srgbClr val="3CE28F"/>
                </a:solidFill>
                <a:latin typeface="Arial" pitchFamily="34" charset="0"/>
                <a:ea typeface="Arial" pitchFamily="34" charset="-122"/>
                <a:cs typeface="Arial" pitchFamily="34" charset="-120"/>
              </a:rPr>
              <a:t>Decision: STAY</a:t>
            </a:r>
            <a:endParaRPr lang="en-US" sz="1300" dirty="0"/>
          </a:p>
        </p:txBody>
      </p:sp>
      <p:sp>
        <p:nvSpPr>
          <p:cNvPr id="46" name="Text 44"/>
          <p:cNvSpPr txBox="1"/>
          <p:nvPr/>
        </p:nvSpPr>
        <p:spPr>
          <a:xfrm>
            <a:off x="8668512" y="4261104"/>
            <a:ext cx="2139696" cy="548640"/>
          </a:xfrm>
          <a:prstGeom prst="rect">
            <a:avLst/>
          </a:prstGeom>
          <a:noFill/>
          <a:ln/>
        </p:spPr>
        <p:txBody>
          <a:bodyPr wrap="square" lIns="0" tIns="0" rIns="0" bIns="0" rtlCol="0" anchor="ctr">
            <a:normAutofit/>
          </a:bodyPr>
          <a:lstStyle/>
          <a:p>
            <a:pPr algn="l" indent="0" marL="0">
              <a:buNone/>
            </a:pPr>
            <a:r>
              <a:rPr lang="en-US" sz="1050" dirty="0">
                <a:solidFill>
                  <a:srgbClr val="D5DEEC"/>
                </a:solidFill>
                <a:latin typeface="Arial" pitchFamily="34" charset="0"/>
                <a:ea typeface="Arial" pitchFamily="34" charset="-122"/>
                <a:cs typeface="Arial" pitchFamily="34" charset="-120"/>
              </a:rPr>
              <a:t>Reason: reroute would discard 5 units of accumulated progress.</a:t>
            </a:r>
            <a:endParaRPr lang="en-US" sz="1050" dirty="0"/>
          </a:p>
        </p:txBody>
      </p:sp>
      <p:sp>
        <p:nvSpPr>
          <p:cNvPr id="47" name="Text 45"/>
          <p:cNvSpPr txBox="1"/>
          <p:nvPr/>
        </p:nvSpPr>
        <p:spPr>
          <a:xfrm>
            <a:off x="8668512" y="5120640"/>
            <a:ext cx="2148840" cy="329184"/>
          </a:xfrm>
          <a:prstGeom prst="rect">
            <a:avLst/>
          </a:prstGeom>
          <a:noFill/>
          <a:ln/>
        </p:spPr>
        <p:txBody>
          <a:bodyPr wrap="square" lIns="0" tIns="0" rIns="0" bIns="0" rtlCol="0" anchor="ctr">
            <a:normAutofit/>
          </a:bodyPr>
          <a:lstStyle/>
          <a:p>
            <a:pPr algn="l" indent="0" marL="0">
              <a:buNone/>
            </a:pPr>
            <a:r>
              <a:rPr lang="en-US" sz="1050" b="1" dirty="0">
                <a:solidFill>
                  <a:srgbClr val="F6F8FC"/>
                </a:solidFill>
                <a:latin typeface="Arial" pitchFamily="34" charset="0"/>
                <a:ea typeface="Arial" pitchFamily="34" charset="-122"/>
                <a:cs typeface="Arial" pitchFamily="34" charset="-120"/>
              </a:rPr>
              <a:t>This is more defensible than “threshold crossed.”</a:t>
            </a:r>
            <a:endParaRPr lang="en-US" sz="10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VALIDATION</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Canonical five-seed benchmark: higher completion, lower failure, real-time speed</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Default sandbox • 2,000 steps • aggregate across five seeds.</a:t>
            </a:r>
            <a:endParaRPr lang="en-US" sz="1200" dirty="0"/>
          </a:p>
        </p:txBody>
      </p:sp>
      <p:sp>
        <p:nvSpPr>
          <p:cNvPr id="5" name="Shape 3"/>
          <p:cNvSpPr/>
          <p:nvPr/>
        </p:nvSpPr>
        <p:spPr>
          <a:xfrm>
            <a:off x="566928" y="1719072"/>
            <a:ext cx="3675888" cy="2048256"/>
          </a:xfrm>
          <a:prstGeom prst="roundRect">
            <a:avLst>
              <a:gd name="adj" fmla="val 5357"/>
            </a:avLst>
          </a:prstGeom>
          <a:solidFill>
            <a:srgbClr val="101827"/>
          </a:solidFill>
          <a:ln w="12700">
            <a:solidFill>
              <a:srgbClr val="3CE28F"/>
            </a:solidFill>
            <a:prstDash val="solid"/>
          </a:ln>
        </p:spPr>
      </p:sp>
      <p:sp>
        <p:nvSpPr>
          <p:cNvPr id="6" name="Text 4"/>
          <p:cNvSpPr txBox="1"/>
          <p:nvPr/>
        </p:nvSpPr>
        <p:spPr>
          <a:xfrm>
            <a:off x="731520" y="1847088"/>
            <a:ext cx="3346704" cy="256032"/>
          </a:xfrm>
          <a:prstGeom prst="rect">
            <a:avLst/>
          </a:prstGeom>
          <a:noFill/>
          <a:ln/>
        </p:spPr>
        <p:txBody>
          <a:bodyPr wrap="square" lIns="0" tIns="0" rIns="0" bIns="0" rtlCol="0" anchor="ctr">
            <a:normAutofit/>
          </a:bodyPr>
          <a:lstStyle/>
          <a:p>
            <a:pPr algn="l" indent="0" marL="0">
              <a:buNone/>
            </a:pPr>
            <a:r>
              <a:rPr lang="en-US" sz="1200" b="1" dirty="0">
                <a:solidFill>
                  <a:srgbClr val="F6F8FC"/>
                </a:solidFill>
                <a:latin typeface="Arial" pitchFamily="34" charset="0"/>
                <a:ea typeface="Arial" pitchFamily="34" charset="-122"/>
                <a:cs typeface="Arial" pitchFamily="34" charset="-120"/>
              </a:rPr>
              <a:t>Task completion rate</a:t>
            </a:r>
            <a:endParaRPr lang="en-US" sz="1200" dirty="0"/>
          </a:p>
        </p:txBody>
      </p:sp>
      <p:sp>
        <p:nvSpPr>
          <p:cNvPr id="7" name="Text 5"/>
          <p:cNvSpPr txBox="1"/>
          <p:nvPr/>
        </p:nvSpPr>
        <p:spPr>
          <a:xfrm>
            <a:off x="731520" y="2322576"/>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91A0B8"/>
                </a:solidFill>
                <a:latin typeface="Arial" pitchFamily="34" charset="0"/>
                <a:ea typeface="Arial" pitchFamily="34" charset="-122"/>
                <a:cs typeface="Arial" pitchFamily="34" charset="-120"/>
              </a:rPr>
              <a:t>BASE</a:t>
            </a:r>
            <a:endParaRPr lang="en-US" sz="830" dirty="0"/>
          </a:p>
        </p:txBody>
      </p:sp>
      <p:sp>
        <p:nvSpPr>
          <p:cNvPr id="8" name="Shape 6"/>
          <p:cNvSpPr/>
          <p:nvPr/>
        </p:nvSpPr>
        <p:spPr>
          <a:xfrm>
            <a:off x="1463040" y="2350008"/>
            <a:ext cx="2532888" cy="182880"/>
          </a:xfrm>
          <a:prstGeom prst="rect">
            <a:avLst/>
          </a:prstGeom>
          <a:solidFill>
            <a:srgbClr val="24324A"/>
          </a:solidFill>
          <a:ln w="12700">
            <a:solidFill>
              <a:srgbClr val="24324A"/>
            </a:solidFill>
            <a:prstDash val="solid"/>
          </a:ln>
        </p:spPr>
      </p:sp>
      <p:sp>
        <p:nvSpPr>
          <p:cNvPr id="9" name="Shape 7"/>
          <p:cNvSpPr/>
          <p:nvPr/>
        </p:nvSpPr>
        <p:spPr>
          <a:xfrm>
            <a:off x="1463040" y="2350008"/>
            <a:ext cx="2180817" cy="182880"/>
          </a:xfrm>
          <a:prstGeom prst="rect">
            <a:avLst/>
          </a:prstGeom>
          <a:solidFill>
            <a:srgbClr val="69758C"/>
          </a:solidFill>
          <a:ln w="12700">
            <a:solidFill>
              <a:srgbClr val="69758C"/>
            </a:solidFill>
            <a:prstDash val="solid"/>
          </a:ln>
        </p:spPr>
      </p:sp>
      <p:sp>
        <p:nvSpPr>
          <p:cNvPr id="10" name="Text 8"/>
          <p:cNvSpPr txBox="1"/>
          <p:nvPr/>
        </p:nvSpPr>
        <p:spPr>
          <a:xfrm>
            <a:off x="1463040" y="2569464"/>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91A0B8"/>
                </a:solidFill>
                <a:latin typeface="Arial" pitchFamily="34" charset="0"/>
                <a:ea typeface="Arial" pitchFamily="34" charset="-122"/>
                <a:cs typeface="Arial" pitchFamily="34" charset="-120"/>
              </a:rPr>
              <a:t>86.1%</a:t>
            </a:r>
            <a:endParaRPr lang="en-US" sz="950" dirty="0"/>
          </a:p>
        </p:txBody>
      </p:sp>
      <p:sp>
        <p:nvSpPr>
          <p:cNvPr id="11" name="Text 9"/>
          <p:cNvSpPr txBox="1"/>
          <p:nvPr/>
        </p:nvSpPr>
        <p:spPr>
          <a:xfrm>
            <a:off x="731520" y="2907792"/>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3CE28F"/>
                </a:solidFill>
                <a:latin typeface="Arial" pitchFamily="34" charset="0"/>
                <a:ea typeface="Arial" pitchFamily="34" charset="-122"/>
                <a:cs typeface="Arial" pitchFamily="34" charset="-120"/>
              </a:rPr>
              <a:t>ACT</a:t>
            </a:r>
            <a:endParaRPr lang="en-US" sz="830" dirty="0"/>
          </a:p>
        </p:txBody>
      </p:sp>
      <p:sp>
        <p:nvSpPr>
          <p:cNvPr id="12" name="Shape 10"/>
          <p:cNvSpPr/>
          <p:nvPr/>
        </p:nvSpPr>
        <p:spPr>
          <a:xfrm>
            <a:off x="1463040" y="2935224"/>
            <a:ext cx="2532888" cy="182880"/>
          </a:xfrm>
          <a:prstGeom prst="rect">
            <a:avLst/>
          </a:prstGeom>
          <a:solidFill>
            <a:srgbClr val="24324A"/>
          </a:solidFill>
          <a:ln w="12700">
            <a:solidFill>
              <a:srgbClr val="24324A"/>
            </a:solidFill>
            <a:prstDash val="solid"/>
          </a:ln>
        </p:spPr>
      </p:sp>
      <p:sp>
        <p:nvSpPr>
          <p:cNvPr id="13" name="Shape 11"/>
          <p:cNvSpPr/>
          <p:nvPr/>
        </p:nvSpPr>
        <p:spPr>
          <a:xfrm>
            <a:off x="1463040" y="2935224"/>
            <a:ext cx="2484763" cy="182880"/>
          </a:xfrm>
          <a:prstGeom prst="rect">
            <a:avLst/>
          </a:prstGeom>
          <a:solidFill>
            <a:srgbClr val="3CE28F"/>
          </a:solidFill>
          <a:ln w="12700">
            <a:solidFill>
              <a:srgbClr val="3CE28F"/>
            </a:solidFill>
            <a:prstDash val="solid"/>
          </a:ln>
        </p:spPr>
      </p:sp>
      <p:sp>
        <p:nvSpPr>
          <p:cNvPr id="14" name="Text 12"/>
          <p:cNvSpPr txBox="1"/>
          <p:nvPr/>
        </p:nvSpPr>
        <p:spPr>
          <a:xfrm>
            <a:off x="1463040" y="3154680"/>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3CE28F"/>
                </a:solidFill>
                <a:latin typeface="Arial" pitchFamily="34" charset="0"/>
                <a:ea typeface="Arial" pitchFamily="34" charset="-122"/>
                <a:cs typeface="Arial" pitchFamily="34" charset="-120"/>
              </a:rPr>
              <a:t>98.1%</a:t>
            </a:r>
            <a:endParaRPr lang="en-US" sz="950" dirty="0"/>
          </a:p>
        </p:txBody>
      </p:sp>
      <p:sp>
        <p:nvSpPr>
          <p:cNvPr id="15" name="Shape 13"/>
          <p:cNvSpPr/>
          <p:nvPr/>
        </p:nvSpPr>
        <p:spPr>
          <a:xfrm>
            <a:off x="4279392" y="1719072"/>
            <a:ext cx="3675888" cy="2048256"/>
          </a:xfrm>
          <a:prstGeom prst="roundRect">
            <a:avLst>
              <a:gd name="adj" fmla="val 5357"/>
            </a:avLst>
          </a:prstGeom>
          <a:solidFill>
            <a:srgbClr val="101827"/>
          </a:solidFill>
          <a:ln w="12700">
            <a:solidFill>
              <a:srgbClr val="40D9FF"/>
            </a:solidFill>
            <a:prstDash val="solid"/>
          </a:ln>
        </p:spPr>
      </p:sp>
      <p:sp>
        <p:nvSpPr>
          <p:cNvPr id="16" name="Text 14"/>
          <p:cNvSpPr txBox="1"/>
          <p:nvPr/>
        </p:nvSpPr>
        <p:spPr>
          <a:xfrm>
            <a:off x="4443984" y="1847088"/>
            <a:ext cx="3346704" cy="256032"/>
          </a:xfrm>
          <a:prstGeom prst="rect">
            <a:avLst/>
          </a:prstGeom>
          <a:noFill/>
          <a:ln/>
        </p:spPr>
        <p:txBody>
          <a:bodyPr wrap="square" lIns="0" tIns="0" rIns="0" bIns="0" rtlCol="0" anchor="ctr">
            <a:normAutofit/>
          </a:bodyPr>
          <a:lstStyle/>
          <a:p>
            <a:pPr algn="l" indent="0" marL="0">
              <a:buNone/>
            </a:pPr>
            <a:r>
              <a:rPr lang="en-US" sz="1200" b="1" dirty="0">
                <a:solidFill>
                  <a:srgbClr val="F6F8FC"/>
                </a:solidFill>
                <a:latin typeface="Arial" pitchFamily="34" charset="0"/>
                <a:ea typeface="Arial" pitchFamily="34" charset="-122"/>
                <a:cs typeface="Arial" pitchFamily="34" charset="-120"/>
              </a:rPr>
              <a:t>Missed deadlines / failures</a:t>
            </a:r>
            <a:endParaRPr lang="en-US" sz="1200" dirty="0"/>
          </a:p>
        </p:txBody>
      </p:sp>
      <p:sp>
        <p:nvSpPr>
          <p:cNvPr id="17" name="Text 15"/>
          <p:cNvSpPr txBox="1"/>
          <p:nvPr/>
        </p:nvSpPr>
        <p:spPr>
          <a:xfrm>
            <a:off x="4443984" y="2322576"/>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91A0B8"/>
                </a:solidFill>
                <a:latin typeface="Arial" pitchFamily="34" charset="0"/>
                <a:ea typeface="Arial" pitchFamily="34" charset="-122"/>
                <a:cs typeface="Arial" pitchFamily="34" charset="-120"/>
              </a:rPr>
              <a:t>BASE</a:t>
            </a:r>
            <a:endParaRPr lang="en-US" sz="830" dirty="0"/>
          </a:p>
        </p:txBody>
      </p:sp>
      <p:sp>
        <p:nvSpPr>
          <p:cNvPr id="18" name="Shape 16"/>
          <p:cNvSpPr/>
          <p:nvPr/>
        </p:nvSpPr>
        <p:spPr>
          <a:xfrm>
            <a:off x="5175504" y="2350008"/>
            <a:ext cx="2532888" cy="182880"/>
          </a:xfrm>
          <a:prstGeom prst="rect">
            <a:avLst/>
          </a:prstGeom>
          <a:solidFill>
            <a:srgbClr val="24324A"/>
          </a:solidFill>
          <a:ln w="12700">
            <a:solidFill>
              <a:srgbClr val="24324A"/>
            </a:solidFill>
            <a:prstDash val="solid"/>
          </a:ln>
        </p:spPr>
      </p:sp>
      <p:sp>
        <p:nvSpPr>
          <p:cNvPr id="19" name="Shape 17"/>
          <p:cNvSpPr/>
          <p:nvPr/>
        </p:nvSpPr>
        <p:spPr>
          <a:xfrm>
            <a:off x="5175504" y="2350008"/>
            <a:ext cx="2435794" cy="182880"/>
          </a:xfrm>
          <a:prstGeom prst="rect">
            <a:avLst/>
          </a:prstGeom>
          <a:solidFill>
            <a:srgbClr val="69758C"/>
          </a:solidFill>
          <a:ln w="12700">
            <a:solidFill>
              <a:srgbClr val="69758C"/>
            </a:solidFill>
            <a:prstDash val="solid"/>
          </a:ln>
        </p:spPr>
      </p:sp>
      <p:sp>
        <p:nvSpPr>
          <p:cNvPr id="20" name="Text 18"/>
          <p:cNvSpPr txBox="1"/>
          <p:nvPr/>
        </p:nvSpPr>
        <p:spPr>
          <a:xfrm>
            <a:off x="5175504" y="2569464"/>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91A0B8"/>
                </a:solidFill>
                <a:latin typeface="Arial" pitchFamily="34" charset="0"/>
                <a:ea typeface="Arial" pitchFamily="34" charset="-122"/>
                <a:cs typeface="Arial" pitchFamily="34" charset="-120"/>
              </a:rPr>
              <a:t>577</a:t>
            </a:r>
            <a:endParaRPr lang="en-US" sz="950" dirty="0"/>
          </a:p>
        </p:txBody>
      </p:sp>
      <p:sp>
        <p:nvSpPr>
          <p:cNvPr id="21" name="Text 19"/>
          <p:cNvSpPr txBox="1"/>
          <p:nvPr/>
        </p:nvSpPr>
        <p:spPr>
          <a:xfrm>
            <a:off x="4443984" y="2907792"/>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40D9FF"/>
                </a:solidFill>
                <a:latin typeface="Arial" pitchFamily="34" charset="0"/>
                <a:ea typeface="Arial" pitchFamily="34" charset="-122"/>
                <a:cs typeface="Arial" pitchFamily="34" charset="-120"/>
              </a:rPr>
              <a:t>ACT</a:t>
            </a:r>
            <a:endParaRPr lang="en-US" sz="830" dirty="0"/>
          </a:p>
        </p:txBody>
      </p:sp>
      <p:sp>
        <p:nvSpPr>
          <p:cNvPr id="22" name="Shape 20"/>
          <p:cNvSpPr/>
          <p:nvPr/>
        </p:nvSpPr>
        <p:spPr>
          <a:xfrm>
            <a:off x="5175504" y="2935224"/>
            <a:ext cx="2532888" cy="182880"/>
          </a:xfrm>
          <a:prstGeom prst="rect">
            <a:avLst/>
          </a:prstGeom>
          <a:solidFill>
            <a:srgbClr val="24324A"/>
          </a:solidFill>
          <a:ln w="12700">
            <a:solidFill>
              <a:srgbClr val="24324A"/>
            </a:solidFill>
            <a:prstDash val="solid"/>
          </a:ln>
        </p:spPr>
      </p:sp>
      <p:sp>
        <p:nvSpPr>
          <p:cNvPr id="23" name="Shape 21"/>
          <p:cNvSpPr/>
          <p:nvPr/>
        </p:nvSpPr>
        <p:spPr>
          <a:xfrm>
            <a:off x="5175504" y="2935224"/>
            <a:ext cx="333497" cy="182880"/>
          </a:xfrm>
          <a:prstGeom prst="rect">
            <a:avLst/>
          </a:prstGeom>
          <a:solidFill>
            <a:srgbClr val="40D9FF"/>
          </a:solidFill>
          <a:ln w="12700">
            <a:solidFill>
              <a:srgbClr val="40D9FF"/>
            </a:solidFill>
            <a:prstDash val="solid"/>
          </a:ln>
        </p:spPr>
      </p:sp>
      <p:sp>
        <p:nvSpPr>
          <p:cNvPr id="24" name="Text 22"/>
          <p:cNvSpPr txBox="1"/>
          <p:nvPr/>
        </p:nvSpPr>
        <p:spPr>
          <a:xfrm>
            <a:off x="5175504" y="3154680"/>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40D9FF"/>
                </a:solidFill>
                <a:latin typeface="Arial" pitchFamily="34" charset="0"/>
                <a:ea typeface="Arial" pitchFamily="34" charset="-122"/>
                <a:cs typeface="Arial" pitchFamily="34" charset="-120"/>
              </a:rPr>
              <a:t>79</a:t>
            </a:r>
            <a:endParaRPr lang="en-US" sz="950" dirty="0"/>
          </a:p>
        </p:txBody>
      </p:sp>
      <p:sp>
        <p:nvSpPr>
          <p:cNvPr id="25" name="Shape 23"/>
          <p:cNvSpPr/>
          <p:nvPr/>
        </p:nvSpPr>
        <p:spPr>
          <a:xfrm>
            <a:off x="7991856" y="1719072"/>
            <a:ext cx="3675888" cy="2048256"/>
          </a:xfrm>
          <a:prstGeom prst="roundRect">
            <a:avLst>
              <a:gd name="adj" fmla="val 5357"/>
            </a:avLst>
          </a:prstGeom>
          <a:solidFill>
            <a:srgbClr val="101827"/>
          </a:solidFill>
          <a:ln w="12700">
            <a:solidFill>
              <a:srgbClr val="25D0B1"/>
            </a:solidFill>
            <a:prstDash val="solid"/>
          </a:ln>
        </p:spPr>
      </p:sp>
      <p:sp>
        <p:nvSpPr>
          <p:cNvPr id="26" name="Text 24"/>
          <p:cNvSpPr txBox="1"/>
          <p:nvPr/>
        </p:nvSpPr>
        <p:spPr>
          <a:xfrm>
            <a:off x="8156448" y="1847088"/>
            <a:ext cx="3346704" cy="256032"/>
          </a:xfrm>
          <a:prstGeom prst="rect">
            <a:avLst/>
          </a:prstGeom>
          <a:noFill/>
          <a:ln/>
        </p:spPr>
        <p:txBody>
          <a:bodyPr wrap="square" lIns="0" tIns="0" rIns="0" bIns="0" rtlCol="0" anchor="ctr">
            <a:normAutofit/>
          </a:bodyPr>
          <a:lstStyle/>
          <a:p>
            <a:pPr algn="l" indent="0" marL="0">
              <a:buNone/>
            </a:pPr>
            <a:r>
              <a:rPr lang="en-US" sz="1200" b="1" dirty="0">
                <a:solidFill>
                  <a:srgbClr val="F6F8FC"/>
                </a:solidFill>
                <a:latin typeface="Arial" pitchFamily="34" charset="0"/>
                <a:ea typeface="Arial" pitchFamily="34" charset="-122"/>
                <a:cs typeface="Arial" pitchFamily="34" charset="-120"/>
              </a:rPr>
              <a:t>Traffic sent to dead nodes</a:t>
            </a:r>
            <a:endParaRPr lang="en-US" sz="1200" dirty="0"/>
          </a:p>
        </p:txBody>
      </p:sp>
      <p:sp>
        <p:nvSpPr>
          <p:cNvPr id="27" name="Text 25"/>
          <p:cNvSpPr txBox="1"/>
          <p:nvPr/>
        </p:nvSpPr>
        <p:spPr>
          <a:xfrm>
            <a:off x="8156448" y="2322576"/>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91A0B8"/>
                </a:solidFill>
                <a:latin typeface="Arial" pitchFamily="34" charset="0"/>
                <a:ea typeface="Arial" pitchFamily="34" charset="-122"/>
                <a:cs typeface="Arial" pitchFamily="34" charset="-120"/>
              </a:rPr>
              <a:t>BASE</a:t>
            </a:r>
            <a:endParaRPr lang="en-US" sz="830" dirty="0"/>
          </a:p>
        </p:txBody>
      </p:sp>
      <p:sp>
        <p:nvSpPr>
          <p:cNvPr id="28" name="Shape 26"/>
          <p:cNvSpPr/>
          <p:nvPr/>
        </p:nvSpPr>
        <p:spPr>
          <a:xfrm>
            <a:off x="8887968" y="2350008"/>
            <a:ext cx="2532888" cy="182880"/>
          </a:xfrm>
          <a:prstGeom prst="rect">
            <a:avLst/>
          </a:prstGeom>
          <a:solidFill>
            <a:srgbClr val="24324A"/>
          </a:solidFill>
          <a:ln w="12700">
            <a:solidFill>
              <a:srgbClr val="24324A"/>
            </a:solidFill>
            <a:prstDash val="solid"/>
          </a:ln>
        </p:spPr>
      </p:sp>
      <p:sp>
        <p:nvSpPr>
          <p:cNvPr id="29" name="Shape 27"/>
          <p:cNvSpPr/>
          <p:nvPr/>
        </p:nvSpPr>
        <p:spPr>
          <a:xfrm>
            <a:off x="8887968" y="2350008"/>
            <a:ext cx="2330257" cy="182880"/>
          </a:xfrm>
          <a:prstGeom prst="rect">
            <a:avLst/>
          </a:prstGeom>
          <a:solidFill>
            <a:srgbClr val="69758C"/>
          </a:solidFill>
          <a:ln w="12700">
            <a:solidFill>
              <a:srgbClr val="69758C"/>
            </a:solidFill>
            <a:prstDash val="solid"/>
          </a:ln>
        </p:spPr>
      </p:sp>
      <p:sp>
        <p:nvSpPr>
          <p:cNvPr id="30" name="Text 28"/>
          <p:cNvSpPr txBox="1"/>
          <p:nvPr/>
        </p:nvSpPr>
        <p:spPr>
          <a:xfrm>
            <a:off x="8887968" y="2569464"/>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91A0B8"/>
                </a:solidFill>
                <a:latin typeface="Arial" pitchFamily="34" charset="0"/>
                <a:ea typeface="Arial" pitchFamily="34" charset="-122"/>
                <a:cs typeface="Arial" pitchFamily="34" charset="-120"/>
              </a:rPr>
              <a:t>644</a:t>
            </a:r>
            <a:endParaRPr lang="en-US" sz="950" dirty="0"/>
          </a:p>
        </p:txBody>
      </p:sp>
      <p:sp>
        <p:nvSpPr>
          <p:cNvPr id="31" name="Text 29"/>
          <p:cNvSpPr txBox="1"/>
          <p:nvPr/>
        </p:nvSpPr>
        <p:spPr>
          <a:xfrm>
            <a:off x="8156448" y="2907792"/>
            <a:ext cx="713232" cy="182880"/>
          </a:xfrm>
          <a:prstGeom prst="rect">
            <a:avLst/>
          </a:prstGeom>
          <a:noFill/>
          <a:ln/>
        </p:spPr>
        <p:txBody>
          <a:bodyPr wrap="square" lIns="0" tIns="0" rIns="0" bIns="0" rtlCol="0" anchor="ctr">
            <a:normAutofit/>
          </a:bodyPr>
          <a:lstStyle/>
          <a:p>
            <a:pPr algn="l" indent="0" marL="0">
              <a:buNone/>
            </a:pPr>
            <a:r>
              <a:rPr lang="en-US" sz="830" b="1" dirty="0">
                <a:solidFill>
                  <a:srgbClr val="25D0B1"/>
                </a:solidFill>
                <a:latin typeface="Arial" pitchFamily="34" charset="0"/>
                <a:ea typeface="Arial" pitchFamily="34" charset="-122"/>
                <a:cs typeface="Arial" pitchFamily="34" charset="-120"/>
              </a:rPr>
              <a:t>ACT</a:t>
            </a:r>
            <a:endParaRPr lang="en-US" sz="830" dirty="0"/>
          </a:p>
        </p:txBody>
      </p:sp>
      <p:sp>
        <p:nvSpPr>
          <p:cNvPr id="32" name="Shape 30"/>
          <p:cNvSpPr/>
          <p:nvPr/>
        </p:nvSpPr>
        <p:spPr>
          <a:xfrm>
            <a:off x="8887968" y="2935224"/>
            <a:ext cx="2532888" cy="182880"/>
          </a:xfrm>
          <a:prstGeom prst="rect">
            <a:avLst/>
          </a:prstGeom>
          <a:solidFill>
            <a:srgbClr val="24324A"/>
          </a:solidFill>
          <a:ln w="12700">
            <a:solidFill>
              <a:srgbClr val="24324A"/>
            </a:solidFill>
            <a:prstDash val="solid"/>
          </a:ln>
        </p:spPr>
      </p:sp>
      <p:sp>
        <p:nvSpPr>
          <p:cNvPr id="33" name="Shape 31"/>
          <p:cNvSpPr/>
          <p:nvPr/>
        </p:nvSpPr>
        <p:spPr>
          <a:xfrm>
            <a:off x="8887968" y="2935224"/>
            <a:ext cx="369078" cy="182880"/>
          </a:xfrm>
          <a:prstGeom prst="rect">
            <a:avLst/>
          </a:prstGeom>
          <a:solidFill>
            <a:srgbClr val="25D0B1"/>
          </a:solidFill>
          <a:ln w="12700">
            <a:solidFill>
              <a:srgbClr val="25D0B1"/>
            </a:solidFill>
            <a:prstDash val="solid"/>
          </a:ln>
        </p:spPr>
      </p:sp>
      <p:sp>
        <p:nvSpPr>
          <p:cNvPr id="34" name="Text 32"/>
          <p:cNvSpPr txBox="1"/>
          <p:nvPr/>
        </p:nvSpPr>
        <p:spPr>
          <a:xfrm>
            <a:off x="8887968" y="3154680"/>
            <a:ext cx="2532888" cy="164592"/>
          </a:xfrm>
          <a:prstGeom prst="rect">
            <a:avLst/>
          </a:prstGeom>
          <a:noFill/>
          <a:ln/>
        </p:spPr>
        <p:txBody>
          <a:bodyPr wrap="square" lIns="0" tIns="0" rIns="0" bIns="0" rtlCol="0" anchor="ctr">
            <a:normAutofit/>
          </a:bodyPr>
          <a:lstStyle/>
          <a:p>
            <a:pPr algn="r" indent="0" marL="0">
              <a:buNone/>
            </a:pPr>
            <a:r>
              <a:rPr lang="en-US" sz="950" b="1" dirty="0">
                <a:solidFill>
                  <a:srgbClr val="25D0B1"/>
                </a:solidFill>
                <a:latin typeface="Arial" pitchFamily="34" charset="0"/>
                <a:ea typeface="Arial" pitchFamily="34" charset="-122"/>
                <a:cs typeface="Arial" pitchFamily="34" charset="-120"/>
              </a:rPr>
              <a:t>102</a:t>
            </a:r>
            <a:endParaRPr lang="en-US" sz="950" dirty="0"/>
          </a:p>
        </p:txBody>
      </p:sp>
      <p:sp>
        <p:nvSpPr>
          <p:cNvPr id="35" name="Shape 33"/>
          <p:cNvSpPr/>
          <p:nvPr/>
        </p:nvSpPr>
        <p:spPr>
          <a:xfrm>
            <a:off x="749808" y="4187952"/>
            <a:ext cx="2121408" cy="1042416"/>
          </a:xfrm>
          <a:prstGeom prst="roundRect">
            <a:avLst>
              <a:gd name="adj" fmla="val 10526"/>
            </a:avLst>
          </a:prstGeom>
          <a:solidFill>
            <a:srgbClr val="0F1726"/>
          </a:solidFill>
          <a:ln w="12700">
            <a:solidFill>
              <a:srgbClr val="3CE28F"/>
            </a:solidFill>
            <a:prstDash val="solid"/>
          </a:ln>
        </p:spPr>
      </p:sp>
      <p:sp>
        <p:nvSpPr>
          <p:cNvPr id="36" name="Text 34"/>
          <p:cNvSpPr txBox="1"/>
          <p:nvPr/>
        </p:nvSpPr>
        <p:spPr>
          <a:xfrm>
            <a:off x="896112" y="4279392"/>
            <a:ext cx="1828800" cy="384048"/>
          </a:xfrm>
          <a:prstGeom prst="rect">
            <a:avLst/>
          </a:prstGeom>
          <a:noFill/>
          <a:ln/>
        </p:spPr>
        <p:txBody>
          <a:bodyPr wrap="square" lIns="0" tIns="0" rIns="0" bIns="0" rtlCol="0" anchor="ctr">
            <a:normAutofit/>
          </a:bodyPr>
          <a:lstStyle/>
          <a:p>
            <a:pPr algn="l" indent="0" marL="0">
              <a:buNone/>
            </a:pPr>
            <a:r>
              <a:rPr lang="en-US" sz="2100" b="1" dirty="0">
                <a:solidFill>
                  <a:srgbClr val="3CE28F"/>
                </a:solidFill>
                <a:latin typeface="Arial" pitchFamily="34" charset="0"/>
                <a:ea typeface="Arial" pitchFamily="34" charset="-122"/>
                <a:cs typeface="Arial" pitchFamily="34" charset="-120"/>
              </a:rPr>
              <a:t>+471 tasks</a:t>
            </a:r>
            <a:endParaRPr lang="en-US" sz="2100" dirty="0"/>
          </a:p>
        </p:txBody>
      </p:sp>
      <p:sp>
        <p:nvSpPr>
          <p:cNvPr id="37" name="Text 35"/>
          <p:cNvSpPr txBox="1"/>
          <p:nvPr/>
        </p:nvSpPr>
        <p:spPr>
          <a:xfrm>
            <a:off x="896112" y="4700016"/>
            <a:ext cx="1828800" cy="45720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4,034 ACT completions vs 3,563 baseline</a:t>
            </a:r>
            <a:endParaRPr lang="en-US" sz="910" dirty="0"/>
          </a:p>
        </p:txBody>
      </p:sp>
      <p:sp>
        <p:nvSpPr>
          <p:cNvPr id="38" name="Shape 36"/>
          <p:cNvSpPr/>
          <p:nvPr/>
        </p:nvSpPr>
        <p:spPr>
          <a:xfrm>
            <a:off x="3218688" y="4187952"/>
            <a:ext cx="2121408" cy="1042416"/>
          </a:xfrm>
          <a:prstGeom prst="roundRect">
            <a:avLst>
              <a:gd name="adj" fmla="val 10526"/>
            </a:avLst>
          </a:prstGeom>
          <a:solidFill>
            <a:srgbClr val="0F1726"/>
          </a:solidFill>
          <a:ln w="12700">
            <a:solidFill>
              <a:srgbClr val="40D9FF"/>
            </a:solidFill>
            <a:prstDash val="solid"/>
          </a:ln>
        </p:spPr>
      </p:sp>
      <p:sp>
        <p:nvSpPr>
          <p:cNvPr id="39" name="Text 37"/>
          <p:cNvSpPr txBox="1"/>
          <p:nvPr/>
        </p:nvSpPr>
        <p:spPr>
          <a:xfrm>
            <a:off x="3364992" y="4279392"/>
            <a:ext cx="1828800" cy="384048"/>
          </a:xfrm>
          <a:prstGeom prst="rect">
            <a:avLst/>
          </a:prstGeom>
          <a:noFill/>
          <a:ln/>
        </p:spPr>
        <p:txBody>
          <a:bodyPr wrap="square" lIns="0" tIns="0" rIns="0" bIns="0" rtlCol="0" anchor="ctr">
            <a:normAutofit/>
          </a:bodyPr>
          <a:lstStyle/>
          <a:p>
            <a:pPr algn="l" indent="0" marL="0">
              <a:buNone/>
            </a:pPr>
            <a:r>
              <a:rPr lang="en-US" sz="2100" b="1" dirty="0">
                <a:solidFill>
                  <a:srgbClr val="40D9FF"/>
                </a:solidFill>
                <a:latin typeface="Arial" pitchFamily="34" charset="0"/>
                <a:ea typeface="Arial" pitchFamily="34" charset="-122"/>
                <a:cs typeface="Arial" pitchFamily="34" charset="-120"/>
              </a:rPr>
              <a:t>-86.3%</a:t>
            </a:r>
            <a:endParaRPr lang="en-US" sz="2100" dirty="0"/>
          </a:p>
        </p:txBody>
      </p:sp>
      <p:sp>
        <p:nvSpPr>
          <p:cNvPr id="40" name="Text 38"/>
          <p:cNvSpPr txBox="1"/>
          <p:nvPr/>
        </p:nvSpPr>
        <p:spPr>
          <a:xfrm>
            <a:off x="3364992" y="4700016"/>
            <a:ext cx="1828800" cy="45720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failures suppressed</a:t>
            </a:r>
            <a:endParaRPr lang="en-US" sz="910" dirty="0"/>
          </a:p>
        </p:txBody>
      </p:sp>
      <p:sp>
        <p:nvSpPr>
          <p:cNvPr id="41" name="Shape 39"/>
          <p:cNvSpPr/>
          <p:nvPr/>
        </p:nvSpPr>
        <p:spPr>
          <a:xfrm>
            <a:off x="5687568" y="4187952"/>
            <a:ext cx="2121408" cy="1042416"/>
          </a:xfrm>
          <a:prstGeom prst="roundRect">
            <a:avLst>
              <a:gd name="adj" fmla="val 10526"/>
            </a:avLst>
          </a:prstGeom>
          <a:solidFill>
            <a:srgbClr val="0F1726"/>
          </a:solidFill>
          <a:ln w="12700">
            <a:solidFill>
              <a:srgbClr val="A7A1FF"/>
            </a:solidFill>
            <a:prstDash val="solid"/>
          </a:ln>
        </p:spPr>
      </p:sp>
      <p:sp>
        <p:nvSpPr>
          <p:cNvPr id="42" name="Text 40"/>
          <p:cNvSpPr txBox="1"/>
          <p:nvPr/>
        </p:nvSpPr>
        <p:spPr>
          <a:xfrm>
            <a:off x="5833872" y="4279392"/>
            <a:ext cx="1828800" cy="384048"/>
          </a:xfrm>
          <a:prstGeom prst="rect">
            <a:avLst/>
          </a:prstGeom>
          <a:noFill/>
          <a:ln/>
        </p:spPr>
        <p:txBody>
          <a:bodyPr wrap="square" lIns="0" tIns="0" rIns="0" bIns="0" rtlCol="0" anchor="ctr">
            <a:normAutofit/>
          </a:bodyPr>
          <a:lstStyle/>
          <a:p>
            <a:pPr algn="l" indent="0" marL="0">
              <a:buNone/>
            </a:pPr>
            <a:r>
              <a:rPr lang="en-US" sz="2100" b="1" dirty="0">
                <a:solidFill>
                  <a:srgbClr val="A7A1FF"/>
                </a:solidFill>
                <a:latin typeface="Arial" pitchFamily="34" charset="0"/>
                <a:ea typeface="Arial" pitchFamily="34" charset="-122"/>
                <a:cs typeface="Arial" pitchFamily="34" charset="-120"/>
              </a:rPr>
              <a:t>97.4–98.5%</a:t>
            </a:r>
            <a:endParaRPr lang="en-US" sz="2100" dirty="0"/>
          </a:p>
        </p:txBody>
      </p:sp>
      <p:sp>
        <p:nvSpPr>
          <p:cNvPr id="43" name="Text 41"/>
          <p:cNvSpPr txBox="1"/>
          <p:nvPr/>
        </p:nvSpPr>
        <p:spPr>
          <a:xfrm>
            <a:off x="5833872" y="4700016"/>
            <a:ext cx="1828800" cy="45720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completion range across ACT seeds</a:t>
            </a:r>
            <a:endParaRPr lang="en-US" sz="910" dirty="0"/>
          </a:p>
        </p:txBody>
      </p:sp>
      <p:sp>
        <p:nvSpPr>
          <p:cNvPr id="44" name="Shape 42"/>
          <p:cNvSpPr/>
          <p:nvPr/>
        </p:nvSpPr>
        <p:spPr>
          <a:xfrm>
            <a:off x="8156448" y="4187952"/>
            <a:ext cx="2121408" cy="1042416"/>
          </a:xfrm>
          <a:prstGeom prst="roundRect">
            <a:avLst>
              <a:gd name="adj" fmla="val 10526"/>
            </a:avLst>
          </a:prstGeom>
          <a:solidFill>
            <a:srgbClr val="0F1726"/>
          </a:solidFill>
          <a:ln w="12700">
            <a:solidFill>
              <a:srgbClr val="F6C453"/>
            </a:solidFill>
            <a:prstDash val="solid"/>
          </a:ln>
        </p:spPr>
      </p:sp>
      <p:sp>
        <p:nvSpPr>
          <p:cNvPr id="45" name="Text 43"/>
          <p:cNvSpPr txBox="1"/>
          <p:nvPr/>
        </p:nvSpPr>
        <p:spPr>
          <a:xfrm>
            <a:off x="8302752" y="4279392"/>
            <a:ext cx="1828800" cy="384048"/>
          </a:xfrm>
          <a:prstGeom prst="rect">
            <a:avLst/>
          </a:prstGeom>
          <a:noFill/>
          <a:ln/>
        </p:spPr>
        <p:txBody>
          <a:bodyPr wrap="square" lIns="0" tIns="0" rIns="0" bIns="0" rtlCol="0" anchor="ctr">
            <a:normAutofit/>
          </a:bodyPr>
          <a:lstStyle/>
          <a:p>
            <a:pPr algn="l" indent="0" marL="0">
              <a:buNone/>
            </a:pPr>
            <a:r>
              <a:rPr lang="en-US" sz="2100" b="1" dirty="0">
                <a:solidFill>
                  <a:srgbClr val="F6C453"/>
                </a:solidFill>
                <a:latin typeface="Arial" pitchFamily="34" charset="0"/>
                <a:ea typeface="Arial" pitchFamily="34" charset="-122"/>
                <a:cs typeface="Arial" pitchFamily="34" charset="-120"/>
              </a:rPr>
              <a:t>0.234 ms</a:t>
            </a:r>
            <a:endParaRPr lang="en-US" sz="2100" dirty="0"/>
          </a:p>
        </p:txBody>
      </p:sp>
      <p:sp>
        <p:nvSpPr>
          <p:cNvPr id="46" name="Text 44"/>
          <p:cNvSpPr txBox="1"/>
          <p:nvPr/>
        </p:nvSpPr>
        <p:spPr>
          <a:xfrm>
            <a:off x="8302752" y="4700016"/>
            <a:ext cx="1828800" cy="45720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per step, below 1.0 ms budget</a:t>
            </a:r>
            <a:endParaRPr lang="en-US" sz="910" dirty="0"/>
          </a:p>
        </p:txBody>
      </p:sp>
      <p:sp>
        <p:nvSpPr>
          <p:cNvPr id="47" name="Shape 45"/>
          <p:cNvSpPr/>
          <p:nvPr/>
        </p:nvSpPr>
        <p:spPr>
          <a:xfrm>
            <a:off x="1005840" y="5632704"/>
            <a:ext cx="10149840" cy="512064"/>
          </a:xfrm>
          <a:prstGeom prst="roundRect">
            <a:avLst>
              <a:gd name="adj" fmla="val 21429"/>
            </a:avLst>
          </a:prstGeom>
          <a:solidFill>
            <a:srgbClr val="0D1B23"/>
          </a:solidFill>
          <a:ln w="12700">
            <a:solidFill>
              <a:srgbClr val="3CE28F"/>
            </a:solidFill>
            <a:prstDash val="solid"/>
          </a:ln>
        </p:spPr>
      </p:sp>
      <p:sp>
        <p:nvSpPr>
          <p:cNvPr id="48" name="Text 46"/>
          <p:cNvSpPr txBox="1"/>
          <p:nvPr/>
        </p:nvSpPr>
        <p:spPr>
          <a:xfrm>
            <a:off x="1225296" y="5733288"/>
            <a:ext cx="9710928" cy="201168"/>
          </a:xfrm>
          <a:prstGeom prst="rect">
            <a:avLst/>
          </a:prstGeom>
          <a:noFill/>
          <a:ln/>
        </p:spPr>
        <p:txBody>
          <a:bodyPr wrap="square" lIns="0" tIns="0" rIns="0" bIns="0" rtlCol="0" anchor="ctr">
            <a:normAutofit/>
          </a:bodyPr>
          <a:lstStyle/>
          <a:p>
            <a:pPr algn="ctr" indent="0" marL="0">
              <a:buNone/>
            </a:pPr>
            <a:r>
              <a:rPr lang="en-US" sz="1050" b="1" dirty="0">
                <a:solidFill>
                  <a:srgbClr val="F6F8FC"/>
                </a:solidFill>
                <a:latin typeface="Arial" pitchFamily="34" charset="0"/>
                <a:ea typeface="Arial" pitchFamily="34" charset="-122"/>
                <a:cs typeface="Arial" pitchFamily="34" charset="-120"/>
              </a:rPr>
              <a:t>Interpretation: ACT improves useful work by reducing avoidable failures and dead-node assignments without exceeding the realtime budget.</a:t>
            </a:r>
            <a:endParaRPr lang="en-US" sz="105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STRESS TESTING</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Generalization across cluster topologies without retuning</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ACT is strong across most regimes; heavy traffic exposes the current capacity-saturation limitation.</a:t>
            </a:r>
            <a:endParaRPr lang="en-US" sz="1200" dirty="0"/>
          </a:p>
        </p:txBody>
      </p:sp>
      <p:sp>
        <p:nvSpPr>
          <p:cNvPr id="5" name="Text 3"/>
          <p:cNvSpPr txBox="1"/>
          <p:nvPr/>
        </p:nvSpPr>
        <p:spPr>
          <a:xfrm>
            <a:off x="585216" y="1773936"/>
            <a:ext cx="1353312" cy="182880"/>
          </a:xfrm>
          <a:prstGeom prst="rect">
            <a:avLst/>
          </a:prstGeom>
          <a:noFill/>
          <a:ln/>
        </p:spPr>
        <p:txBody>
          <a:bodyPr wrap="square" lIns="0" tIns="0" rIns="0" bIns="0" rtlCol="0" anchor="ctr">
            <a:normAutofit/>
          </a:bodyPr>
          <a:lstStyle/>
          <a:p>
            <a:pPr algn="l" indent="0" marL="0">
              <a:buNone/>
            </a:pPr>
            <a:r>
              <a:rPr lang="en-US" sz="850" b="1" dirty="0">
                <a:solidFill>
                  <a:srgbClr val="91A0B8"/>
                </a:solidFill>
                <a:latin typeface="Arial" pitchFamily="34" charset="0"/>
                <a:ea typeface="Arial" pitchFamily="34" charset="-122"/>
                <a:cs typeface="Arial" pitchFamily="34" charset="-120"/>
              </a:rPr>
              <a:t>Scenario</a:t>
            </a:r>
            <a:endParaRPr lang="en-US" sz="850" dirty="0"/>
          </a:p>
        </p:txBody>
      </p:sp>
      <p:sp>
        <p:nvSpPr>
          <p:cNvPr id="6" name="Text 4"/>
          <p:cNvSpPr txBox="1"/>
          <p:nvPr/>
        </p:nvSpPr>
        <p:spPr>
          <a:xfrm>
            <a:off x="3767328" y="1773936"/>
            <a:ext cx="2560320" cy="182880"/>
          </a:xfrm>
          <a:prstGeom prst="rect">
            <a:avLst/>
          </a:prstGeom>
          <a:noFill/>
          <a:ln/>
        </p:spPr>
        <p:txBody>
          <a:bodyPr wrap="square" lIns="0" tIns="0" rIns="0" bIns="0" rtlCol="0" anchor="ctr">
            <a:normAutofit/>
          </a:bodyPr>
          <a:lstStyle/>
          <a:p>
            <a:pPr algn="l" indent="0" marL="0">
              <a:buNone/>
            </a:pPr>
            <a:r>
              <a:rPr lang="en-US" sz="850" b="1" dirty="0">
                <a:solidFill>
                  <a:srgbClr val="91A0B8"/>
                </a:solidFill>
                <a:latin typeface="Arial" pitchFamily="34" charset="0"/>
                <a:ea typeface="Arial" pitchFamily="34" charset="-122"/>
                <a:cs typeface="Arial" pitchFamily="34" charset="-120"/>
              </a:rPr>
              <a:t>Completion rate</a:t>
            </a:r>
            <a:endParaRPr lang="en-US" sz="850" dirty="0"/>
          </a:p>
        </p:txBody>
      </p:sp>
      <p:sp>
        <p:nvSpPr>
          <p:cNvPr id="7" name="Text 5"/>
          <p:cNvSpPr txBox="1"/>
          <p:nvPr/>
        </p:nvSpPr>
        <p:spPr>
          <a:xfrm>
            <a:off x="9235440" y="1773936"/>
            <a:ext cx="731520" cy="182880"/>
          </a:xfrm>
          <a:prstGeom prst="rect">
            <a:avLst/>
          </a:prstGeom>
          <a:noFill/>
          <a:ln/>
        </p:spPr>
        <p:txBody>
          <a:bodyPr wrap="square" lIns="0" tIns="0" rIns="0" bIns="0" rtlCol="0" anchor="ctr">
            <a:normAutofit/>
          </a:bodyPr>
          <a:lstStyle/>
          <a:p>
            <a:pPr algn="ctr" indent="0" marL="0">
              <a:buNone/>
            </a:pPr>
            <a:r>
              <a:rPr lang="en-US" sz="850" b="1" dirty="0">
                <a:solidFill>
                  <a:srgbClr val="91A0B8"/>
                </a:solidFill>
                <a:latin typeface="Arial" pitchFamily="34" charset="0"/>
                <a:ea typeface="Arial" pitchFamily="34" charset="-122"/>
                <a:cs typeface="Arial" pitchFamily="34" charset="-120"/>
              </a:rPr>
              <a:t>Gain</a:t>
            </a:r>
            <a:endParaRPr lang="en-US" sz="850" dirty="0"/>
          </a:p>
        </p:txBody>
      </p:sp>
      <p:sp>
        <p:nvSpPr>
          <p:cNvPr id="8" name="Text 6"/>
          <p:cNvSpPr txBox="1"/>
          <p:nvPr/>
        </p:nvSpPr>
        <p:spPr>
          <a:xfrm>
            <a:off x="10131552" y="1773936"/>
            <a:ext cx="1143000" cy="182880"/>
          </a:xfrm>
          <a:prstGeom prst="rect">
            <a:avLst/>
          </a:prstGeom>
          <a:noFill/>
          <a:ln/>
        </p:spPr>
        <p:txBody>
          <a:bodyPr wrap="square" lIns="0" tIns="0" rIns="0" bIns="0" rtlCol="0" anchor="ctr">
            <a:normAutofit/>
          </a:bodyPr>
          <a:lstStyle/>
          <a:p>
            <a:pPr algn="ctr" indent="0" marL="0">
              <a:buNone/>
            </a:pPr>
            <a:r>
              <a:rPr lang="en-US" sz="850" b="1" dirty="0">
                <a:solidFill>
                  <a:srgbClr val="91A0B8"/>
                </a:solidFill>
                <a:latin typeface="Arial" pitchFamily="34" charset="0"/>
                <a:ea typeface="Arial" pitchFamily="34" charset="-122"/>
                <a:cs typeface="Arial" pitchFamily="34" charset="-120"/>
              </a:rPr>
              <a:t>Dead traffic drop</a:t>
            </a:r>
            <a:endParaRPr lang="en-US" sz="850" dirty="0"/>
          </a:p>
        </p:txBody>
      </p:sp>
      <p:sp>
        <p:nvSpPr>
          <p:cNvPr id="9" name="Shape 7"/>
          <p:cNvSpPr/>
          <p:nvPr/>
        </p:nvSpPr>
        <p:spPr>
          <a:xfrm>
            <a:off x="3767328" y="1389888"/>
            <a:ext cx="713232" cy="329184"/>
          </a:xfrm>
          <a:prstGeom prst="roundRect">
            <a:avLst>
              <a:gd name="adj" fmla="val 27778"/>
            </a:avLst>
          </a:prstGeom>
          <a:solidFill>
            <a:srgbClr val="65738C">
              <a:alpha val="12000"/>
            </a:srgbClr>
          </a:solidFill>
          <a:ln w="11430">
            <a:solidFill>
              <a:srgbClr val="65738C">
                <a:alpha val="75000"/>
              </a:srgbClr>
            </a:solidFill>
            <a:prstDash val="solid"/>
          </a:ln>
        </p:spPr>
      </p:sp>
      <p:sp>
        <p:nvSpPr>
          <p:cNvPr id="10" name="Text 8"/>
          <p:cNvSpPr txBox="1"/>
          <p:nvPr/>
        </p:nvSpPr>
        <p:spPr>
          <a:xfrm>
            <a:off x="3840480" y="1467612"/>
            <a:ext cx="566928" cy="146304"/>
          </a:xfrm>
          <a:prstGeom prst="rect">
            <a:avLst/>
          </a:prstGeom>
          <a:noFill/>
          <a:ln/>
        </p:spPr>
        <p:txBody>
          <a:bodyPr wrap="square" lIns="0" tIns="0" rIns="0" bIns="0" rtlCol="0" anchor="ctr">
            <a:normAutofit/>
          </a:bodyPr>
          <a:lstStyle/>
          <a:p>
            <a:pPr algn="ctr" indent="0" marL="0">
              <a:buNone/>
            </a:pPr>
            <a:r>
              <a:rPr lang="en-US" sz="850" b="1" dirty="0">
                <a:solidFill>
                  <a:srgbClr val="65738C"/>
                </a:solidFill>
                <a:latin typeface="Arial" pitchFamily="34" charset="0"/>
                <a:ea typeface="Arial" pitchFamily="34" charset="-122"/>
                <a:cs typeface="Arial" pitchFamily="34" charset="-120"/>
              </a:rPr>
              <a:t>Baseline</a:t>
            </a:r>
            <a:endParaRPr lang="en-US" sz="850" dirty="0"/>
          </a:p>
        </p:txBody>
      </p:sp>
      <p:sp>
        <p:nvSpPr>
          <p:cNvPr id="11" name="Shape 9"/>
          <p:cNvSpPr/>
          <p:nvPr/>
        </p:nvSpPr>
        <p:spPr>
          <a:xfrm>
            <a:off x="4590288" y="1389888"/>
            <a:ext cx="548640" cy="329184"/>
          </a:xfrm>
          <a:prstGeom prst="roundRect">
            <a:avLst>
              <a:gd name="adj" fmla="val 27778"/>
            </a:avLst>
          </a:prstGeom>
          <a:solidFill>
            <a:srgbClr val="3CE28F">
              <a:alpha val="12000"/>
            </a:srgbClr>
          </a:solidFill>
          <a:ln w="11430">
            <a:solidFill>
              <a:srgbClr val="3CE28F">
                <a:alpha val="75000"/>
              </a:srgbClr>
            </a:solidFill>
            <a:prstDash val="solid"/>
          </a:ln>
        </p:spPr>
      </p:sp>
      <p:sp>
        <p:nvSpPr>
          <p:cNvPr id="12" name="Text 10"/>
          <p:cNvSpPr txBox="1"/>
          <p:nvPr/>
        </p:nvSpPr>
        <p:spPr>
          <a:xfrm>
            <a:off x="4663440" y="1467612"/>
            <a:ext cx="402336" cy="146304"/>
          </a:xfrm>
          <a:prstGeom prst="rect">
            <a:avLst/>
          </a:prstGeom>
          <a:noFill/>
          <a:ln/>
        </p:spPr>
        <p:txBody>
          <a:bodyPr wrap="square" lIns="0" tIns="0" rIns="0" bIns="0" rtlCol="0" anchor="ctr">
            <a:normAutofit/>
          </a:bodyPr>
          <a:lstStyle/>
          <a:p>
            <a:pPr algn="ctr" indent="0" marL="0">
              <a:buNone/>
            </a:pPr>
            <a:r>
              <a:rPr lang="en-US" sz="850" b="1" dirty="0">
                <a:solidFill>
                  <a:srgbClr val="3CE28F"/>
                </a:solidFill>
                <a:latin typeface="Arial" pitchFamily="34" charset="0"/>
                <a:ea typeface="Arial" pitchFamily="34" charset="-122"/>
                <a:cs typeface="Arial" pitchFamily="34" charset="-120"/>
              </a:rPr>
              <a:t>ACT</a:t>
            </a:r>
            <a:endParaRPr lang="en-US" sz="850" dirty="0"/>
          </a:p>
        </p:txBody>
      </p:sp>
      <p:sp>
        <p:nvSpPr>
          <p:cNvPr id="13" name="Text 11"/>
          <p:cNvSpPr txBox="1"/>
          <p:nvPr/>
        </p:nvSpPr>
        <p:spPr>
          <a:xfrm>
            <a:off x="585216" y="2066544"/>
            <a:ext cx="1298448"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Default sandbox</a:t>
            </a:r>
            <a:endParaRPr lang="en-US" sz="1030" dirty="0"/>
          </a:p>
        </p:txBody>
      </p:sp>
      <p:sp>
        <p:nvSpPr>
          <p:cNvPr id="14" name="Text 12"/>
          <p:cNvSpPr txBox="1"/>
          <p:nvPr/>
        </p:nvSpPr>
        <p:spPr>
          <a:xfrm>
            <a:off x="1993392" y="2066544"/>
            <a:ext cx="1508760" cy="219456"/>
          </a:xfrm>
          <a:prstGeom prst="rect">
            <a:avLst/>
          </a:prstGeom>
          <a:noFill/>
          <a:ln/>
        </p:spPr>
        <p:txBody>
          <a:bodyPr wrap="square" lIns="0" tIns="0" rIns="0" bIns="0" rtlCol="0" anchor="ctr">
            <a:normAutofit/>
          </a:bodyPr>
          <a:lstStyle/>
          <a:p>
            <a:pPr algn="l" indent="0" marL="0">
              <a:buNone/>
            </a:pPr>
            <a:r>
              <a:rPr lang="en-US" sz="900" dirty="0">
                <a:solidFill>
                  <a:srgbClr val="91A0B8"/>
                </a:solidFill>
                <a:latin typeface="Arial" pitchFamily="34" charset="0"/>
                <a:ea typeface="Arial" pitchFamily="34" charset="-122"/>
                <a:cs typeface="Arial" pitchFamily="34" charset="-120"/>
              </a:rPr>
              <a:t>N=6 Cap=4 λ=2.0</a:t>
            </a:r>
            <a:endParaRPr lang="en-US" sz="900" dirty="0"/>
          </a:p>
        </p:txBody>
      </p:sp>
      <p:sp>
        <p:nvSpPr>
          <p:cNvPr id="15" name="Shape 13"/>
          <p:cNvSpPr/>
          <p:nvPr/>
        </p:nvSpPr>
        <p:spPr>
          <a:xfrm>
            <a:off x="3767328" y="2093976"/>
            <a:ext cx="4864608" cy="155448"/>
          </a:xfrm>
          <a:prstGeom prst="rect">
            <a:avLst/>
          </a:prstGeom>
          <a:solidFill>
            <a:srgbClr val="24324A"/>
          </a:solidFill>
          <a:ln w="12700">
            <a:solidFill>
              <a:srgbClr val="24324A"/>
            </a:solidFill>
            <a:prstDash val="solid"/>
          </a:ln>
        </p:spPr>
      </p:sp>
      <p:sp>
        <p:nvSpPr>
          <p:cNvPr id="16" name="Shape 14"/>
          <p:cNvSpPr/>
          <p:nvPr/>
        </p:nvSpPr>
        <p:spPr>
          <a:xfrm>
            <a:off x="3767328" y="2093976"/>
            <a:ext cx="4266261" cy="155448"/>
          </a:xfrm>
          <a:prstGeom prst="rect">
            <a:avLst/>
          </a:prstGeom>
          <a:solidFill>
            <a:srgbClr val="65738C"/>
          </a:solidFill>
          <a:ln w="12700">
            <a:solidFill>
              <a:srgbClr val="65738C"/>
            </a:solidFill>
            <a:prstDash val="solid"/>
          </a:ln>
        </p:spPr>
      </p:sp>
      <p:sp>
        <p:nvSpPr>
          <p:cNvPr id="17" name="Text 15"/>
          <p:cNvSpPr txBox="1"/>
          <p:nvPr/>
        </p:nvSpPr>
        <p:spPr>
          <a:xfrm>
            <a:off x="8705088" y="2048256"/>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91A0B8"/>
                </a:solidFill>
                <a:latin typeface="Arial" pitchFamily="34" charset="0"/>
                <a:ea typeface="Arial" pitchFamily="34" charset="-122"/>
                <a:cs typeface="Arial" pitchFamily="34" charset="-120"/>
              </a:rPr>
              <a:t>87.7%</a:t>
            </a:r>
            <a:endParaRPr lang="en-US" sz="880" dirty="0"/>
          </a:p>
        </p:txBody>
      </p:sp>
      <p:sp>
        <p:nvSpPr>
          <p:cNvPr id="18" name="Shape 16"/>
          <p:cNvSpPr/>
          <p:nvPr/>
        </p:nvSpPr>
        <p:spPr>
          <a:xfrm>
            <a:off x="3767328" y="2350008"/>
            <a:ext cx="4864608" cy="155448"/>
          </a:xfrm>
          <a:prstGeom prst="rect">
            <a:avLst/>
          </a:prstGeom>
          <a:solidFill>
            <a:srgbClr val="24324A"/>
          </a:solidFill>
          <a:ln w="12700">
            <a:solidFill>
              <a:srgbClr val="24324A"/>
            </a:solidFill>
            <a:prstDash val="solid"/>
          </a:ln>
        </p:spPr>
      </p:sp>
      <p:sp>
        <p:nvSpPr>
          <p:cNvPr id="19" name="Shape 17"/>
          <p:cNvSpPr/>
          <p:nvPr/>
        </p:nvSpPr>
        <p:spPr>
          <a:xfrm>
            <a:off x="3767328" y="2350008"/>
            <a:ext cx="4777045" cy="155448"/>
          </a:xfrm>
          <a:prstGeom prst="rect">
            <a:avLst/>
          </a:prstGeom>
          <a:solidFill>
            <a:srgbClr val="3CE28F"/>
          </a:solidFill>
          <a:ln w="12700">
            <a:solidFill>
              <a:srgbClr val="3CE28F"/>
            </a:solidFill>
            <a:prstDash val="solid"/>
          </a:ln>
        </p:spPr>
      </p:sp>
      <p:sp>
        <p:nvSpPr>
          <p:cNvPr id="20" name="Text 18"/>
          <p:cNvSpPr txBox="1"/>
          <p:nvPr/>
        </p:nvSpPr>
        <p:spPr>
          <a:xfrm>
            <a:off x="8705088" y="2304288"/>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3CE28F"/>
                </a:solidFill>
                <a:latin typeface="Arial" pitchFamily="34" charset="0"/>
                <a:ea typeface="Arial" pitchFamily="34" charset="-122"/>
                <a:cs typeface="Arial" pitchFamily="34" charset="-120"/>
              </a:rPr>
              <a:t>98.2%</a:t>
            </a:r>
            <a:endParaRPr lang="en-US" sz="880" dirty="0"/>
          </a:p>
        </p:txBody>
      </p:sp>
      <p:sp>
        <p:nvSpPr>
          <p:cNvPr id="21" name="Text 19"/>
          <p:cNvSpPr txBox="1"/>
          <p:nvPr/>
        </p:nvSpPr>
        <p:spPr>
          <a:xfrm>
            <a:off x="9217152" y="2185416"/>
            <a:ext cx="713232" cy="201168"/>
          </a:xfrm>
          <a:prstGeom prst="rect">
            <a:avLst/>
          </a:prstGeom>
          <a:noFill/>
          <a:ln/>
        </p:spPr>
        <p:txBody>
          <a:bodyPr wrap="square" lIns="0" tIns="0" rIns="0" bIns="0" rtlCol="0" anchor="ctr">
            <a:normAutofit/>
          </a:bodyPr>
          <a:lstStyle/>
          <a:p>
            <a:pPr algn="ctr" indent="0" marL="0">
              <a:buNone/>
            </a:pPr>
            <a:r>
              <a:rPr lang="en-US" sz="950" b="1" dirty="0">
                <a:solidFill>
                  <a:srgbClr val="3CE28F"/>
                </a:solidFill>
                <a:latin typeface="Arial" pitchFamily="34" charset="0"/>
                <a:ea typeface="Arial" pitchFamily="34" charset="-122"/>
                <a:cs typeface="Arial" pitchFamily="34" charset="-120"/>
              </a:rPr>
              <a:t>+10.5</a:t>
            </a:r>
            <a:endParaRPr lang="en-US" sz="950" dirty="0"/>
          </a:p>
        </p:txBody>
      </p:sp>
      <p:sp>
        <p:nvSpPr>
          <p:cNvPr id="22" name="Text 20"/>
          <p:cNvSpPr txBox="1"/>
          <p:nvPr/>
        </p:nvSpPr>
        <p:spPr>
          <a:xfrm>
            <a:off x="10168128" y="2185416"/>
            <a:ext cx="1005840" cy="201168"/>
          </a:xfrm>
          <a:prstGeom prst="rect">
            <a:avLst/>
          </a:prstGeom>
          <a:noFill/>
          <a:ln/>
        </p:spPr>
        <p:txBody>
          <a:bodyPr wrap="square" lIns="0" tIns="0" rIns="0" bIns="0" rtlCol="0" anchor="ctr">
            <a:normAutofit/>
          </a:bodyPr>
          <a:lstStyle/>
          <a:p>
            <a:pPr algn="ctr" indent="0" marL="0">
              <a:buNone/>
            </a:pPr>
            <a:r>
              <a:rPr lang="en-US" sz="950" b="1" dirty="0">
                <a:solidFill>
                  <a:srgbClr val="25D0B1"/>
                </a:solidFill>
                <a:latin typeface="Arial" pitchFamily="34" charset="0"/>
                <a:ea typeface="Arial" pitchFamily="34" charset="-122"/>
                <a:cs typeface="Arial" pitchFamily="34" charset="-120"/>
              </a:rPr>
              <a:t>−81.8%</a:t>
            </a:r>
            <a:endParaRPr lang="en-US" sz="950" dirty="0"/>
          </a:p>
        </p:txBody>
      </p:sp>
      <p:sp>
        <p:nvSpPr>
          <p:cNvPr id="23" name="Text 21"/>
          <p:cNvSpPr txBox="1"/>
          <p:nvPr/>
        </p:nvSpPr>
        <p:spPr>
          <a:xfrm>
            <a:off x="585216" y="2779776"/>
            <a:ext cx="1298448"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Small constrained</a:t>
            </a:r>
            <a:endParaRPr lang="en-US" sz="1030" dirty="0"/>
          </a:p>
        </p:txBody>
      </p:sp>
      <p:sp>
        <p:nvSpPr>
          <p:cNvPr id="24" name="Text 22"/>
          <p:cNvSpPr txBox="1"/>
          <p:nvPr/>
        </p:nvSpPr>
        <p:spPr>
          <a:xfrm>
            <a:off x="1993392" y="2779776"/>
            <a:ext cx="1508760" cy="219456"/>
          </a:xfrm>
          <a:prstGeom prst="rect">
            <a:avLst/>
          </a:prstGeom>
          <a:noFill/>
          <a:ln/>
        </p:spPr>
        <p:txBody>
          <a:bodyPr wrap="square" lIns="0" tIns="0" rIns="0" bIns="0" rtlCol="0" anchor="ctr">
            <a:normAutofit/>
          </a:bodyPr>
          <a:lstStyle/>
          <a:p>
            <a:pPr algn="l" indent="0" marL="0">
              <a:buNone/>
            </a:pPr>
            <a:r>
              <a:rPr lang="en-US" sz="900" dirty="0">
                <a:solidFill>
                  <a:srgbClr val="91A0B8"/>
                </a:solidFill>
                <a:latin typeface="Arial" pitchFamily="34" charset="0"/>
                <a:ea typeface="Arial" pitchFamily="34" charset="-122"/>
                <a:cs typeface="Arial" pitchFamily="34" charset="-120"/>
              </a:rPr>
              <a:t>N=4 Cap=3 λ=1.5</a:t>
            </a:r>
            <a:endParaRPr lang="en-US" sz="900" dirty="0"/>
          </a:p>
        </p:txBody>
      </p:sp>
      <p:sp>
        <p:nvSpPr>
          <p:cNvPr id="25" name="Shape 23"/>
          <p:cNvSpPr/>
          <p:nvPr/>
        </p:nvSpPr>
        <p:spPr>
          <a:xfrm>
            <a:off x="3767328" y="2807208"/>
            <a:ext cx="4864608" cy="155448"/>
          </a:xfrm>
          <a:prstGeom prst="rect">
            <a:avLst/>
          </a:prstGeom>
          <a:solidFill>
            <a:srgbClr val="24324A"/>
          </a:solidFill>
          <a:ln w="12700">
            <a:solidFill>
              <a:srgbClr val="24324A"/>
            </a:solidFill>
            <a:prstDash val="solid"/>
          </a:ln>
        </p:spPr>
      </p:sp>
      <p:sp>
        <p:nvSpPr>
          <p:cNvPr id="26" name="Shape 24"/>
          <p:cNvSpPr/>
          <p:nvPr/>
        </p:nvSpPr>
        <p:spPr>
          <a:xfrm>
            <a:off x="3767328" y="2807208"/>
            <a:ext cx="3230100" cy="155448"/>
          </a:xfrm>
          <a:prstGeom prst="rect">
            <a:avLst/>
          </a:prstGeom>
          <a:solidFill>
            <a:srgbClr val="65738C"/>
          </a:solidFill>
          <a:ln w="12700">
            <a:solidFill>
              <a:srgbClr val="65738C"/>
            </a:solidFill>
            <a:prstDash val="solid"/>
          </a:ln>
        </p:spPr>
      </p:sp>
      <p:sp>
        <p:nvSpPr>
          <p:cNvPr id="27" name="Text 25"/>
          <p:cNvSpPr txBox="1"/>
          <p:nvPr/>
        </p:nvSpPr>
        <p:spPr>
          <a:xfrm>
            <a:off x="8705088" y="2761488"/>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91A0B8"/>
                </a:solidFill>
                <a:latin typeface="Arial" pitchFamily="34" charset="0"/>
                <a:ea typeface="Arial" pitchFamily="34" charset="-122"/>
                <a:cs typeface="Arial" pitchFamily="34" charset="-120"/>
              </a:rPr>
              <a:t>66.4%</a:t>
            </a:r>
            <a:endParaRPr lang="en-US" sz="880" dirty="0"/>
          </a:p>
        </p:txBody>
      </p:sp>
      <p:sp>
        <p:nvSpPr>
          <p:cNvPr id="28" name="Shape 26"/>
          <p:cNvSpPr/>
          <p:nvPr/>
        </p:nvSpPr>
        <p:spPr>
          <a:xfrm>
            <a:off x="3767328" y="3063240"/>
            <a:ext cx="4864608" cy="155448"/>
          </a:xfrm>
          <a:prstGeom prst="rect">
            <a:avLst/>
          </a:prstGeom>
          <a:solidFill>
            <a:srgbClr val="24324A"/>
          </a:solidFill>
          <a:ln w="12700">
            <a:solidFill>
              <a:srgbClr val="24324A"/>
            </a:solidFill>
            <a:prstDash val="solid"/>
          </a:ln>
        </p:spPr>
      </p:sp>
      <p:sp>
        <p:nvSpPr>
          <p:cNvPr id="29" name="Shape 27"/>
          <p:cNvSpPr/>
          <p:nvPr/>
        </p:nvSpPr>
        <p:spPr>
          <a:xfrm>
            <a:off x="3767328" y="3063240"/>
            <a:ext cx="3721425" cy="155448"/>
          </a:xfrm>
          <a:prstGeom prst="rect">
            <a:avLst/>
          </a:prstGeom>
          <a:solidFill>
            <a:srgbClr val="3CE28F"/>
          </a:solidFill>
          <a:ln w="12700">
            <a:solidFill>
              <a:srgbClr val="3CE28F"/>
            </a:solidFill>
            <a:prstDash val="solid"/>
          </a:ln>
        </p:spPr>
      </p:sp>
      <p:sp>
        <p:nvSpPr>
          <p:cNvPr id="30" name="Text 28"/>
          <p:cNvSpPr txBox="1"/>
          <p:nvPr/>
        </p:nvSpPr>
        <p:spPr>
          <a:xfrm>
            <a:off x="8705088" y="3017520"/>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3CE28F"/>
                </a:solidFill>
                <a:latin typeface="Arial" pitchFamily="34" charset="0"/>
                <a:ea typeface="Arial" pitchFamily="34" charset="-122"/>
                <a:cs typeface="Arial" pitchFamily="34" charset="-120"/>
              </a:rPr>
              <a:t>76.5%</a:t>
            </a:r>
            <a:endParaRPr lang="en-US" sz="880" dirty="0"/>
          </a:p>
        </p:txBody>
      </p:sp>
      <p:sp>
        <p:nvSpPr>
          <p:cNvPr id="31" name="Text 29"/>
          <p:cNvSpPr txBox="1"/>
          <p:nvPr/>
        </p:nvSpPr>
        <p:spPr>
          <a:xfrm>
            <a:off x="9217152" y="2898648"/>
            <a:ext cx="713232" cy="201168"/>
          </a:xfrm>
          <a:prstGeom prst="rect">
            <a:avLst/>
          </a:prstGeom>
          <a:noFill/>
          <a:ln/>
        </p:spPr>
        <p:txBody>
          <a:bodyPr wrap="square" lIns="0" tIns="0" rIns="0" bIns="0" rtlCol="0" anchor="ctr">
            <a:normAutofit/>
          </a:bodyPr>
          <a:lstStyle/>
          <a:p>
            <a:pPr algn="ctr" indent="0" marL="0">
              <a:buNone/>
            </a:pPr>
            <a:r>
              <a:rPr lang="en-US" sz="950" b="1" dirty="0">
                <a:solidFill>
                  <a:srgbClr val="3CE28F"/>
                </a:solidFill>
                <a:latin typeface="Arial" pitchFamily="34" charset="0"/>
                <a:ea typeface="Arial" pitchFamily="34" charset="-122"/>
                <a:cs typeface="Arial" pitchFamily="34" charset="-120"/>
              </a:rPr>
              <a:t>+10.1</a:t>
            </a:r>
            <a:endParaRPr lang="en-US" sz="950" dirty="0"/>
          </a:p>
        </p:txBody>
      </p:sp>
      <p:sp>
        <p:nvSpPr>
          <p:cNvPr id="32" name="Text 30"/>
          <p:cNvSpPr txBox="1"/>
          <p:nvPr/>
        </p:nvSpPr>
        <p:spPr>
          <a:xfrm>
            <a:off x="10168128" y="2898648"/>
            <a:ext cx="1005840" cy="201168"/>
          </a:xfrm>
          <a:prstGeom prst="rect">
            <a:avLst/>
          </a:prstGeom>
          <a:noFill/>
          <a:ln/>
        </p:spPr>
        <p:txBody>
          <a:bodyPr wrap="square" lIns="0" tIns="0" rIns="0" bIns="0" rtlCol="0" anchor="ctr">
            <a:normAutofit/>
          </a:bodyPr>
          <a:lstStyle/>
          <a:p>
            <a:pPr algn="ctr" indent="0" marL="0">
              <a:buNone/>
            </a:pPr>
            <a:r>
              <a:rPr lang="en-US" sz="950" b="1" dirty="0">
                <a:solidFill>
                  <a:srgbClr val="25D0B1"/>
                </a:solidFill>
                <a:latin typeface="Arial" pitchFamily="34" charset="0"/>
                <a:ea typeface="Arial" pitchFamily="34" charset="-122"/>
                <a:cs typeface="Arial" pitchFamily="34" charset="-120"/>
              </a:rPr>
              <a:t>−96.7%</a:t>
            </a:r>
            <a:endParaRPr lang="en-US" sz="950" dirty="0"/>
          </a:p>
        </p:txBody>
      </p:sp>
      <p:sp>
        <p:nvSpPr>
          <p:cNvPr id="33" name="Text 31"/>
          <p:cNvSpPr txBox="1"/>
          <p:nvPr/>
        </p:nvSpPr>
        <p:spPr>
          <a:xfrm>
            <a:off x="585216" y="3493008"/>
            <a:ext cx="1298448"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Large multi-node</a:t>
            </a:r>
            <a:endParaRPr lang="en-US" sz="1030" dirty="0"/>
          </a:p>
        </p:txBody>
      </p:sp>
      <p:sp>
        <p:nvSpPr>
          <p:cNvPr id="34" name="Text 32"/>
          <p:cNvSpPr txBox="1"/>
          <p:nvPr/>
        </p:nvSpPr>
        <p:spPr>
          <a:xfrm>
            <a:off x="1993392" y="3493008"/>
            <a:ext cx="1508760" cy="219456"/>
          </a:xfrm>
          <a:prstGeom prst="rect">
            <a:avLst/>
          </a:prstGeom>
          <a:noFill/>
          <a:ln/>
        </p:spPr>
        <p:txBody>
          <a:bodyPr wrap="square" lIns="0" tIns="0" rIns="0" bIns="0" rtlCol="0" anchor="ctr">
            <a:normAutofit/>
          </a:bodyPr>
          <a:lstStyle/>
          <a:p>
            <a:pPr algn="l" indent="0" marL="0">
              <a:buNone/>
            </a:pPr>
            <a:r>
              <a:rPr lang="en-US" sz="900" dirty="0">
                <a:solidFill>
                  <a:srgbClr val="91A0B8"/>
                </a:solidFill>
                <a:latin typeface="Arial" pitchFamily="34" charset="0"/>
                <a:ea typeface="Arial" pitchFamily="34" charset="-122"/>
                <a:cs typeface="Arial" pitchFamily="34" charset="-120"/>
              </a:rPr>
              <a:t>N=10 Cap=5 λ=3.0</a:t>
            </a:r>
            <a:endParaRPr lang="en-US" sz="900" dirty="0"/>
          </a:p>
        </p:txBody>
      </p:sp>
      <p:sp>
        <p:nvSpPr>
          <p:cNvPr id="35" name="Shape 33"/>
          <p:cNvSpPr/>
          <p:nvPr/>
        </p:nvSpPr>
        <p:spPr>
          <a:xfrm>
            <a:off x="3767328" y="3520440"/>
            <a:ext cx="4864608" cy="155448"/>
          </a:xfrm>
          <a:prstGeom prst="rect">
            <a:avLst/>
          </a:prstGeom>
          <a:solidFill>
            <a:srgbClr val="24324A"/>
          </a:solidFill>
          <a:ln w="12700">
            <a:solidFill>
              <a:srgbClr val="24324A"/>
            </a:solidFill>
            <a:prstDash val="solid"/>
          </a:ln>
        </p:spPr>
      </p:sp>
      <p:sp>
        <p:nvSpPr>
          <p:cNvPr id="36" name="Shape 34"/>
          <p:cNvSpPr/>
          <p:nvPr/>
        </p:nvSpPr>
        <p:spPr>
          <a:xfrm>
            <a:off x="3767328" y="3520440"/>
            <a:ext cx="4086271" cy="155448"/>
          </a:xfrm>
          <a:prstGeom prst="rect">
            <a:avLst/>
          </a:prstGeom>
          <a:solidFill>
            <a:srgbClr val="65738C"/>
          </a:solidFill>
          <a:ln w="12700">
            <a:solidFill>
              <a:srgbClr val="65738C"/>
            </a:solidFill>
            <a:prstDash val="solid"/>
          </a:ln>
        </p:spPr>
      </p:sp>
      <p:sp>
        <p:nvSpPr>
          <p:cNvPr id="37" name="Text 35"/>
          <p:cNvSpPr txBox="1"/>
          <p:nvPr/>
        </p:nvSpPr>
        <p:spPr>
          <a:xfrm>
            <a:off x="8705088" y="3474720"/>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91A0B8"/>
                </a:solidFill>
                <a:latin typeface="Arial" pitchFamily="34" charset="0"/>
                <a:ea typeface="Arial" pitchFamily="34" charset="-122"/>
                <a:cs typeface="Arial" pitchFamily="34" charset="-120"/>
              </a:rPr>
              <a:t>84%</a:t>
            </a:r>
            <a:endParaRPr lang="en-US" sz="880" dirty="0"/>
          </a:p>
        </p:txBody>
      </p:sp>
      <p:sp>
        <p:nvSpPr>
          <p:cNvPr id="38" name="Shape 36"/>
          <p:cNvSpPr/>
          <p:nvPr/>
        </p:nvSpPr>
        <p:spPr>
          <a:xfrm>
            <a:off x="3767328" y="3776472"/>
            <a:ext cx="4864608" cy="155448"/>
          </a:xfrm>
          <a:prstGeom prst="rect">
            <a:avLst/>
          </a:prstGeom>
          <a:solidFill>
            <a:srgbClr val="24324A"/>
          </a:solidFill>
          <a:ln w="12700">
            <a:solidFill>
              <a:srgbClr val="24324A"/>
            </a:solidFill>
            <a:prstDash val="solid"/>
          </a:ln>
        </p:spPr>
      </p:sp>
      <p:sp>
        <p:nvSpPr>
          <p:cNvPr id="39" name="Shape 37"/>
          <p:cNvSpPr/>
          <p:nvPr/>
        </p:nvSpPr>
        <p:spPr>
          <a:xfrm>
            <a:off x="3767328" y="3776472"/>
            <a:ext cx="4820827" cy="155448"/>
          </a:xfrm>
          <a:prstGeom prst="rect">
            <a:avLst/>
          </a:prstGeom>
          <a:solidFill>
            <a:srgbClr val="3CE28F"/>
          </a:solidFill>
          <a:ln w="12700">
            <a:solidFill>
              <a:srgbClr val="3CE28F"/>
            </a:solidFill>
            <a:prstDash val="solid"/>
          </a:ln>
        </p:spPr>
      </p:sp>
      <p:sp>
        <p:nvSpPr>
          <p:cNvPr id="40" name="Text 38"/>
          <p:cNvSpPr txBox="1"/>
          <p:nvPr/>
        </p:nvSpPr>
        <p:spPr>
          <a:xfrm>
            <a:off x="8705088" y="3730752"/>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3CE28F"/>
                </a:solidFill>
                <a:latin typeface="Arial" pitchFamily="34" charset="0"/>
                <a:ea typeface="Arial" pitchFamily="34" charset="-122"/>
                <a:cs typeface="Arial" pitchFamily="34" charset="-120"/>
              </a:rPr>
              <a:t>99.1%</a:t>
            </a:r>
            <a:endParaRPr lang="en-US" sz="880" dirty="0"/>
          </a:p>
        </p:txBody>
      </p:sp>
      <p:sp>
        <p:nvSpPr>
          <p:cNvPr id="41" name="Text 39"/>
          <p:cNvSpPr txBox="1"/>
          <p:nvPr/>
        </p:nvSpPr>
        <p:spPr>
          <a:xfrm>
            <a:off x="9217152" y="3611880"/>
            <a:ext cx="713232" cy="201168"/>
          </a:xfrm>
          <a:prstGeom prst="rect">
            <a:avLst/>
          </a:prstGeom>
          <a:noFill/>
          <a:ln/>
        </p:spPr>
        <p:txBody>
          <a:bodyPr wrap="square" lIns="0" tIns="0" rIns="0" bIns="0" rtlCol="0" anchor="ctr">
            <a:normAutofit/>
          </a:bodyPr>
          <a:lstStyle/>
          <a:p>
            <a:pPr algn="ctr" indent="0" marL="0">
              <a:buNone/>
            </a:pPr>
            <a:r>
              <a:rPr lang="en-US" sz="950" b="1" dirty="0">
                <a:solidFill>
                  <a:srgbClr val="3CE28F"/>
                </a:solidFill>
                <a:latin typeface="Arial" pitchFamily="34" charset="0"/>
                <a:ea typeface="Arial" pitchFamily="34" charset="-122"/>
                <a:cs typeface="Arial" pitchFamily="34" charset="-120"/>
              </a:rPr>
              <a:t>+15.1</a:t>
            </a:r>
            <a:endParaRPr lang="en-US" sz="950" dirty="0"/>
          </a:p>
        </p:txBody>
      </p:sp>
      <p:sp>
        <p:nvSpPr>
          <p:cNvPr id="42" name="Text 40"/>
          <p:cNvSpPr txBox="1"/>
          <p:nvPr/>
        </p:nvSpPr>
        <p:spPr>
          <a:xfrm>
            <a:off x="10168128" y="3611880"/>
            <a:ext cx="1005840" cy="201168"/>
          </a:xfrm>
          <a:prstGeom prst="rect">
            <a:avLst/>
          </a:prstGeom>
          <a:noFill/>
          <a:ln/>
        </p:spPr>
        <p:txBody>
          <a:bodyPr wrap="square" lIns="0" tIns="0" rIns="0" bIns="0" rtlCol="0" anchor="ctr">
            <a:normAutofit/>
          </a:bodyPr>
          <a:lstStyle/>
          <a:p>
            <a:pPr algn="ctr" indent="0" marL="0">
              <a:buNone/>
            </a:pPr>
            <a:r>
              <a:rPr lang="en-US" sz="950" b="1" dirty="0">
                <a:solidFill>
                  <a:srgbClr val="25D0B1"/>
                </a:solidFill>
                <a:latin typeface="Arial" pitchFamily="34" charset="0"/>
                <a:ea typeface="Arial" pitchFamily="34" charset="-122"/>
                <a:cs typeface="Arial" pitchFamily="34" charset="-120"/>
              </a:rPr>
              <a:t>−91.0%</a:t>
            </a:r>
            <a:endParaRPr lang="en-US" sz="950" dirty="0"/>
          </a:p>
        </p:txBody>
      </p:sp>
      <p:sp>
        <p:nvSpPr>
          <p:cNvPr id="43" name="Text 41"/>
          <p:cNvSpPr txBox="1"/>
          <p:nvPr/>
        </p:nvSpPr>
        <p:spPr>
          <a:xfrm>
            <a:off x="585216" y="4206240"/>
            <a:ext cx="1298448" cy="219456"/>
          </a:xfrm>
          <a:prstGeom prst="rect">
            <a:avLst/>
          </a:prstGeom>
          <a:noFill/>
          <a:ln/>
        </p:spPr>
        <p:txBody>
          <a:bodyPr wrap="square" lIns="0" tIns="0" rIns="0" bIns="0" rtlCol="0" anchor="ctr">
            <a:normAutofit/>
          </a:bodyPr>
          <a:lstStyle/>
          <a:p>
            <a:pPr algn="l" indent="0" marL="0">
              <a:buNone/>
            </a:pPr>
            <a:r>
              <a:rPr lang="en-US" sz="1030" b="1" dirty="0">
                <a:solidFill>
                  <a:srgbClr val="F6F8FC"/>
                </a:solidFill>
                <a:latin typeface="Arial" pitchFamily="34" charset="0"/>
                <a:ea typeface="Arial" pitchFamily="34" charset="-122"/>
                <a:cs typeface="Arial" pitchFamily="34" charset="-120"/>
              </a:rPr>
              <a:t>Tight deadlines</a:t>
            </a:r>
            <a:endParaRPr lang="en-US" sz="1030" dirty="0"/>
          </a:p>
        </p:txBody>
      </p:sp>
      <p:sp>
        <p:nvSpPr>
          <p:cNvPr id="44" name="Text 42"/>
          <p:cNvSpPr txBox="1"/>
          <p:nvPr/>
        </p:nvSpPr>
        <p:spPr>
          <a:xfrm>
            <a:off x="1993392" y="4206240"/>
            <a:ext cx="1508760" cy="219456"/>
          </a:xfrm>
          <a:prstGeom prst="rect">
            <a:avLst/>
          </a:prstGeom>
          <a:noFill/>
          <a:ln/>
        </p:spPr>
        <p:txBody>
          <a:bodyPr wrap="square" lIns="0" tIns="0" rIns="0" bIns="0" rtlCol="0" anchor="ctr">
            <a:normAutofit/>
          </a:bodyPr>
          <a:lstStyle/>
          <a:p>
            <a:pPr algn="l" indent="0" marL="0">
              <a:buNone/>
            </a:pPr>
            <a:r>
              <a:rPr lang="en-US" sz="900" dirty="0">
                <a:solidFill>
                  <a:srgbClr val="91A0B8"/>
                </a:solidFill>
                <a:latin typeface="Arial" pitchFamily="34" charset="0"/>
                <a:ea typeface="Arial" pitchFamily="34" charset="-122"/>
                <a:cs typeface="Arial" pitchFamily="34" charset="-120"/>
              </a:rPr>
              <a:t>Slack 2–5 λ=2.0</a:t>
            </a:r>
            <a:endParaRPr lang="en-US" sz="900" dirty="0"/>
          </a:p>
        </p:txBody>
      </p:sp>
      <p:sp>
        <p:nvSpPr>
          <p:cNvPr id="45" name="Shape 43"/>
          <p:cNvSpPr/>
          <p:nvPr/>
        </p:nvSpPr>
        <p:spPr>
          <a:xfrm>
            <a:off x="3767328" y="4233672"/>
            <a:ext cx="4864608" cy="155448"/>
          </a:xfrm>
          <a:prstGeom prst="rect">
            <a:avLst/>
          </a:prstGeom>
          <a:solidFill>
            <a:srgbClr val="24324A"/>
          </a:solidFill>
          <a:ln w="12700">
            <a:solidFill>
              <a:srgbClr val="24324A"/>
            </a:solidFill>
            <a:prstDash val="solid"/>
          </a:ln>
        </p:spPr>
      </p:sp>
      <p:sp>
        <p:nvSpPr>
          <p:cNvPr id="46" name="Shape 44"/>
          <p:cNvSpPr/>
          <p:nvPr/>
        </p:nvSpPr>
        <p:spPr>
          <a:xfrm>
            <a:off x="3767328" y="4233672"/>
            <a:ext cx="3711696" cy="155448"/>
          </a:xfrm>
          <a:prstGeom prst="rect">
            <a:avLst/>
          </a:prstGeom>
          <a:solidFill>
            <a:srgbClr val="65738C"/>
          </a:solidFill>
          <a:ln w="12700">
            <a:solidFill>
              <a:srgbClr val="65738C"/>
            </a:solidFill>
            <a:prstDash val="solid"/>
          </a:ln>
        </p:spPr>
      </p:sp>
      <p:sp>
        <p:nvSpPr>
          <p:cNvPr id="47" name="Text 45"/>
          <p:cNvSpPr txBox="1"/>
          <p:nvPr/>
        </p:nvSpPr>
        <p:spPr>
          <a:xfrm>
            <a:off x="8705088" y="4187952"/>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91A0B8"/>
                </a:solidFill>
                <a:latin typeface="Arial" pitchFamily="34" charset="0"/>
                <a:ea typeface="Arial" pitchFamily="34" charset="-122"/>
                <a:cs typeface="Arial" pitchFamily="34" charset="-120"/>
              </a:rPr>
              <a:t>76.3%</a:t>
            </a:r>
            <a:endParaRPr lang="en-US" sz="880" dirty="0"/>
          </a:p>
        </p:txBody>
      </p:sp>
      <p:sp>
        <p:nvSpPr>
          <p:cNvPr id="48" name="Shape 46"/>
          <p:cNvSpPr/>
          <p:nvPr/>
        </p:nvSpPr>
        <p:spPr>
          <a:xfrm>
            <a:off x="3767328" y="4489704"/>
            <a:ext cx="4864608" cy="155448"/>
          </a:xfrm>
          <a:prstGeom prst="rect">
            <a:avLst/>
          </a:prstGeom>
          <a:solidFill>
            <a:srgbClr val="24324A"/>
          </a:solidFill>
          <a:ln w="12700">
            <a:solidFill>
              <a:srgbClr val="24324A"/>
            </a:solidFill>
            <a:prstDash val="solid"/>
          </a:ln>
        </p:spPr>
      </p:sp>
      <p:sp>
        <p:nvSpPr>
          <p:cNvPr id="49" name="Shape 47"/>
          <p:cNvSpPr/>
          <p:nvPr/>
        </p:nvSpPr>
        <p:spPr>
          <a:xfrm>
            <a:off x="3767328" y="4489704"/>
            <a:ext cx="4650565" cy="155448"/>
          </a:xfrm>
          <a:prstGeom prst="rect">
            <a:avLst/>
          </a:prstGeom>
          <a:solidFill>
            <a:srgbClr val="3CE28F"/>
          </a:solidFill>
          <a:ln w="12700">
            <a:solidFill>
              <a:srgbClr val="3CE28F"/>
            </a:solidFill>
            <a:prstDash val="solid"/>
          </a:ln>
        </p:spPr>
      </p:sp>
      <p:sp>
        <p:nvSpPr>
          <p:cNvPr id="50" name="Text 48"/>
          <p:cNvSpPr txBox="1"/>
          <p:nvPr/>
        </p:nvSpPr>
        <p:spPr>
          <a:xfrm>
            <a:off x="8705088" y="4443984"/>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3CE28F"/>
                </a:solidFill>
                <a:latin typeface="Arial" pitchFamily="34" charset="0"/>
                <a:ea typeface="Arial" pitchFamily="34" charset="-122"/>
                <a:cs typeface="Arial" pitchFamily="34" charset="-120"/>
              </a:rPr>
              <a:t>95.6%</a:t>
            </a:r>
            <a:endParaRPr lang="en-US" sz="880" dirty="0"/>
          </a:p>
        </p:txBody>
      </p:sp>
      <p:sp>
        <p:nvSpPr>
          <p:cNvPr id="51" name="Text 49"/>
          <p:cNvSpPr txBox="1"/>
          <p:nvPr/>
        </p:nvSpPr>
        <p:spPr>
          <a:xfrm>
            <a:off x="9217152" y="4325112"/>
            <a:ext cx="713232" cy="201168"/>
          </a:xfrm>
          <a:prstGeom prst="rect">
            <a:avLst/>
          </a:prstGeom>
          <a:noFill/>
          <a:ln/>
        </p:spPr>
        <p:txBody>
          <a:bodyPr wrap="square" lIns="0" tIns="0" rIns="0" bIns="0" rtlCol="0" anchor="ctr">
            <a:normAutofit/>
          </a:bodyPr>
          <a:lstStyle/>
          <a:p>
            <a:pPr algn="ctr" indent="0" marL="0">
              <a:buNone/>
            </a:pPr>
            <a:r>
              <a:rPr lang="en-US" sz="950" b="1" dirty="0">
                <a:solidFill>
                  <a:srgbClr val="3CE28F"/>
                </a:solidFill>
                <a:latin typeface="Arial" pitchFamily="34" charset="0"/>
                <a:ea typeface="Arial" pitchFamily="34" charset="-122"/>
                <a:cs typeface="Arial" pitchFamily="34" charset="-120"/>
              </a:rPr>
              <a:t>+19.3</a:t>
            </a:r>
            <a:endParaRPr lang="en-US" sz="950" dirty="0"/>
          </a:p>
        </p:txBody>
      </p:sp>
      <p:sp>
        <p:nvSpPr>
          <p:cNvPr id="52" name="Text 50"/>
          <p:cNvSpPr txBox="1"/>
          <p:nvPr/>
        </p:nvSpPr>
        <p:spPr>
          <a:xfrm>
            <a:off x="10168128" y="4325112"/>
            <a:ext cx="1005840" cy="201168"/>
          </a:xfrm>
          <a:prstGeom prst="rect">
            <a:avLst/>
          </a:prstGeom>
          <a:noFill/>
          <a:ln/>
        </p:spPr>
        <p:txBody>
          <a:bodyPr wrap="square" lIns="0" tIns="0" rIns="0" bIns="0" rtlCol="0" anchor="ctr">
            <a:normAutofit/>
          </a:bodyPr>
          <a:lstStyle/>
          <a:p>
            <a:pPr algn="ctr" indent="0" marL="0">
              <a:buNone/>
            </a:pPr>
            <a:r>
              <a:rPr lang="en-US" sz="950" b="1" dirty="0">
                <a:solidFill>
                  <a:srgbClr val="25D0B1"/>
                </a:solidFill>
                <a:latin typeface="Arial" pitchFamily="34" charset="0"/>
                <a:ea typeface="Arial" pitchFamily="34" charset="-122"/>
                <a:cs typeface="Arial" pitchFamily="34" charset="-120"/>
              </a:rPr>
              <a:t>−94.5%</a:t>
            </a:r>
            <a:endParaRPr lang="en-US" sz="950" dirty="0"/>
          </a:p>
        </p:txBody>
      </p:sp>
      <p:sp>
        <p:nvSpPr>
          <p:cNvPr id="53" name="Shape 51"/>
          <p:cNvSpPr/>
          <p:nvPr/>
        </p:nvSpPr>
        <p:spPr>
          <a:xfrm>
            <a:off x="475488" y="4828032"/>
            <a:ext cx="11201400" cy="676656"/>
          </a:xfrm>
          <a:prstGeom prst="roundRect">
            <a:avLst/>
          </a:prstGeom>
          <a:solidFill>
            <a:srgbClr val="F6C453">
              <a:alpha val="6000"/>
            </a:srgbClr>
          </a:solidFill>
          <a:ln w="10160">
            <a:solidFill>
              <a:srgbClr val="F6C453">
                <a:alpha val="55000"/>
              </a:srgbClr>
            </a:solidFill>
            <a:prstDash val="solid"/>
          </a:ln>
        </p:spPr>
      </p:sp>
      <p:sp>
        <p:nvSpPr>
          <p:cNvPr id="54" name="Text 52"/>
          <p:cNvSpPr txBox="1"/>
          <p:nvPr/>
        </p:nvSpPr>
        <p:spPr>
          <a:xfrm>
            <a:off x="585216" y="4919472"/>
            <a:ext cx="1298448" cy="219456"/>
          </a:xfrm>
          <a:prstGeom prst="rect">
            <a:avLst/>
          </a:prstGeom>
          <a:noFill/>
          <a:ln/>
        </p:spPr>
        <p:txBody>
          <a:bodyPr wrap="square" lIns="0" tIns="0" rIns="0" bIns="0" rtlCol="0" anchor="ctr">
            <a:normAutofit/>
          </a:bodyPr>
          <a:lstStyle/>
          <a:p>
            <a:pPr algn="l" indent="0" marL="0">
              <a:buNone/>
            </a:pPr>
            <a:r>
              <a:rPr lang="en-US" sz="1030" b="1" dirty="0">
                <a:solidFill>
                  <a:srgbClr val="F6C453"/>
                </a:solidFill>
                <a:latin typeface="Arial" pitchFamily="34" charset="0"/>
                <a:ea typeface="Arial" pitchFamily="34" charset="-122"/>
                <a:cs typeface="Arial" pitchFamily="34" charset="-120"/>
              </a:rPr>
              <a:t>Heavy traffic</a:t>
            </a:r>
            <a:endParaRPr lang="en-US" sz="1030" dirty="0"/>
          </a:p>
        </p:txBody>
      </p:sp>
      <p:sp>
        <p:nvSpPr>
          <p:cNvPr id="55" name="Text 53"/>
          <p:cNvSpPr txBox="1"/>
          <p:nvPr/>
        </p:nvSpPr>
        <p:spPr>
          <a:xfrm>
            <a:off x="1993392" y="4919472"/>
            <a:ext cx="1508760" cy="219456"/>
          </a:xfrm>
          <a:prstGeom prst="rect">
            <a:avLst/>
          </a:prstGeom>
          <a:noFill/>
          <a:ln/>
        </p:spPr>
        <p:txBody>
          <a:bodyPr wrap="square" lIns="0" tIns="0" rIns="0" bIns="0" rtlCol="0" anchor="ctr">
            <a:normAutofit/>
          </a:bodyPr>
          <a:lstStyle/>
          <a:p>
            <a:pPr algn="l" indent="0" marL="0">
              <a:buNone/>
            </a:pPr>
            <a:r>
              <a:rPr lang="en-US" sz="900" dirty="0">
                <a:solidFill>
                  <a:srgbClr val="91A0B8"/>
                </a:solidFill>
                <a:latin typeface="Arial" pitchFamily="34" charset="0"/>
                <a:ea typeface="Arial" pitchFamily="34" charset="-122"/>
                <a:cs typeface="Arial" pitchFamily="34" charset="-120"/>
              </a:rPr>
              <a:t>N=6 Cap=4 λ=3.5 burst</a:t>
            </a:r>
            <a:endParaRPr lang="en-US" sz="900" dirty="0"/>
          </a:p>
        </p:txBody>
      </p:sp>
      <p:sp>
        <p:nvSpPr>
          <p:cNvPr id="56" name="Shape 54"/>
          <p:cNvSpPr/>
          <p:nvPr/>
        </p:nvSpPr>
        <p:spPr>
          <a:xfrm>
            <a:off x="3767328" y="4946904"/>
            <a:ext cx="4864608" cy="155448"/>
          </a:xfrm>
          <a:prstGeom prst="rect">
            <a:avLst/>
          </a:prstGeom>
          <a:solidFill>
            <a:srgbClr val="24324A"/>
          </a:solidFill>
          <a:ln w="12700">
            <a:solidFill>
              <a:srgbClr val="24324A"/>
            </a:solidFill>
            <a:prstDash val="solid"/>
          </a:ln>
        </p:spPr>
      </p:sp>
      <p:sp>
        <p:nvSpPr>
          <p:cNvPr id="57" name="Shape 55"/>
          <p:cNvSpPr/>
          <p:nvPr/>
        </p:nvSpPr>
        <p:spPr>
          <a:xfrm>
            <a:off x="3767328" y="4946904"/>
            <a:ext cx="3823582" cy="155448"/>
          </a:xfrm>
          <a:prstGeom prst="rect">
            <a:avLst/>
          </a:prstGeom>
          <a:solidFill>
            <a:srgbClr val="65738C"/>
          </a:solidFill>
          <a:ln w="12700">
            <a:solidFill>
              <a:srgbClr val="65738C"/>
            </a:solidFill>
            <a:prstDash val="solid"/>
          </a:ln>
        </p:spPr>
      </p:sp>
      <p:sp>
        <p:nvSpPr>
          <p:cNvPr id="58" name="Text 56"/>
          <p:cNvSpPr txBox="1"/>
          <p:nvPr/>
        </p:nvSpPr>
        <p:spPr>
          <a:xfrm>
            <a:off x="8705088" y="4901184"/>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91A0B8"/>
                </a:solidFill>
                <a:latin typeface="Arial" pitchFamily="34" charset="0"/>
                <a:ea typeface="Arial" pitchFamily="34" charset="-122"/>
                <a:cs typeface="Arial" pitchFamily="34" charset="-120"/>
              </a:rPr>
              <a:t>78.6%</a:t>
            </a:r>
            <a:endParaRPr lang="en-US" sz="880" dirty="0"/>
          </a:p>
        </p:txBody>
      </p:sp>
      <p:sp>
        <p:nvSpPr>
          <p:cNvPr id="59" name="Shape 57"/>
          <p:cNvSpPr/>
          <p:nvPr/>
        </p:nvSpPr>
        <p:spPr>
          <a:xfrm>
            <a:off x="3767328" y="5202936"/>
            <a:ext cx="4864608" cy="155448"/>
          </a:xfrm>
          <a:prstGeom prst="rect">
            <a:avLst/>
          </a:prstGeom>
          <a:solidFill>
            <a:srgbClr val="24324A"/>
          </a:solidFill>
          <a:ln w="12700">
            <a:solidFill>
              <a:srgbClr val="24324A"/>
            </a:solidFill>
            <a:prstDash val="solid"/>
          </a:ln>
        </p:spPr>
      </p:sp>
      <p:sp>
        <p:nvSpPr>
          <p:cNvPr id="60" name="Shape 58"/>
          <p:cNvSpPr/>
          <p:nvPr/>
        </p:nvSpPr>
        <p:spPr>
          <a:xfrm>
            <a:off x="3767328" y="5202936"/>
            <a:ext cx="3701967" cy="155448"/>
          </a:xfrm>
          <a:prstGeom prst="rect">
            <a:avLst/>
          </a:prstGeom>
          <a:solidFill>
            <a:srgbClr val="F6C453"/>
          </a:solidFill>
          <a:ln w="12700">
            <a:solidFill>
              <a:srgbClr val="F6C453"/>
            </a:solidFill>
            <a:prstDash val="solid"/>
          </a:ln>
        </p:spPr>
      </p:sp>
      <p:sp>
        <p:nvSpPr>
          <p:cNvPr id="61" name="Text 59"/>
          <p:cNvSpPr txBox="1"/>
          <p:nvPr/>
        </p:nvSpPr>
        <p:spPr>
          <a:xfrm>
            <a:off x="8705088" y="5157216"/>
            <a:ext cx="411480" cy="182880"/>
          </a:xfrm>
          <a:prstGeom prst="rect">
            <a:avLst/>
          </a:prstGeom>
          <a:noFill/>
          <a:ln/>
        </p:spPr>
        <p:txBody>
          <a:bodyPr wrap="square" lIns="0" tIns="0" rIns="0" bIns="0" rtlCol="0" anchor="ctr">
            <a:normAutofit/>
          </a:bodyPr>
          <a:lstStyle/>
          <a:p>
            <a:pPr algn="r" indent="0" marL="0">
              <a:buNone/>
            </a:pPr>
            <a:r>
              <a:rPr lang="en-US" sz="880" b="1" dirty="0">
                <a:solidFill>
                  <a:srgbClr val="F6C453"/>
                </a:solidFill>
                <a:latin typeface="Arial" pitchFamily="34" charset="0"/>
                <a:ea typeface="Arial" pitchFamily="34" charset="-122"/>
                <a:cs typeface="Arial" pitchFamily="34" charset="-120"/>
              </a:rPr>
              <a:t>76.1%</a:t>
            </a:r>
            <a:endParaRPr lang="en-US" sz="880" dirty="0"/>
          </a:p>
        </p:txBody>
      </p:sp>
      <p:sp>
        <p:nvSpPr>
          <p:cNvPr id="62" name="Text 60"/>
          <p:cNvSpPr txBox="1"/>
          <p:nvPr/>
        </p:nvSpPr>
        <p:spPr>
          <a:xfrm>
            <a:off x="9217152" y="5038344"/>
            <a:ext cx="713232" cy="201168"/>
          </a:xfrm>
          <a:prstGeom prst="rect">
            <a:avLst/>
          </a:prstGeom>
          <a:noFill/>
          <a:ln/>
        </p:spPr>
        <p:txBody>
          <a:bodyPr wrap="square" lIns="0" tIns="0" rIns="0" bIns="0" rtlCol="0" anchor="ctr">
            <a:normAutofit/>
          </a:bodyPr>
          <a:lstStyle/>
          <a:p>
            <a:pPr algn="ctr" indent="0" marL="0">
              <a:buNone/>
            </a:pPr>
            <a:r>
              <a:rPr lang="en-US" sz="950" b="1" dirty="0">
                <a:solidFill>
                  <a:srgbClr val="F6C453"/>
                </a:solidFill>
                <a:latin typeface="Arial" pitchFamily="34" charset="0"/>
                <a:ea typeface="Arial" pitchFamily="34" charset="-122"/>
                <a:cs typeface="Arial" pitchFamily="34" charset="-120"/>
              </a:rPr>
              <a:t>saturated</a:t>
            </a:r>
            <a:endParaRPr lang="en-US" sz="950" dirty="0"/>
          </a:p>
        </p:txBody>
      </p:sp>
      <p:sp>
        <p:nvSpPr>
          <p:cNvPr id="63" name="Text 61"/>
          <p:cNvSpPr txBox="1"/>
          <p:nvPr/>
        </p:nvSpPr>
        <p:spPr>
          <a:xfrm>
            <a:off x="10168128" y="5038344"/>
            <a:ext cx="1005840" cy="201168"/>
          </a:xfrm>
          <a:prstGeom prst="rect">
            <a:avLst/>
          </a:prstGeom>
          <a:noFill/>
          <a:ln/>
        </p:spPr>
        <p:txBody>
          <a:bodyPr wrap="square" lIns="0" tIns="0" rIns="0" bIns="0" rtlCol="0" anchor="ctr">
            <a:normAutofit/>
          </a:bodyPr>
          <a:lstStyle/>
          <a:p>
            <a:pPr algn="ctr" indent="0" marL="0">
              <a:buNone/>
            </a:pPr>
            <a:r>
              <a:rPr lang="en-US" sz="950" b="1" dirty="0">
                <a:solidFill>
                  <a:srgbClr val="25D0B1"/>
                </a:solidFill>
                <a:latin typeface="Arial" pitchFamily="34" charset="0"/>
                <a:ea typeface="Arial" pitchFamily="34" charset="-122"/>
                <a:cs typeface="Arial" pitchFamily="34" charset="-120"/>
              </a:rPr>
              <a:t>−96.8%</a:t>
            </a:r>
            <a:endParaRPr lang="en-US" sz="950" dirty="0"/>
          </a:p>
        </p:txBody>
      </p:sp>
      <p:sp>
        <p:nvSpPr>
          <p:cNvPr id="64" name="Shape 62"/>
          <p:cNvSpPr/>
          <p:nvPr/>
        </p:nvSpPr>
        <p:spPr>
          <a:xfrm>
            <a:off x="960120" y="5806440"/>
            <a:ext cx="10241280" cy="402336"/>
          </a:xfrm>
          <a:prstGeom prst="roundRect">
            <a:avLst>
              <a:gd name="adj" fmla="val 27273"/>
            </a:avLst>
          </a:prstGeom>
          <a:solidFill>
            <a:srgbClr val="0F1726"/>
          </a:solidFill>
          <a:ln w="12700">
            <a:solidFill>
              <a:srgbClr val="F6C453"/>
            </a:solidFill>
            <a:prstDash val="solid"/>
          </a:ln>
        </p:spPr>
      </p:sp>
      <p:sp>
        <p:nvSpPr>
          <p:cNvPr id="65" name="Text 63"/>
          <p:cNvSpPr txBox="1"/>
          <p:nvPr/>
        </p:nvSpPr>
        <p:spPr>
          <a:xfrm>
            <a:off x="1133856" y="5879592"/>
            <a:ext cx="9893808" cy="182880"/>
          </a:xfrm>
          <a:prstGeom prst="rect">
            <a:avLst/>
          </a:prstGeom>
          <a:noFill/>
          <a:ln/>
        </p:spPr>
        <p:txBody>
          <a:bodyPr wrap="square" lIns="0" tIns="0" rIns="0" bIns="0" rtlCol="0" anchor="ctr">
            <a:normAutofit/>
          </a:bodyPr>
          <a:lstStyle/>
          <a:p>
            <a:pPr algn="ctr" indent="0" marL="0">
              <a:buNone/>
            </a:pPr>
            <a:r>
              <a:rPr lang="en-US" sz="980" b="1" dirty="0">
                <a:solidFill>
                  <a:srgbClr val="F6C453"/>
                </a:solidFill>
                <a:latin typeface="Arial" pitchFamily="34" charset="0"/>
                <a:ea typeface="Arial" pitchFamily="34" charset="-122"/>
                <a:cs typeface="Arial" pitchFamily="34" charset="-120"/>
              </a:rPr>
              <a:t>Known weakness: under bursty heavy traffic, capacity saturation dominates health inference; next improvement is overload protection/admission control.</a:t>
            </a:r>
            <a:endParaRPr lang="en-US" sz="98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SUBMISSION READINESS</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How the full-stack project satisfies final assessment requirements</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The final package should separate evaluator submission code from optional demo/dashboard code.</a:t>
            </a:r>
            <a:endParaRPr lang="en-US" sz="1200" dirty="0"/>
          </a:p>
        </p:txBody>
      </p:sp>
      <p:sp>
        <p:nvSpPr>
          <p:cNvPr id="5" name="Shape 3"/>
          <p:cNvSpPr/>
          <p:nvPr/>
        </p:nvSpPr>
        <p:spPr>
          <a:xfrm>
            <a:off x="566928" y="1591056"/>
            <a:ext cx="3529584" cy="4389120"/>
          </a:xfrm>
          <a:prstGeom prst="roundRect">
            <a:avLst>
              <a:gd name="adj" fmla="val 3109"/>
            </a:avLst>
          </a:prstGeom>
          <a:solidFill>
            <a:srgbClr val="101827"/>
          </a:solidFill>
          <a:ln w="12700">
            <a:solidFill>
              <a:srgbClr val="3CE28F"/>
            </a:solidFill>
            <a:prstDash val="solid"/>
          </a:ln>
        </p:spPr>
      </p:sp>
      <p:sp>
        <p:nvSpPr>
          <p:cNvPr id="6" name="Text 4"/>
          <p:cNvSpPr txBox="1"/>
          <p:nvPr/>
        </p:nvSpPr>
        <p:spPr>
          <a:xfrm>
            <a:off x="731520" y="1728216"/>
            <a:ext cx="3200400" cy="256032"/>
          </a:xfrm>
          <a:prstGeom prst="rect">
            <a:avLst/>
          </a:prstGeom>
          <a:noFill/>
          <a:ln/>
        </p:spPr>
        <p:txBody>
          <a:bodyPr wrap="square" lIns="0" tIns="0" rIns="0" bIns="0" rtlCol="0" anchor="ctr">
            <a:normAutofit/>
          </a:bodyPr>
          <a:lstStyle/>
          <a:p>
            <a:pPr algn="l" indent="0" marL="0">
              <a:buNone/>
            </a:pPr>
            <a:r>
              <a:rPr lang="en-US" sz="1300" b="1" dirty="0">
                <a:solidFill>
                  <a:srgbClr val="3CE28F"/>
                </a:solidFill>
                <a:latin typeface="Arial" pitchFamily="34" charset="0"/>
                <a:ea typeface="Arial" pitchFamily="34" charset="-122"/>
                <a:cs typeface="Arial" pitchFamily="34" charset="-120"/>
              </a:rPr>
              <a:t>Evaluator submission</a:t>
            </a:r>
            <a:endParaRPr lang="en-US" sz="1300" dirty="0"/>
          </a:p>
        </p:txBody>
      </p:sp>
      <p:sp>
        <p:nvSpPr>
          <p:cNvPr id="7" name="Text 5"/>
          <p:cNvSpPr txBox="1"/>
          <p:nvPr/>
        </p:nvSpPr>
        <p:spPr>
          <a:xfrm>
            <a:off x="731520" y="2093976"/>
            <a:ext cx="3200400" cy="37307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Single importable agent class/module</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Implements reset, act and update interface</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No manual intervention during run</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Per-step computation within budget</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No hard-coded final environment constants</a:t>
            </a:r>
            <a:endParaRPr lang="en-US" sz="1030" dirty="0"/>
          </a:p>
        </p:txBody>
      </p:sp>
      <p:sp>
        <p:nvSpPr>
          <p:cNvPr id="8" name="Shape 6"/>
          <p:cNvSpPr/>
          <p:nvPr/>
        </p:nvSpPr>
        <p:spPr>
          <a:xfrm>
            <a:off x="4334256" y="1591056"/>
            <a:ext cx="3529584" cy="4389120"/>
          </a:xfrm>
          <a:prstGeom prst="roundRect">
            <a:avLst>
              <a:gd name="adj" fmla="val 3109"/>
            </a:avLst>
          </a:prstGeom>
          <a:solidFill>
            <a:srgbClr val="101827"/>
          </a:solidFill>
          <a:ln w="12700">
            <a:solidFill>
              <a:srgbClr val="40D9FF"/>
            </a:solidFill>
            <a:prstDash val="solid"/>
          </a:ln>
        </p:spPr>
      </p:sp>
      <p:sp>
        <p:nvSpPr>
          <p:cNvPr id="9" name="Text 7"/>
          <p:cNvSpPr txBox="1"/>
          <p:nvPr/>
        </p:nvSpPr>
        <p:spPr>
          <a:xfrm>
            <a:off x="4498848" y="1728216"/>
            <a:ext cx="3200400" cy="256032"/>
          </a:xfrm>
          <a:prstGeom prst="rect">
            <a:avLst/>
          </a:prstGeom>
          <a:noFill/>
          <a:ln/>
        </p:spPr>
        <p:txBody>
          <a:bodyPr wrap="square" lIns="0" tIns="0" rIns="0" bIns="0" rtlCol="0" anchor="ctr">
            <a:normAutofit/>
          </a:bodyPr>
          <a:lstStyle/>
          <a:p>
            <a:pPr algn="l" indent="0" marL="0">
              <a:buNone/>
            </a:pPr>
            <a:r>
              <a:rPr lang="en-US" sz="1300" b="1" dirty="0">
                <a:solidFill>
                  <a:srgbClr val="40D9FF"/>
                </a:solidFill>
                <a:latin typeface="Arial" pitchFamily="34" charset="0"/>
                <a:ea typeface="Arial" pitchFamily="34" charset="-122"/>
                <a:cs typeface="Arial" pitchFamily="34" charset="-120"/>
              </a:rPr>
              <a:t>Documentation</a:t>
            </a:r>
            <a:endParaRPr lang="en-US" sz="1300" dirty="0"/>
          </a:p>
        </p:txBody>
      </p:sp>
      <p:sp>
        <p:nvSpPr>
          <p:cNvPr id="10" name="Text 8"/>
          <p:cNvSpPr txBox="1"/>
          <p:nvPr/>
        </p:nvSpPr>
        <p:spPr>
          <a:xfrm>
            <a:off x="4498848" y="2093976"/>
            <a:ext cx="3200400" cy="37307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Short README explaining detection and adaptation</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Signals used: telemetry + progress stall</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Action logic: hold, commit, stay, reroute</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Metrics: completion, failure latency, churn</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Known limitation: capacity saturation</a:t>
            </a:r>
            <a:endParaRPr lang="en-US" sz="1030" dirty="0"/>
          </a:p>
        </p:txBody>
      </p:sp>
      <p:sp>
        <p:nvSpPr>
          <p:cNvPr id="11" name="Shape 9"/>
          <p:cNvSpPr/>
          <p:nvPr/>
        </p:nvSpPr>
        <p:spPr>
          <a:xfrm>
            <a:off x="8101584" y="1591056"/>
            <a:ext cx="3529584" cy="4389120"/>
          </a:xfrm>
          <a:prstGeom prst="roundRect">
            <a:avLst>
              <a:gd name="adj" fmla="val 3109"/>
            </a:avLst>
          </a:prstGeom>
          <a:solidFill>
            <a:srgbClr val="101827"/>
          </a:solidFill>
          <a:ln w="12700">
            <a:solidFill>
              <a:srgbClr val="A7A1FF"/>
            </a:solidFill>
            <a:prstDash val="solid"/>
          </a:ln>
        </p:spPr>
      </p:sp>
      <p:sp>
        <p:nvSpPr>
          <p:cNvPr id="12" name="Text 10"/>
          <p:cNvSpPr txBox="1"/>
          <p:nvPr/>
        </p:nvSpPr>
        <p:spPr>
          <a:xfrm>
            <a:off x="8266176" y="1728216"/>
            <a:ext cx="3200400" cy="256032"/>
          </a:xfrm>
          <a:prstGeom prst="rect">
            <a:avLst/>
          </a:prstGeom>
          <a:noFill/>
          <a:ln/>
        </p:spPr>
        <p:txBody>
          <a:bodyPr wrap="square" lIns="0" tIns="0" rIns="0" bIns="0" rtlCol="0" anchor="ctr">
            <a:normAutofit/>
          </a:bodyPr>
          <a:lstStyle/>
          <a:p>
            <a:pPr algn="l" indent="0" marL="0">
              <a:buNone/>
            </a:pPr>
            <a:r>
              <a:rPr lang="en-US" sz="1300" b="1" dirty="0">
                <a:solidFill>
                  <a:srgbClr val="A7A1FF"/>
                </a:solidFill>
                <a:latin typeface="Arial" pitchFamily="34" charset="0"/>
                <a:ea typeface="Arial" pitchFamily="34" charset="-122"/>
                <a:cs typeface="Arial" pitchFamily="34" charset="-120"/>
              </a:rPr>
              <a:t>Demo assets</a:t>
            </a:r>
            <a:endParaRPr lang="en-US" sz="1300" dirty="0"/>
          </a:p>
        </p:txBody>
      </p:sp>
      <p:sp>
        <p:nvSpPr>
          <p:cNvPr id="13" name="Text 11"/>
          <p:cNvSpPr txBox="1"/>
          <p:nvPr/>
        </p:nvSpPr>
        <p:spPr>
          <a:xfrm>
            <a:off x="8266176" y="2093976"/>
            <a:ext cx="3200400" cy="373075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Backend server / run controller</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Frontend dashboard</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Replay logs and benchmark snapshots</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Optional explanation logs for why a node was unhealthy</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Screens for judges to inspect decisions</a:t>
            </a:r>
            <a:endParaRPr lang="en-US" sz="103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75488" y="283464"/>
            <a:ext cx="457200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RISK CONTROLS &amp; FINAL ROADMAP</a:t>
            </a:r>
            <a:endParaRPr lang="en-US" sz="900" dirty="0"/>
          </a:p>
        </p:txBody>
      </p:sp>
      <p:sp>
        <p:nvSpPr>
          <p:cNvPr id="3" name="Text 1"/>
          <p:cNvSpPr txBox="1"/>
          <p:nvPr/>
        </p:nvSpPr>
        <p:spPr>
          <a:xfrm>
            <a:off x="475488" y="548640"/>
            <a:ext cx="11201400" cy="402336"/>
          </a:xfrm>
          <a:prstGeom prst="rect">
            <a:avLst/>
          </a:prstGeom>
          <a:noFill/>
          <a:ln/>
        </p:spPr>
        <p:txBody>
          <a:bodyPr wrap="square" lIns="0" tIns="0" rIns="0" bIns="0" rtlCol="0" anchor="ctr">
            <a:normAutofit/>
          </a:bodyPr>
          <a:lstStyle/>
          <a:p>
            <a:pPr algn="l" indent="0" marL="0">
              <a:buNone/>
            </a:pPr>
            <a:r>
              <a:rPr lang="en-US" sz="2550" b="1" dirty="0">
                <a:solidFill>
                  <a:srgbClr val="F6F8FC"/>
                </a:solidFill>
                <a:latin typeface="Arial" pitchFamily="34" charset="0"/>
                <a:ea typeface="Arial" pitchFamily="34" charset="-122"/>
                <a:cs typeface="Arial" pitchFamily="34" charset="-120"/>
              </a:rPr>
              <a:t>What we can defend, what we do not overclaim, and what comes next</a:t>
            </a:r>
            <a:endParaRPr lang="en-US" sz="2550" dirty="0"/>
          </a:p>
        </p:txBody>
      </p:sp>
      <p:sp>
        <p:nvSpPr>
          <p:cNvPr id="4" name="Text 2"/>
          <p:cNvSpPr txBox="1"/>
          <p:nvPr/>
        </p:nvSpPr>
        <p:spPr>
          <a:xfrm>
            <a:off x="475488" y="1115568"/>
            <a:ext cx="11109960" cy="256032"/>
          </a:xfrm>
          <a:prstGeom prst="rect">
            <a:avLst/>
          </a:prstGeom>
          <a:noFill/>
          <a:ln/>
        </p:spPr>
        <p:txBody>
          <a:bodyPr wrap="square" lIns="0" tIns="0" rIns="0" bIns="0" rtlCol="0" anchor="ctr">
            <a:normAutofit/>
          </a:bodyPr>
          <a:lstStyle/>
          <a:p>
            <a:pPr algn="l" indent="0" marL="0">
              <a:buNone/>
            </a:pPr>
            <a:r>
              <a:rPr lang="en-US" sz="1200" dirty="0">
                <a:solidFill>
                  <a:srgbClr val="91A0B8"/>
                </a:solidFill>
                <a:latin typeface="Arial" pitchFamily="34" charset="0"/>
                <a:ea typeface="Arial" pitchFamily="34" charset="-122"/>
                <a:cs typeface="Arial" pitchFamily="34" charset="-120"/>
              </a:rPr>
              <a:t>A strong final assessment should be honest about mathematical scope and engineering risks.</a:t>
            </a:r>
            <a:endParaRPr lang="en-US" sz="1200" dirty="0"/>
          </a:p>
        </p:txBody>
      </p:sp>
      <p:sp>
        <p:nvSpPr>
          <p:cNvPr id="5" name="Shape 3"/>
          <p:cNvSpPr/>
          <p:nvPr/>
        </p:nvSpPr>
        <p:spPr>
          <a:xfrm>
            <a:off x="530352" y="1645920"/>
            <a:ext cx="3566160" cy="4114800"/>
          </a:xfrm>
          <a:prstGeom prst="roundRect">
            <a:avLst>
              <a:gd name="adj" fmla="val 3077"/>
            </a:avLst>
          </a:prstGeom>
          <a:solidFill>
            <a:srgbClr val="101827"/>
          </a:solidFill>
          <a:ln w="12700">
            <a:solidFill>
              <a:srgbClr val="3CE28F"/>
            </a:solidFill>
            <a:prstDash val="solid"/>
          </a:ln>
        </p:spPr>
      </p:sp>
      <p:sp>
        <p:nvSpPr>
          <p:cNvPr id="6" name="Text 4"/>
          <p:cNvSpPr txBox="1"/>
          <p:nvPr/>
        </p:nvSpPr>
        <p:spPr>
          <a:xfrm>
            <a:off x="694944" y="1783080"/>
            <a:ext cx="3236976" cy="256032"/>
          </a:xfrm>
          <a:prstGeom prst="rect">
            <a:avLst/>
          </a:prstGeom>
          <a:noFill/>
          <a:ln/>
        </p:spPr>
        <p:txBody>
          <a:bodyPr wrap="square" lIns="0" tIns="0" rIns="0" bIns="0" rtlCol="0" anchor="ctr">
            <a:normAutofit/>
          </a:bodyPr>
          <a:lstStyle/>
          <a:p>
            <a:pPr algn="l" indent="0" marL="0">
              <a:buNone/>
            </a:pPr>
            <a:r>
              <a:rPr lang="en-US" sz="1300" b="1" dirty="0">
                <a:solidFill>
                  <a:srgbClr val="3CE28F"/>
                </a:solidFill>
                <a:latin typeface="Arial" pitchFamily="34" charset="0"/>
                <a:ea typeface="Arial" pitchFamily="34" charset="-122"/>
                <a:cs typeface="Arial" pitchFamily="34" charset="-120"/>
              </a:rPr>
              <a:t>Defensible claims</a:t>
            </a:r>
            <a:endParaRPr lang="en-US" sz="1300" dirty="0"/>
          </a:p>
        </p:txBody>
      </p:sp>
      <p:sp>
        <p:nvSpPr>
          <p:cNvPr id="7" name="Text 5"/>
          <p:cNvSpPr txBox="1"/>
          <p:nvPr/>
        </p:nvSpPr>
        <p:spPr>
          <a:xfrm>
            <a:off x="694944" y="2148840"/>
            <a:ext cx="3236976" cy="345643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Formulated scheduling as adaptive commitment timing</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Uses probabilistic hidden-health beliefs</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Prices restart loss and holding cost</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Backend executes deterministic scheduler</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Frontend explains decisions and metrics</a:t>
            </a:r>
            <a:endParaRPr lang="en-US" sz="1030" dirty="0"/>
          </a:p>
        </p:txBody>
      </p:sp>
      <p:sp>
        <p:nvSpPr>
          <p:cNvPr id="8" name="Shape 6"/>
          <p:cNvSpPr/>
          <p:nvPr/>
        </p:nvSpPr>
        <p:spPr>
          <a:xfrm>
            <a:off x="4315968" y="1645920"/>
            <a:ext cx="3566160" cy="4114800"/>
          </a:xfrm>
          <a:prstGeom prst="roundRect">
            <a:avLst>
              <a:gd name="adj" fmla="val 3077"/>
            </a:avLst>
          </a:prstGeom>
          <a:solidFill>
            <a:srgbClr val="101827"/>
          </a:solidFill>
          <a:ln w="12700">
            <a:solidFill>
              <a:srgbClr val="F6C453"/>
            </a:solidFill>
            <a:prstDash val="solid"/>
          </a:ln>
        </p:spPr>
      </p:sp>
      <p:sp>
        <p:nvSpPr>
          <p:cNvPr id="9" name="Text 7"/>
          <p:cNvSpPr txBox="1"/>
          <p:nvPr/>
        </p:nvSpPr>
        <p:spPr>
          <a:xfrm>
            <a:off x="4480560" y="1783080"/>
            <a:ext cx="3236976" cy="256032"/>
          </a:xfrm>
          <a:prstGeom prst="rect">
            <a:avLst/>
          </a:prstGeom>
          <a:noFill/>
          <a:ln/>
        </p:spPr>
        <p:txBody>
          <a:bodyPr wrap="square" lIns="0" tIns="0" rIns="0" bIns="0" rtlCol="0" anchor="ctr">
            <a:normAutofit/>
          </a:bodyPr>
          <a:lstStyle/>
          <a:p>
            <a:pPr algn="l" indent="0" marL="0">
              <a:buNone/>
            </a:pPr>
            <a:r>
              <a:rPr lang="en-US" sz="1300" b="1" dirty="0">
                <a:solidFill>
                  <a:srgbClr val="F6C453"/>
                </a:solidFill>
                <a:latin typeface="Arial" pitchFamily="34" charset="0"/>
                <a:ea typeface="Arial" pitchFamily="34" charset="-122"/>
                <a:cs typeface="Arial" pitchFamily="34" charset="-120"/>
              </a:rPr>
              <a:t>Do not overclaim</a:t>
            </a:r>
            <a:endParaRPr lang="en-US" sz="1300" dirty="0"/>
          </a:p>
        </p:txBody>
      </p:sp>
      <p:sp>
        <p:nvSpPr>
          <p:cNvPr id="10" name="Text 8"/>
          <p:cNvSpPr txBox="1"/>
          <p:nvPr/>
        </p:nvSpPr>
        <p:spPr>
          <a:xfrm>
            <a:off x="4480560" y="2148840"/>
            <a:ext cx="3236976" cy="345643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Not inventing optimal stopping</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Not solving exact global Bellman/POMDP</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Not relying on an LLM for per-step control</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Dashboard is explanatory, not a scoring shortcut</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Heavy-traffic saturation still needs improvement</a:t>
            </a:r>
            <a:endParaRPr lang="en-US" sz="1030" dirty="0"/>
          </a:p>
        </p:txBody>
      </p:sp>
      <p:sp>
        <p:nvSpPr>
          <p:cNvPr id="11" name="Shape 9"/>
          <p:cNvSpPr/>
          <p:nvPr/>
        </p:nvSpPr>
        <p:spPr>
          <a:xfrm>
            <a:off x="8101584" y="1645920"/>
            <a:ext cx="3566160" cy="4114800"/>
          </a:xfrm>
          <a:prstGeom prst="roundRect">
            <a:avLst>
              <a:gd name="adj" fmla="val 3077"/>
            </a:avLst>
          </a:prstGeom>
          <a:solidFill>
            <a:srgbClr val="101827"/>
          </a:solidFill>
          <a:ln w="12700">
            <a:solidFill>
              <a:srgbClr val="40D9FF"/>
            </a:solidFill>
            <a:prstDash val="solid"/>
          </a:ln>
        </p:spPr>
      </p:sp>
      <p:sp>
        <p:nvSpPr>
          <p:cNvPr id="12" name="Text 10"/>
          <p:cNvSpPr txBox="1"/>
          <p:nvPr/>
        </p:nvSpPr>
        <p:spPr>
          <a:xfrm>
            <a:off x="8266176" y="1783080"/>
            <a:ext cx="3236976" cy="256032"/>
          </a:xfrm>
          <a:prstGeom prst="rect">
            <a:avLst/>
          </a:prstGeom>
          <a:noFill/>
          <a:ln/>
        </p:spPr>
        <p:txBody>
          <a:bodyPr wrap="square" lIns="0" tIns="0" rIns="0" bIns="0" rtlCol="0" anchor="ctr">
            <a:normAutofit/>
          </a:bodyPr>
          <a:lstStyle/>
          <a:p>
            <a:pPr algn="l" indent="0" marL="0">
              <a:buNone/>
            </a:pPr>
            <a:r>
              <a:rPr lang="en-US" sz="1300" b="1" dirty="0">
                <a:solidFill>
                  <a:srgbClr val="40D9FF"/>
                </a:solidFill>
                <a:latin typeface="Arial" pitchFamily="34" charset="0"/>
                <a:ea typeface="Arial" pitchFamily="34" charset="-122"/>
                <a:cs typeface="Arial" pitchFamily="34" charset="-120"/>
              </a:rPr>
              <a:t>Next milestone</a:t>
            </a:r>
            <a:endParaRPr lang="en-US" sz="1300" dirty="0"/>
          </a:p>
        </p:txBody>
      </p:sp>
      <p:sp>
        <p:nvSpPr>
          <p:cNvPr id="13" name="Text 11"/>
          <p:cNvSpPr txBox="1"/>
          <p:nvPr/>
        </p:nvSpPr>
        <p:spPr>
          <a:xfrm>
            <a:off x="8266176" y="2148840"/>
            <a:ext cx="3236976" cy="3456432"/>
          </a:xfrm>
          <a:prstGeom prst="rect">
            <a:avLst/>
          </a:prstGeom>
          <a:noFill/>
          <a:ln/>
        </p:spPr>
        <p:txBody>
          <a:bodyPr wrap="square" lIns="0" tIns="0" rIns="0" bIns="0" rtlCol="0" anchor="t">
            <a:normAutofit/>
          </a:bodyPr>
          <a:lstStyle/>
          <a:p>
            <a:pPr algn="l" indent="0" marL="0">
              <a:buNone/>
            </a:pPr>
            <a:r>
              <a:rPr lang="en-US" sz="1030" dirty="0">
                <a:solidFill>
                  <a:srgbClr val="D5DEEC"/>
                </a:solidFill>
                <a:latin typeface="Arial" pitchFamily="34" charset="0"/>
                <a:ea typeface="Arial" pitchFamily="34" charset="-122"/>
                <a:cs typeface="Arial" pitchFamily="34" charset="-120"/>
              </a:rPr>
              <a:t>• Online transition / likelihood adaptation</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State-dependent overload protection</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More regression tests and evaluator audit</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Freeze final submission package</a:t>
            </a:r>
            <a:endParaRPr lang="en-US" sz="1030" dirty="0"/>
          </a:p>
          <a:p>
            <a:pPr algn="l" indent="0" marL="0">
              <a:buNone/>
            </a:pPr>
            <a:r>
              <a:rPr lang="en-US" sz="1030" dirty="0">
                <a:solidFill>
                  <a:srgbClr val="D5DEEC"/>
                </a:solidFill>
                <a:latin typeface="Arial" pitchFamily="34" charset="0"/>
                <a:ea typeface="Arial" pitchFamily="34" charset="-122"/>
                <a:cs typeface="Arial" pitchFamily="34" charset="-120"/>
              </a:rPr>
              <a:t>• Add backend/frontend screenshots in final report</a:t>
            </a:r>
            <a:endParaRPr lang="en-US" sz="1030" dirty="0"/>
          </a:p>
        </p:txBody>
      </p:sp>
      <p:sp>
        <p:nvSpPr>
          <p:cNvPr id="14" name="Shape 12"/>
          <p:cNvSpPr/>
          <p:nvPr/>
        </p:nvSpPr>
        <p:spPr>
          <a:xfrm>
            <a:off x="960120" y="5980176"/>
            <a:ext cx="10241280" cy="274320"/>
          </a:xfrm>
          <a:prstGeom prst="roundRect">
            <a:avLst>
              <a:gd name="adj" fmla="val 40000"/>
            </a:avLst>
          </a:prstGeom>
          <a:solidFill>
            <a:srgbClr val="0F1726"/>
          </a:solidFill>
          <a:ln w="12700">
            <a:solidFill>
              <a:srgbClr val="2A3954"/>
            </a:solidFill>
            <a:prstDash val="solid"/>
          </a:ln>
        </p:spPr>
      </p:sp>
      <p:sp>
        <p:nvSpPr>
          <p:cNvPr id="15" name="Text 13"/>
          <p:cNvSpPr txBox="1"/>
          <p:nvPr/>
        </p:nvSpPr>
        <p:spPr>
          <a:xfrm>
            <a:off x="1170432" y="6025896"/>
            <a:ext cx="9829800" cy="146304"/>
          </a:xfrm>
          <a:prstGeom prst="rect">
            <a:avLst/>
          </a:prstGeom>
          <a:noFill/>
          <a:ln/>
        </p:spPr>
        <p:txBody>
          <a:bodyPr wrap="square" lIns="0" tIns="0" rIns="0" bIns="0" rtlCol="0" anchor="ctr">
            <a:normAutofit/>
          </a:bodyPr>
          <a:lstStyle/>
          <a:p>
            <a:pPr algn="ctr" indent="0" marL="0">
              <a:buNone/>
            </a:pPr>
            <a:r>
              <a:rPr lang="en-US" sz="860" dirty="0">
                <a:solidFill>
                  <a:srgbClr val="91A0B8"/>
                </a:solidFill>
                <a:latin typeface="Arial" pitchFamily="34" charset="0"/>
                <a:ea typeface="Arial" pitchFamily="34" charset="-122"/>
                <a:cs typeface="Arial" pitchFamily="34" charset="-120"/>
              </a:rPr>
              <a:t>Technical stance: ACT is an approximate receding-horizon controller with transparent economics and a full-stack explainability layer.</a:t>
            </a:r>
            <a:endParaRPr lang="en-US" sz="86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30352" y="457200"/>
            <a:ext cx="3474720" cy="219456"/>
          </a:xfrm>
          <a:prstGeom prst="rect">
            <a:avLst/>
          </a:prstGeom>
          <a:noFill/>
          <a:ln/>
        </p:spPr>
        <p:txBody>
          <a:bodyPr wrap="square" lIns="0" tIns="0" rIns="0" bIns="0" rtlCol="0" anchor="ctr">
            <a:normAutofit/>
          </a:bodyPr>
          <a:lstStyle/>
          <a:p>
            <a:pPr algn="l" indent="0" marL="0">
              <a:buNone/>
            </a:pPr>
            <a:r>
              <a:rPr lang="en-US" sz="900" b="1" dirty="0">
                <a:solidFill>
                  <a:srgbClr val="40D9FF"/>
                </a:solidFill>
                <a:latin typeface="Arial" pitchFamily="34" charset="0"/>
                <a:ea typeface="Arial" pitchFamily="34" charset="-122"/>
                <a:cs typeface="Arial" pitchFamily="34" charset="-120"/>
              </a:rPr>
              <a:t>FINAL ASSESSMENT SUMMARY</a:t>
            </a:r>
            <a:endParaRPr lang="en-US" sz="900" dirty="0"/>
          </a:p>
        </p:txBody>
      </p:sp>
      <p:sp>
        <p:nvSpPr>
          <p:cNvPr id="3" name="Text 1"/>
          <p:cNvSpPr txBox="1"/>
          <p:nvPr/>
        </p:nvSpPr>
        <p:spPr>
          <a:xfrm>
            <a:off x="530352" y="877824"/>
            <a:ext cx="6583680" cy="566928"/>
          </a:xfrm>
          <a:prstGeom prst="rect">
            <a:avLst/>
          </a:prstGeom>
          <a:noFill/>
          <a:ln/>
        </p:spPr>
        <p:txBody>
          <a:bodyPr wrap="square" lIns="0" tIns="0" rIns="0" bIns="0" rtlCol="0" anchor="ctr">
            <a:normAutofit/>
          </a:bodyPr>
          <a:lstStyle/>
          <a:p>
            <a:pPr algn="l" indent="0" marL="0">
              <a:buNone/>
            </a:pPr>
            <a:r>
              <a:rPr lang="en-US" sz="3200" b="1" dirty="0">
                <a:solidFill>
                  <a:srgbClr val="F6F8FC"/>
                </a:solidFill>
                <a:latin typeface="Arial" pitchFamily="34" charset="0"/>
                <a:ea typeface="Arial" pitchFamily="34" charset="-122"/>
                <a:cs typeface="Arial" pitchFamily="34" charset="-120"/>
              </a:rPr>
              <a:t>Adaptive Commitment Timing (ACT)</a:t>
            </a:r>
            <a:endParaRPr lang="en-US" sz="3200" dirty="0"/>
          </a:p>
        </p:txBody>
      </p:sp>
      <p:sp>
        <p:nvSpPr>
          <p:cNvPr id="4" name="Text 2"/>
          <p:cNvSpPr txBox="1"/>
          <p:nvPr/>
        </p:nvSpPr>
        <p:spPr>
          <a:xfrm>
            <a:off x="530352" y="1463040"/>
            <a:ext cx="6949440" cy="292608"/>
          </a:xfrm>
          <a:prstGeom prst="rect">
            <a:avLst/>
          </a:prstGeom>
          <a:noFill/>
          <a:ln/>
        </p:spPr>
        <p:txBody>
          <a:bodyPr wrap="square" lIns="0" tIns="0" rIns="0" bIns="0" rtlCol="0" anchor="ctr">
            <a:normAutofit/>
          </a:bodyPr>
          <a:lstStyle/>
          <a:p>
            <a:pPr algn="l" indent="0" marL="0">
              <a:buNone/>
            </a:pPr>
            <a:r>
              <a:rPr lang="en-US" sz="1350" dirty="0">
                <a:solidFill>
                  <a:srgbClr val="25D0B1"/>
                </a:solidFill>
                <a:latin typeface="Arial" pitchFamily="34" charset="0"/>
                <a:ea typeface="Arial" pitchFamily="34" charset="-122"/>
                <a:cs typeface="Arial" pitchFamily="34" charset="-120"/>
              </a:rPr>
              <a:t>Where + When scheduling with backend execution and frontend explainability</a:t>
            </a:r>
            <a:endParaRPr lang="en-US" sz="1350" dirty="0"/>
          </a:p>
        </p:txBody>
      </p:sp>
      <p:sp>
        <p:nvSpPr>
          <p:cNvPr id="5" name="Shape 3"/>
          <p:cNvSpPr/>
          <p:nvPr/>
        </p:nvSpPr>
        <p:spPr>
          <a:xfrm>
            <a:off x="658368" y="2121408"/>
            <a:ext cx="5120640" cy="2670048"/>
          </a:xfrm>
          <a:prstGeom prst="roundRect">
            <a:avLst>
              <a:gd name="adj" fmla="val 4110"/>
            </a:avLst>
          </a:prstGeom>
          <a:solidFill>
            <a:srgbClr val="0F1726"/>
          </a:solidFill>
          <a:ln w="12700">
            <a:solidFill>
              <a:srgbClr val="3CE28F"/>
            </a:solidFill>
            <a:prstDash val="solid"/>
          </a:ln>
        </p:spPr>
      </p:sp>
      <p:sp>
        <p:nvSpPr>
          <p:cNvPr id="6" name="Text 4"/>
          <p:cNvSpPr txBox="1"/>
          <p:nvPr/>
        </p:nvSpPr>
        <p:spPr>
          <a:xfrm>
            <a:off x="932688" y="2423160"/>
            <a:ext cx="1536192" cy="219456"/>
          </a:xfrm>
          <a:prstGeom prst="rect">
            <a:avLst/>
          </a:prstGeom>
          <a:noFill/>
          <a:ln/>
        </p:spPr>
        <p:txBody>
          <a:bodyPr wrap="square" lIns="0" tIns="0" rIns="0" bIns="0" rtlCol="0" anchor="ctr">
            <a:normAutofit/>
          </a:bodyPr>
          <a:lstStyle/>
          <a:p>
            <a:pPr algn="l" indent="0" marL="0">
              <a:buNone/>
            </a:pPr>
            <a:r>
              <a:rPr lang="en-US" sz="1100" b="1" dirty="0">
                <a:solidFill>
                  <a:srgbClr val="3CE28F"/>
                </a:solidFill>
                <a:latin typeface="Arial" pitchFamily="34" charset="0"/>
                <a:ea typeface="Arial" pitchFamily="34" charset="-122"/>
                <a:cs typeface="Arial" pitchFamily="34" charset="-120"/>
              </a:rPr>
              <a:t>Final answer to judges</a:t>
            </a:r>
            <a:endParaRPr lang="en-US" sz="1100" dirty="0"/>
          </a:p>
        </p:txBody>
      </p:sp>
      <p:sp>
        <p:nvSpPr>
          <p:cNvPr id="7" name="Text 5"/>
          <p:cNvSpPr txBox="1"/>
          <p:nvPr/>
        </p:nvSpPr>
        <p:spPr>
          <a:xfrm>
            <a:off x="950976" y="2816352"/>
            <a:ext cx="4553712" cy="841248"/>
          </a:xfrm>
          <a:prstGeom prst="rect">
            <a:avLst/>
          </a:prstGeom>
          <a:noFill/>
          <a:ln/>
        </p:spPr>
        <p:txBody>
          <a:bodyPr wrap="square" lIns="0" tIns="0" rIns="0" bIns="0" rtlCol="0" anchor="ctr">
            <a:normAutofit/>
          </a:bodyPr>
          <a:lstStyle/>
          <a:p>
            <a:pPr algn="ctr" indent="0" marL="0">
              <a:buNone/>
            </a:pPr>
            <a:r>
              <a:rPr lang="en-US" sz="1800" b="1" dirty="0">
                <a:solidFill>
                  <a:srgbClr val="F6F8FC"/>
                </a:solidFill>
                <a:latin typeface="Arial" pitchFamily="34" charset="0"/>
                <a:ea typeface="Arial" pitchFamily="34" charset="-122"/>
                <a:cs typeface="Arial" pitchFamily="34" charset="-120"/>
              </a:rPr>
              <a:t>ACT compares commitment value against continuation value so the agent can hold, commit, stay or reroute using the real costs of the environment.</a:t>
            </a:r>
            <a:endParaRPr lang="en-US" sz="1800" dirty="0"/>
          </a:p>
        </p:txBody>
      </p:sp>
      <p:sp>
        <p:nvSpPr>
          <p:cNvPr id="8" name="Text 6"/>
          <p:cNvSpPr txBox="1"/>
          <p:nvPr/>
        </p:nvSpPr>
        <p:spPr>
          <a:xfrm>
            <a:off x="950976" y="3977640"/>
            <a:ext cx="4553712" cy="402336"/>
          </a:xfrm>
          <a:prstGeom prst="rect">
            <a:avLst/>
          </a:prstGeom>
          <a:noFill/>
          <a:ln/>
        </p:spPr>
        <p:txBody>
          <a:bodyPr wrap="square" lIns="0" tIns="0" rIns="0" bIns="0" rtlCol="0" anchor="ctr">
            <a:normAutofit/>
          </a:bodyPr>
          <a:lstStyle/>
          <a:p>
            <a:pPr algn="ctr" indent="0" marL="0">
              <a:buNone/>
            </a:pPr>
            <a:r>
              <a:rPr lang="en-US" sz="1200" dirty="0">
                <a:solidFill>
                  <a:srgbClr val="D5DEEC"/>
                </a:solidFill>
                <a:latin typeface="Arial" pitchFamily="34" charset="0"/>
                <a:ea typeface="Arial" pitchFamily="34" charset="-122"/>
                <a:cs typeface="Arial" pitchFamily="34" charset="-120"/>
              </a:rPr>
              <a:t>The backend executes decisions; the frontend shows beliefs, metrics and explanations.</a:t>
            </a:r>
            <a:endParaRPr lang="en-US" sz="1200" dirty="0"/>
          </a:p>
        </p:txBody>
      </p:sp>
      <p:sp>
        <p:nvSpPr>
          <p:cNvPr id="9" name="Shape 7"/>
          <p:cNvSpPr/>
          <p:nvPr/>
        </p:nvSpPr>
        <p:spPr>
          <a:xfrm>
            <a:off x="6089904" y="2121408"/>
            <a:ext cx="5413248" cy="2670048"/>
          </a:xfrm>
          <a:prstGeom prst="roundRect">
            <a:avLst>
              <a:gd name="adj" fmla="val 4110"/>
            </a:avLst>
          </a:prstGeom>
          <a:solidFill>
            <a:srgbClr val="0F1726"/>
          </a:solidFill>
          <a:ln w="12700">
            <a:solidFill>
              <a:srgbClr val="40D9FF"/>
            </a:solidFill>
            <a:prstDash val="solid"/>
          </a:ln>
        </p:spPr>
      </p:sp>
      <p:sp>
        <p:nvSpPr>
          <p:cNvPr id="10" name="Shape 8"/>
          <p:cNvSpPr/>
          <p:nvPr/>
        </p:nvSpPr>
        <p:spPr>
          <a:xfrm>
            <a:off x="6345936" y="2441448"/>
            <a:ext cx="1353312" cy="859536"/>
          </a:xfrm>
          <a:prstGeom prst="roundRect">
            <a:avLst>
              <a:gd name="adj" fmla="val 12766"/>
            </a:avLst>
          </a:prstGeom>
          <a:solidFill>
            <a:srgbClr val="0F1726"/>
          </a:solidFill>
          <a:ln w="12700">
            <a:solidFill>
              <a:srgbClr val="3CE28F"/>
            </a:solidFill>
            <a:prstDash val="solid"/>
          </a:ln>
        </p:spPr>
      </p:sp>
      <p:sp>
        <p:nvSpPr>
          <p:cNvPr id="11" name="Text 9"/>
          <p:cNvSpPr txBox="1"/>
          <p:nvPr/>
        </p:nvSpPr>
        <p:spPr>
          <a:xfrm>
            <a:off x="6492240" y="2532888"/>
            <a:ext cx="1060704" cy="384048"/>
          </a:xfrm>
          <a:prstGeom prst="rect">
            <a:avLst/>
          </a:prstGeom>
          <a:noFill/>
          <a:ln/>
        </p:spPr>
        <p:txBody>
          <a:bodyPr wrap="square" lIns="0" tIns="0" rIns="0" bIns="0" rtlCol="0" anchor="ctr">
            <a:normAutofit/>
          </a:bodyPr>
          <a:lstStyle/>
          <a:p>
            <a:pPr algn="l" indent="0" marL="0">
              <a:buNone/>
            </a:pPr>
            <a:r>
              <a:rPr lang="en-US" sz="2100" b="1" dirty="0">
                <a:solidFill>
                  <a:srgbClr val="3CE28F"/>
                </a:solidFill>
                <a:latin typeface="Arial" pitchFamily="34" charset="0"/>
                <a:ea typeface="Arial" pitchFamily="34" charset="-122"/>
                <a:cs typeface="Arial" pitchFamily="34" charset="-120"/>
              </a:rPr>
              <a:t>98.1%</a:t>
            </a:r>
            <a:endParaRPr lang="en-US" sz="2100" dirty="0"/>
          </a:p>
        </p:txBody>
      </p:sp>
      <p:sp>
        <p:nvSpPr>
          <p:cNvPr id="12" name="Text 10"/>
          <p:cNvSpPr txBox="1"/>
          <p:nvPr/>
        </p:nvSpPr>
        <p:spPr>
          <a:xfrm>
            <a:off x="6492240" y="2953512"/>
            <a:ext cx="1060704" cy="27432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completion</a:t>
            </a:r>
            <a:endParaRPr lang="en-US" sz="910" dirty="0"/>
          </a:p>
        </p:txBody>
      </p:sp>
      <p:sp>
        <p:nvSpPr>
          <p:cNvPr id="13" name="Shape 11"/>
          <p:cNvSpPr/>
          <p:nvPr/>
        </p:nvSpPr>
        <p:spPr>
          <a:xfrm>
            <a:off x="7882128" y="2441448"/>
            <a:ext cx="1353312" cy="859536"/>
          </a:xfrm>
          <a:prstGeom prst="roundRect">
            <a:avLst>
              <a:gd name="adj" fmla="val 12766"/>
            </a:avLst>
          </a:prstGeom>
          <a:solidFill>
            <a:srgbClr val="0F1726"/>
          </a:solidFill>
          <a:ln w="12700">
            <a:solidFill>
              <a:srgbClr val="40D9FF"/>
            </a:solidFill>
            <a:prstDash val="solid"/>
          </a:ln>
        </p:spPr>
      </p:sp>
      <p:sp>
        <p:nvSpPr>
          <p:cNvPr id="14" name="Text 12"/>
          <p:cNvSpPr txBox="1"/>
          <p:nvPr/>
        </p:nvSpPr>
        <p:spPr>
          <a:xfrm>
            <a:off x="8028432" y="2532888"/>
            <a:ext cx="1060704" cy="384048"/>
          </a:xfrm>
          <a:prstGeom prst="rect">
            <a:avLst/>
          </a:prstGeom>
          <a:noFill/>
          <a:ln/>
        </p:spPr>
        <p:txBody>
          <a:bodyPr wrap="square" lIns="0" tIns="0" rIns="0" bIns="0" rtlCol="0" anchor="ctr">
            <a:normAutofit/>
          </a:bodyPr>
          <a:lstStyle/>
          <a:p>
            <a:pPr algn="l" indent="0" marL="0">
              <a:buNone/>
            </a:pPr>
            <a:r>
              <a:rPr lang="en-US" sz="2100" b="1" dirty="0">
                <a:solidFill>
                  <a:srgbClr val="40D9FF"/>
                </a:solidFill>
                <a:latin typeface="Arial" pitchFamily="34" charset="0"/>
                <a:ea typeface="Arial" pitchFamily="34" charset="-122"/>
                <a:cs typeface="Arial" pitchFamily="34" charset="-120"/>
              </a:rPr>
              <a:t>−86.3%</a:t>
            </a:r>
            <a:endParaRPr lang="en-US" sz="2100" dirty="0"/>
          </a:p>
        </p:txBody>
      </p:sp>
      <p:sp>
        <p:nvSpPr>
          <p:cNvPr id="15" name="Text 13"/>
          <p:cNvSpPr txBox="1"/>
          <p:nvPr/>
        </p:nvSpPr>
        <p:spPr>
          <a:xfrm>
            <a:off x="8028432" y="2953512"/>
            <a:ext cx="1060704" cy="27432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failures</a:t>
            </a:r>
            <a:endParaRPr lang="en-US" sz="910" dirty="0"/>
          </a:p>
        </p:txBody>
      </p:sp>
      <p:sp>
        <p:nvSpPr>
          <p:cNvPr id="16" name="Shape 14"/>
          <p:cNvSpPr/>
          <p:nvPr/>
        </p:nvSpPr>
        <p:spPr>
          <a:xfrm>
            <a:off x="9418320" y="2441448"/>
            <a:ext cx="1353312" cy="859536"/>
          </a:xfrm>
          <a:prstGeom prst="roundRect">
            <a:avLst>
              <a:gd name="adj" fmla="val 12766"/>
            </a:avLst>
          </a:prstGeom>
          <a:solidFill>
            <a:srgbClr val="0F1726"/>
          </a:solidFill>
          <a:ln w="12700">
            <a:solidFill>
              <a:srgbClr val="F6C453"/>
            </a:solidFill>
            <a:prstDash val="solid"/>
          </a:ln>
        </p:spPr>
      </p:sp>
      <p:sp>
        <p:nvSpPr>
          <p:cNvPr id="17" name="Text 15"/>
          <p:cNvSpPr txBox="1"/>
          <p:nvPr/>
        </p:nvSpPr>
        <p:spPr>
          <a:xfrm>
            <a:off x="9564624" y="2532888"/>
            <a:ext cx="1060704" cy="384048"/>
          </a:xfrm>
          <a:prstGeom prst="rect">
            <a:avLst/>
          </a:prstGeom>
          <a:noFill/>
          <a:ln/>
        </p:spPr>
        <p:txBody>
          <a:bodyPr wrap="square" lIns="0" tIns="0" rIns="0" bIns="0" rtlCol="0" anchor="ctr">
            <a:normAutofit/>
          </a:bodyPr>
          <a:lstStyle/>
          <a:p>
            <a:pPr algn="l" indent="0" marL="0">
              <a:buNone/>
            </a:pPr>
            <a:r>
              <a:rPr lang="en-US" sz="2100" b="1" dirty="0">
                <a:solidFill>
                  <a:srgbClr val="F6C453"/>
                </a:solidFill>
                <a:latin typeface="Arial" pitchFamily="34" charset="0"/>
                <a:ea typeface="Arial" pitchFamily="34" charset="-122"/>
                <a:cs typeface="Arial" pitchFamily="34" charset="-120"/>
              </a:rPr>
              <a:t>0.234</a:t>
            </a:r>
            <a:endParaRPr lang="en-US" sz="2100" dirty="0"/>
          </a:p>
        </p:txBody>
      </p:sp>
      <p:sp>
        <p:nvSpPr>
          <p:cNvPr id="18" name="Text 16"/>
          <p:cNvSpPr txBox="1"/>
          <p:nvPr/>
        </p:nvSpPr>
        <p:spPr>
          <a:xfrm>
            <a:off x="9564624" y="2953512"/>
            <a:ext cx="1060704" cy="274320"/>
          </a:xfrm>
          <a:prstGeom prst="rect">
            <a:avLst/>
          </a:prstGeom>
          <a:noFill/>
          <a:ln/>
        </p:spPr>
        <p:txBody>
          <a:bodyPr wrap="square" lIns="0" tIns="0" rIns="0" bIns="0" rtlCol="0" anchor="t">
            <a:normAutofit/>
          </a:bodyPr>
          <a:lstStyle/>
          <a:p>
            <a:pPr algn="l" indent="0" marL="0">
              <a:buNone/>
            </a:pPr>
            <a:r>
              <a:rPr lang="en-US" sz="910" dirty="0">
                <a:solidFill>
                  <a:srgbClr val="91A0B8"/>
                </a:solidFill>
                <a:latin typeface="Arial" pitchFamily="34" charset="0"/>
                <a:ea typeface="Arial" pitchFamily="34" charset="-122"/>
                <a:cs typeface="Arial" pitchFamily="34" charset="-120"/>
              </a:rPr>
              <a:t>ms / step</a:t>
            </a:r>
            <a:endParaRPr lang="en-US" sz="910" dirty="0"/>
          </a:p>
        </p:txBody>
      </p:sp>
      <p:sp>
        <p:nvSpPr>
          <p:cNvPr id="19" name="Text 17"/>
          <p:cNvSpPr txBox="1"/>
          <p:nvPr/>
        </p:nvSpPr>
        <p:spPr>
          <a:xfrm>
            <a:off x="6547104" y="4041648"/>
            <a:ext cx="4608576" cy="310896"/>
          </a:xfrm>
          <a:prstGeom prst="rect">
            <a:avLst/>
          </a:prstGeom>
          <a:noFill/>
          <a:ln/>
        </p:spPr>
        <p:txBody>
          <a:bodyPr wrap="square" lIns="0" tIns="0" rIns="0" bIns="0" rtlCol="0" anchor="ctr">
            <a:normAutofit/>
          </a:bodyPr>
          <a:lstStyle/>
          <a:p>
            <a:pPr algn="ctr" indent="0" marL="0">
              <a:buNone/>
            </a:pPr>
            <a:r>
              <a:rPr lang="en-US" sz="2000" b="1" dirty="0">
                <a:solidFill>
                  <a:srgbClr val="F6F8FC"/>
                </a:solidFill>
                <a:latin typeface="Arial" pitchFamily="34" charset="0"/>
                <a:ea typeface="Arial" pitchFamily="34" charset="-122"/>
                <a:cs typeface="Arial" pitchFamily="34" charset="-120"/>
              </a:rPr>
              <a:t>Ready for questions</a:t>
            </a:r>
            <a:endParaRPr lang="en-US" sz="2000" dirty="0"/>
          </a:p>
        </p:txBody>
      </p:sp>
      <p:sp>
        <p:nvSpPr>
          <p:cNvPr id="20" name="Text 18"/>
          <p:cNvSpPr txBox="1"/>
          <p:nvPr/>
        </p:nvSpPr>
        <p:spPr>
          <a:xfrm>
            <a:off x="6547104" y="4443984"/>
            <a:ext cx="4608576" cy="201168"/>
          </a:xfrm>
          <a:prstGeom prst="rect">
            <a:avLst/>
          </a:prstGeom>
          <a:noFill/>
          <a:ln/>
        </p:spPr>
        <p:txBody>
          <a:bodyPr wrap="square" lIns="0" tIns="0" rIns="0" bIns="0" rtlCol="0" anchor="ctr">
            <a:normAutofit/>
          </a:bodyPr>
          <a:lstStyle/>
          <a:p>
            <a:pPr algn="ctr" indent="0" marL="0">
              <a:buNone/>
            </a:pPr>
            <a:r>
              <a:rPr lang="en-US" sz="1200" dirty="0">
                <a:solidFill>
                  <a:srgbClr val="91A0B8"/>
                </a:solidFill>
                <a:latin typeface="Arial" pitchFamily="34" charset="0"/>
                <a:ea typeface="Arial" pitchFamily="34" charset="-122"/>
                <a:cs typeface="Arial" pitchFamily="34" charset="-120"/>
              </a:rPr>
              <a:t>Thank you</a:t>
            </a:r>
            <a:endParaRPr lang="en-US" sz="1200" dirty="0"/>
          </a:p>
        </p:txBody>
      </p:sp>
      <p:sp>
        <p:nvSpPr>
          <p:cNvPr id="25" name="Slide Number Placeholder 0"/>
          <p:cNvSpPr>
            <a:spLocks noGrp="1"/>
          </p:cNvSpPr>
          <p:nvPr>
            <p:ph type="sldNum" sz="quarter" idx="4294967295"/>
          </p:nvPr>
        </p:nvSpPr>
        <p:spPr>
          <a:xfrm>
            <a:off x="11539728" y="6473952"/>
            <a:ext cx="384048"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91A0B8"/>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MM26AI02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MM26AI02 Final Assessment - Adaptive Commitment Timing Full Stack</dc:title>
  <dc:subject>MM26AI02 Final Assessment - Full Stack ACT</dc:subject>
  <dc:creator>Hamza Ahmad</dc:creator>
  <cp:lastModifiedBy>Hamza Ahmad</cp:lastModifiedBy>
  <cp:revision>1</cp:revision>
  <dcterms:created xsi:type="dcterms:W3CDTF">2026-09-20T00:20:27Z</dcterms:created>
  <dcterms:modified xsi:type="dcterms:W3CDTF">2026-09-20T00:20:27Z</dcterms:modified>
</cp:coreProperties>
</file>
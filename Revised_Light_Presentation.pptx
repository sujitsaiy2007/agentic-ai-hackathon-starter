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188720"/>
            <a:ext cx="4206240" cy="384048"/>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1D4ED8"/>
                </a:solidFill>
              </a:defRPr>
            </a:pPr>
            <a:r>
              <a:t>CHALLENGE MM26AI02 • SOLUTION PRESENTATION</a:t>
            </a:r>
          </a:p>
        </p:txBody>
      </p:sp>
      <p:sp>
        <p:nvSpPr>
          <p:cNvPr id="4" name="TextBox 3"/>
          <p:cNvSpPr txBox="1"/>
          <p:nvPr/>
        </p:nvSpPr>
        <p:spPr>
          <a:xfrm>
            <a:off x="731520" y="1737360"/>
            <a:ext cx="10698480" cy="1737360"/>
          </a:xfrm>
          <a:prstGeom prst="rect">
            <a:avLst/>
          </a:prstGeom>
          <a:noFill/>
        </p:spPr>
        <p:txBody>
          <a:bodyPr wrap="square">
            <a:spAutoFit/>
          </a:bodyPr>
          <a:lstStyle/>
          <a:p>
            <a:pPr>
              <a:defRPr sz="3800" b="1">
                <a:solidFill>
                  <a:srgbClr val="0F172A"/>
                </a:solidFill>
                <a:latin typeface="Segoe UI"/>
              </a:defRPr>
            </a:pPr>
            <a:r>
              <a:t>Adaptive Commitment Timing (ACT)</a:t>
            </a:r>
          </a:p>
          <a:p>
            <a:pPr>
              <a:defRPr sz="2000">
                <a:solidFill>
                  <a:srgbClr val="1D4ED8"/>
                </a:solidFill>
                <a:latin typeface="Segoe UI"/>
              </a:defRPr>
            </a:pPr>
            <a:r>
              <a:t>Keeping Cloud Clusters Alive Under Silent Hardware Failures</a:t>
            </a:r>
          </a:p>
        </p:txBody>
      </p:sp>
      <p:sp>
        <p:nvSpPr>
          <p:cNvPr id="5" name="Rounded Rectangle 4"/>
          <p:cNvSpPr/>
          <p:nvPr/>
        </p:nvSpPr>
        <p:spPr>
          <a:xfrm>
            <a:off x="731520" y="3657600"/>
            <a:ext cx="10698480" cy="2377440"/>
          </a:xfrm>
          <a:prstGeom prst="roundRect">
            <a:avLst/>
          </a:prstGeom>
          <a:solidFill>
            <a:srgbClr val="FFFF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840480"/>
            <a:ext cx="10149840" cy="2011680"/>
          </a:xfrm>
          <a:prstGeom prst="rect">
            <a:avLst/>
          </a:prstGeom>
          <a:noFill/>
        </p:spPr>
        <p:txBody>
          <a:bodyPr wrap="square">
            <a:spAutoFit/>
          </a:bodyPr>
          <a:lstStyle/>
          <a:p>
            <a:pPr>
              <a:defRPr sz="1200" b="1">
                <a:solidFill>
                  <a:srgbClr val="1D4ED8"/>
                </a:solidFill>
              </a:defRPr>
            </a:pPr>
            <a:r>
              <a:t>THE BIG IDEA IN SIMPLE WORDS</a:t>
            </a:r>
          </a:p>
          <a:p>
            <a:pPr>
              <a:defRPr sz="1300">
                <a:solidFill>
                  <a:srgbClr val="475569"/>
                </a:solidFill>
              </a:defRPr>
            </a:pPr>
            <a:r>
              <a:t>In high-throughput cloud environments, servers don't always crash loudly—they degrade silently. Traditional schedulers fail because they rush to dump jobs onto whatever server looks free right now, or they panic and move jobs too quickly, wiping out completed work.</a:t>
            </a:r>
            <a:br/>
            <a:br/>
            <a:r>
              <a:t>Our solution, Adaptive Commitment Timing (ACT), introduces intelligent patience to cloud computing. Instead of just asking WHERE to route a task, it mathematically determines WHEN to assign a job immediately versus WHEN to hold it in a waiting buffer until a healthy, reliable server opens up. The result is 98.1% task completion with virtually zero wasted 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1D4ED8"/>
                </a:solidFill>
                <a:latin typeface="Segoe UI"/>
              </a:defRPr>
            </a:pPr>
            <a:r>
              <a:t>MM26AI02 • CLUSTER WATCHDOG</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0F172A"/>
                </a:solidFill>
                <a:latin typeface="Segoe UI"/>
              </a:defRPr>
            </a:pPr>
            <a:r>
              <a:t>1. The Real-World Problem: Silent Server Outages</a:t>
            </a:r>
          </a:p>
        </p:txBody>
      </p:sp>
      <p:sp>
        <p:nvSpPr>
          <p:cNvPr id="5" name="Rounded Rectangle 4"/>
          <p:cNvSpPr/>
          <p:nvPr/>
        </p:nvSpPr>
        <p:spPr>
          <a:xfrm>
            <a:off x="731520" y="1463040"/>
            <a:ext cx="5943600"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5394960" cy="4297680"/>
          </a:xfrm>
          <a:prstGeom prst="rect">
            <a:avLst/>
          </a:prstGeom>
          <a:noFill/>
        </p:spPr>
        <p:txBody>
          <a:bodyPr wrap="square">
            <a:spAutoFit/>
          </a:bodyPr>
          <a:lstStyle/>
          <a:p>
            <a:pPr>
              <a:defRPr sz="1600" b="1">
                <a:solidFill>
                  <a:srgbClr val="0F172A"/>
                </a:solidFill>
              </a:defRPr>
            </a:pPr>
            <a:r>
              <a:t>What happens inside the cluster?</a:t>
            </a:r>
          </a:p>
          <a:p>
            <a:br/>
            <a:pPr>
              <a:defRPr sz="1250">
                <a:solidFill>
                  <a:srgbClr val="475569"/>
                </a:solidFill>
              </a:defRPr>
            </a:pPr>
            <a:r>
              <a:t>Imagine managing a compute cluster with 6 worker servers. A continuous stream of customer tasks arrives every second, and each task has a strict deadline.</a:t>
            </a:r>
            <a:br/>
            <a:br/>
            <a:r>
              <a:t>Here is the catch: servers silently degrade and fail without any warning. A server might enter a Degraded state where it runs at half speed, or it might crash completely into a Down state.</a:t>
            </a:r>
            <a:br/>
            <a:br/>
            <a:r>
              <a:t>To make matters worse, we cannot see the true status of any server. We only receive noisy, uncertain clues: a delayed heartbeat, fluctuating latency, or rising error rates. If we assign a task to a dead server, that task freezes completely, misses its deadline, and incurs a financial penalty.</a:t>
            </a:r>
          </a:p>
        </p:txBody>
      </p:sp>
      <p:sp>
        <p:nvSpPr>
          <p:cNvPr id="7" name="Rounded Rectangle 6"/>
          <p:cNvSpPr/>
          <p:nvPr/>
        </p:nvSpPr>
        <p:spPr>
          <a:xfrm>
            <a:off x="6949440" y="1463040"/>
            <a:ext cx="4480560" cy="466344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23760" y="1645920"/>
            <a:ext cx="3931920" cy="4297680"/>
          </a:xfrm>
          <a:prstGeom prst="rect">
            <a:avLst/>
          </a:prstGeom>
          <a:noFill/>
        </p:spPr>
        <p:txBody>
          <a:bodyPr wrap="square">
            <a:spAutoFit/>
          </a:bodyPr>
          <a:lstStyle/>
          <a:p>
            <a:pPr>
              <a:defRPr sz="1600" b="1">
                <a:solidFill>
                  <a:srgbClr val="1D4ED8"/>
                </a:solidFill>
              </a:defRPr>
            </a:pPr>
            <a:r>
              <a:t>What is the agent expected to do?</a:t>
            </a:r>
          </a:p>
          <a:p>
            <a:br/>
            <a:pPr>
              <a:defRPr sz="1250">
                <a:solidFill>
                  <a:srgbClr val="0F172A"/>
                </a:solidFill>
              </a:defRPr>
            </a:pPr>
            <a:r>
              <a:t>1. Maximize Completed Jobs:</a:t>
            </a:r>
            <a:br/>
            <a:r>
              <a:t>Deliver as many jobs as possible before their deadlines expire (+1.0 reward each).</a:t>
            </a:r>
            <a:br/>
            <a:br/>
            <a:r>
              <a:t>2. Stop Feeding Dead Servers:</a:t>
            </a:r>
            <a:br/>
            <a:r>
              <a:t>Quickly detect when a server is down and immediately stop dispatching customer traffic to it.</a:t>
            </a:r>
            <a:br/>
            <a:br/>
            <a:r>
              <a:t>3. Protect Completed Progress:</a:t>
            </a:r>
            <a:br/>
            <a:r>
              <a:t>Avoid unnecessary task migrations that erase work and cause cluster thrashing.</a:t>
            </a:r>
            <a:br/>
            <a:br/>
            <a:r>
              <a:t>4. Ultra-Fast Execution:</a:t>
            </a:r>
            <a:br/>
            <a:r>
              <a:t>Make every routing decision in less than 1.0 millisecond so the scheduler never becomes a bottleneck.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1D4ED8"/>
                </a:solidFill>
                <a:latin typeface="Segoe UI"/>
              </a:defRPr>
            </a:pPr>
            <a:r>
              <a:t>MM26AI02 • CLUSTER WATCHDOG</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0F172A"/>
                </a:solidFill>
                <a:latin typeface="Segoe UI"/>
              </a:defRPr>
            </a:pPr>
            <a:r>
              <a:t>2. Key Clarification: What is Node Capacity?</a:t>
            </a:r>
          </a:p>
        </p:txBody>
      </p:sp>
      <p:sp>
        <p:nvSpPr>
          <p:cNvPr id="5" name="Rounded Rectangle 4"/>
          <p:cNvSpPr/>
          <p:nvPr/>
        </p:nvSpPr>
        <p:spPr>
          <a:xfrm>
            <a:off x="731520" y="1463040"/>
            <a:ext cx="10698480" cy="146304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10149840" cy="1097280"/>
          </a:xfrm>
          <a:prstGeom prst="rect">
            <a:avLst/>
          </a:prstGeom>
          <a:noFill/>
        </p:spPr>
        <p:txBody>
          <a:bodyPr wrap="square">
            <a:spAutoFit/>
          </a:bodyPr>
          <a:lstStyle/>
          <a:p>
            <a:pPr>
              <a:defRPr sz="1100" b="1">
                <a:solidFill>
                  <a:srgbClr val="1D4ED8"/>
                </a:solidFill>
              </a:defRPr>
            </a:pPr>
            <a:r>
              <a:t>THE SIMPLE DEFINITION</a:t>
            </a:r>
          </a:p>
          <a:p>
            <a:pPr>
              <a:defRPr sz="1400" b="1">
                <a:solidFill>
                  <a:srgbClr val="0F172A"/>
                </a:solidFill>
              </a:defRPr>
            </a:pPr>
            <a:r>
              <a:t>Capacity is the fixed, maximum number of jobs that a single server can run at any moment in time.</a:t>
            </a:r>
            <a:br/>
            <a:r>
              <a:t>In our cluster, every server has a hard capacity limit of exactly 4 tasks.</a:t>
            </a:r>
            <a:br/>
            <a:r>
              <a:t>Remaining space is simply: 4 minus the number of currently running tasks.</a:t>
            </a:r>
          </a:p>
        </p:txBody>
      </p:sp>
      <p:sp>
        <p:nvSpPr>
          <p:cNvPr id="7" name="Rounded Rectangle 6"/>
          <p:cNvSpPr/>
          <p:nvPr/>
        </p:nvSpPr>
        <p:spPr>
          <a:xfrm>
            <a:off x="731520" y="3108960"/>
            <a:ext cx="5212080" cy="3017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291840"/>
            <a:ext cx="4663440" cy="2651760"/>
          </a:xfrm>
          <a:prstGeom prst="rect">
            <a:avLst/>
          </a:prstGeom>
          <a:noFill/>
        </p:spPr>
        <p:txBody>
          <a:bodyPr wrap="square">
            <a:spAutoFit/>
          </a:bodyPr>
          <a:lstStyle/>
          <a:p>
            <a:pPr>
              <a:defRPr sz="1500" b="1">
                <a:solidFill>
                  <a:srgbClr val="DC2626"/>
                </a:solidFill>
              </a:defRPr>
            </a:pPr>
            <a:r>
              <a:t>The Hard Rule: Silent Rejection</a:t>
            </a:r>
          </a:p>
          <a:p>
            <a:br/>
            <a:pPr>
              <a:defRPr sz="1200">
                <a:solidFill>
                  <a:srgbClr val="475569"/>
                </a:solidFill>
              </a:defRPr>
            </a:pPr>
            <a:r>
              <a:t>If a server already has 4 tasks running and an agent attempts to assign a 5th task to it, the environment silently rejects the assignment.</a:t>
            </a:r>
            <a:br/>
            <a:br/>
            <a:r>
              <a:t>The extra task does not enter a waitlist; it simply stays unassigned in the buffer, wasting a valuable second and costing holding fees. An intelligent scheduler must track exact server queues to never exceed 4 tasks.</a:t>
            </a:r>
          </a:p>
        </p:txBody>
      </p:sp>
      <p:sp>
        <p:nvSpPr>
          <p:cNvPr id="9" name="Rounded Rectangle 8"/>
          <p:cNvSpPr/>
          <p:nvPr/>
        </p:nvSpPr>
        <p:spPr>
          <a:xfrm>
            <a:off x="6217920" y="3108960"/>
            <a:ext cx="5212080" cy="3017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3291840"/>
            <a:ext cx="4663440" cy="2651760"/>
          </a:xfrm>
          <a:prstGeom prst="rect">
            <a:avLst/>
          </a:prstGeom>
          <a:noFill/>
        </p:spPr>
        <p:txBody>
          <a:bodyPr wrap="square">
            <a:spAutoFit/>
          </a:bodyPr>
          <a:lstStyle/>
          <a:p>
            <a:pPr>
              <a:defRPr sz="1500" b="1">
                <a:solidFill>
                  <a:srgbClr val="059669"/>
                </a:solidFill>
              </a:defRPr>
            </a:pPr>
            <a:r>
              <a:t>Why This Makes Scheduling Challenging</a:t>
            </a:r>
          </a:p>
          <a:p>
            <a:br/>
            <a:pPr>
              <a:defRPr sz="1200">
                <a:solidFill>
                  <a:srgbClr val="475569"/>
                </a:solidFill>
              </a:defRPr>
            </a:pPr>
            <a:r>
              <a:t>You cannot simply send all tasks to the single healthiest server. That server will quickly fill up to 4/4.</a:t>
            </a:r>
            <a:br/>
            <a:br/>
            <a:r>
              <a:t>Furthermore, when two servers fail, total cluster capacity drops from 24 slots down to 16 slots. Tasks must now actively compete for limited healthy space. Our scheduler prioritizes tasks that have the fewest safe alternatives so no job is left behind.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1D4ED8"/>
                </a:solidFill>
                <a:latin typeface="Segoe UI"/>
              </a:defRPr>
            </a:pPr>
            <a:r>
              <a:t>MM26AI02 • CLUSTER WATCHDOG</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0F172A"/>
                </a:solidFill>
                <a:latin typeface="Segoe UI"/>
              </a:defRPr>
            </a:pPr>
            <a:r>
              <a:t>3. Why Standard Schedulers Break Down</a:t>
            </a:r>
          </a:p>
        </p:txBody>
      </p:sp>
      <p:sp>
        <p:nvSpPr>
          <p:cNvPr id="5" name="Rounded Rectangle 4"/>
          <p:cNvSpPr/>
          <p:nvPr/>
        </p:nvSpPr>
        <p:spPr>
          <a:xfrm>
            <a:off x="731520" y="1463040"/>
            <a:ext cx="5212080" cy="4663440"/>
          </a:xfrm>
          <a:prstGeom prst="roundRect">
            <a:avLst/>
          </a:prstGeom>
          <a:solidFill>
            <a:srgbClr val="FFFFFF"/>
          </a:solidFill>
          <a:ln w="1905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663440" cy="4297680"/>
          </a:xfrm>
          <a:prstGeom prst="rect">
            <a:avLst/>
          </a:prstGeom>
          <a:noFill/>
        </p:spPr>
        <p:txBody>
          <a:bodyPr wrap="square">
            <a:spAutoFit/>
          </a:bodyPr>
          <a:lstStyle/>
          <a:p>
            <a:pPr>
              <a:defRPr sz="1500" b="1">
                <a:solidFill>
                  <a:srgbClr val="DC2626"/>
                </a:solidFill>
              </a:defRPr>
            </a:pPr>
            <a:r>
              <a:t>Trap 1: The Blind Load Balancer (Round-Robin)</a:t>
            </a:r>
          </a:p>
          <a:p>
            <a:br/>
            <a:pPr>
              <a:defRPr sz="1200">
                <a:solidFill>
                  <a:srgbClr val="475569"/>
                </a:solidFill>
              </a:defRPr>
            </a:pPr>
            <a:r>
              <a:t>Standard schedulers operate like a roulette wheel: they distribute incoming tasks evenly across servers (Server 0 ➔ Server 1 ➔ Server 2) without ever checking server health.</a:t>
            </a:r>
            <a:br/>
            <a:br/>
            <a:r>
              <a:t>The Fatal Flaw:</a:t>
            </a:r>
            <a:br/>
            <a:r>
              <a:t>When Server 3 crashes, a blind scheduler keeps sending 1 out of every 6 customer tasks straight into the dead server. Those tasks freeze, sit idle, and miss their deadlines.</a:t>
            </a:r>
            <a:br/>
            <a:br/>
            <a:r>
              <a:t>In our benchmark, this naive approach sent 644 tasks into dead servers, causing 577 missed deadlines and a high failure rate.</a:t>
            </a:r>
          </a:p>
        </p:txBody>
      </p:sp>
      <p:sp>
        <p:nvSpPr>
          <p:cNvPr id="7" name="Rounded Rectangle 6"/>
          <p:cNvSpPr/>
          <p:nvPr/>
        </p:nvSpPr>
        <p:spPr>
          <a:xfrm>
            <a:off x="6217920" y="1463040"/>
            <a:ext cx="5212080" cy="4663440"/>
          </a:xfrm>
          <a:prstGeom prst="roundRect">
            <a:avLst/>
          </a:prstGeom>
          <a:solidFill>
            <a:srgbClr val="FFFFFF"/>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45920"/>
            <a:ext cx="4663440" cy="4297680"/>
          </a:xfrm>
          <a:prstGeom prst="rect">
            <a:avLst/>
          </a:prstGeom>
          <a:noFill/>
        </p:spPr>
        <p:txBody>
          <a:bodyPr wrap="square">
            <a:spAutoFit/>
          </a:bodyPr>
          <a:lstStyle/>
          <a:p>
            <a:pPr>
              <a:defRPr sz="1500" b="1">
                <a:solidFill>
                  <a:srgbClr val="D97706"/>
                </a:solidFill>
              </a:defRPr>
            </a:pPr>
            <a:r>
              <a:t>Trap 2: The Over-Reactive Scheduler (Cold Restart)</a:t>
            </a:r>
          </a:p>
          <a:p>
            <a:br/>
            <a:pPr>
              <a:defRPr sz="1200">
                <a:solidFill>
                  <a:srgbClr val="475569"/>
                </a:solidFill>
              </a:defRPr>
            </a:pPr>
            <a:r>
              <a:t>Other schedulers try to be proactive: at the slightest sign of a latency spike, they panic and migrate the running task to another server.</a:t>
            </a:r>
            <a:br/>
            <a:br/>
            <a:r>
              <a:t>The Fatal Flaw:</a:t>
            </a:r>
            <a:br/>
            <a:r>
              <a:t>Migrating an active task triggers a Cold Restart—all completed progress is wiped out completely! If a 10-second task had already executed for 8 seconds and is moved, it resets back to 10 seconds.</a:t>
            </a:r>
            <a:br/>
            <a:br/>
            <a:r>
              <a:t>This creates massive churn and guarantees deadline failures. Rerouting is dangerous and should only be done when a server is genuinely dead.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1D4ED8"/>
                </a:solidFill>
                <a:latin typeface="Segoe UI"/>
              </a:defRPr>
            </a:pPr>
            <a:r>
              <a:t>MM26AI02 • CLUSTER WATCHDOG</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0F172A"/>
                </a:solidFill>
                <a:latin typeface="Segoe UI"/>
              </a:defRPr>
            </a:pPr>
            <a:r>
              <a:t>4. Our Solution: Adaptive Commitment Timing (ACT)</a:t>
            </a:r>
          </a:p>
        </p:txBody>
      </p:sp>
      <p:sp>
        <p:nvSpPr>
          <p:cNvPr id="5" name="Rounded Rectangle 4"/>
          <p:cNvSpPr/>
          <p:nvPr/>
        </p:nvSpPr>
        <p:spPr>
          <a:xfrm>
            <a:off x="731520" y="1463040"/>
            <a:ext cx="10698480" cy="1371600"/>
          </a:xfrm>
          <a:prstGeom prst="roundRect">
            <a:avLst/>
          </a:prstGeom>
          <a:solidFill>
            <a:srgbClr val="EFF6FF"/>
          </a:solidFill>
          <a:ln w="1905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72768"/>
            <a:ext cx="10149840" cy="1143000"/>
          </a:xfrm>
          <a:prstGeom prst="rect">
            <a:avLst/>
          </a:prstGeom>
          <a:noFill/>
        </p:spPr>
        <p:txBody>
          <a:bodyPr wrap="square">
            <a:spAutoFit/>
          </a:bodyPr>
          <a:lstStyle/>
          <a:p>
            <a:pPr>
              <a:defRPr sz="1400" b="1">
                <a:solidFill>
                  <a:srgbClr val="1D4ED8"/>
                </a:solidFill>
              </a:defRPr>
            </a:pPr>
            <a:r>
              <a:t>1. The Detective (Bayesian Health Filter)</a:t>
            </a:r>
          </a:p>
          <a:p>
            <a:pPr>
              <a:defRPr sz="1200">
                <a:solidFill>
                  <a:srgbClr val="0F172A"/>
                </a:solidFill>
              </a:defRPr>
            </a:pPr>
            <a:r>
              <a:t>Instead of guessing or over-reacting to single blips, our agent uses a mathematical Bayesian filter. It combines heartbeats, latency distributions, error rates, and actual job progress to calculate the exact probability that a server is Healthy, Degraded, or Down. It ignores temporary network spikes while instantly detecting true hardware failures.</a:t>
            </a:r>
          </a:p>
        </p:txBody>
      </p:sp>
      <p:sp>
        <p:nvSpPr>
          <p:cNvPr id="7" name="Rounded Rectangle 6"/>
          <p:cNvSpPr/>
          <p:nvPr/>
        </p:nvSpPr>
        <p:spPr>
          <a:xfrm>
            <a:off x="731520" y="3017520"/>
            <a:ext cx="10698480" cy="1371600"/>
          </a:xfrm>
          <a:prstGeom prst="roundRect">
            <a:avLst/>
          </a:prstGeom>
          <a:solidFill>
            <a:srgbClr val="ECFDF5"/>
          </a:solidFill>
          <a:ln w="19050">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127248"/>
            <a:ext cx="10149840" cy="1143000"/>
          </a:xfrm>
          <a:prstGeom prst="rect">
            <a:avLst/>
          </a:prstGeom>
          <a:noFill/>
        </p:spPr>
        <p:txBody>
          <a:bodyPr wrap="square">
            <a:spAutoFit/>
          </a:bodyPr>
          <a:lstStyle/>
          <a:p>
            <a:pPr>
              <a:defRPr sz="1400" b="1">
                <a:solidFill>
                  <a:srgbClr val="059669"/>
                </a:solidFill>
              </a:defRPr>
            </a:pPr>
            <a:r>
              <a:t>2. The Waiting Room (COMMIT vs. HOLD)</a:t>
            </a:r>
          </a:p>
          <a:p>
            <a:pPr>
              <a:defRPr sz="1200">
                <a:solidFill>
                  <a:srgbClr val="0F172A"/>
                </a:solidFill>
              </a:defRPr>
            </a:pPr>
            <a:r>
              <a:t>When a new task arrives, the agent doesn't blindly force it onto an available server. If the only available servers are degraded or full, the agent calculates that it is far cheaper to pay a tiny holding fee ($0.01) and keep the task in the buffer for one second until a healthy server frees up. Patient waiting saves tasks from dying on sick servers.</a:t>
            </a:r>
          </a:p>
        </p:txBody>
      </p:sp>
      <p:sp>
        <p:nvSpPr>
          <p:cNvPr id="9" name="Rounded Rectangle 8"/>
          <p:cNvSpPr/>
          <p:nvPr/>
        </p:nvSpPr>
        <p:spPr>
          <a:xfrm>
            <a:off x="731520" y="4572000"/>
            <a:ext cx="10698480" cy="1371600"/>
          </a:xfrm>
          <a:prstGeom prst="roundRect">
            <a:avLst/>
          </a:prstGeom>
          <a:solidFill>
            <a:srgbClr val="FEF3C7"/>
          </a:solidFill>
          <a:ln w="1905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681728"/>
            <a:ext cx="10149840" cy="1143000"/>
          </a:xfrm>
          <a:prstGeom prst="rect">
            <a:avLst/>
          </a:prstGeom>
          <a:noFill/>
        </p:spPr>
        <p:txBody>
          <a:bodyPr wrap="square">
            <a:spAutoFit/>
          </a:bodyPr>
          <a:lstStyle/>
          <a:p>
            <a:pPr>
              <a:defRPr sz="1400" b="1">
                <a:solidFill>
                  <a:srgbClr val="D97706"/>
                </a:solidFill>
              </a:defRPr>
            </a:pPr>
            <a:r>
              <a:t>3. The Rescue Mission (STAY vs. REROUTE)</a:t>
            </a:r>
          </a:p>
          <a:p>
            <a:pPr>
              <a:defRPr sz="1200">
                <a:solidFill>
                  <a:srgbClr val="0F172A"/>
                </a:solidFill>
              </a:defRPr>
            </a:pPr>
            <a:r>
              <a:t>For tasks already executing, the agent respects the cold-restart penalty. It will only migrate an active task if the expected completion payoff on a new server strictly outweighs the lost progress. Tasks on healthy servers stay put, while tasks trapped on confirmed dead servers are promptly rescued.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1D4ED8"/>
                </a:solidFill>
                <a:latin typeface="Segoe UI"/>
              </a:defRPr>
            </a:pPr>
            <a:r>
              <a:t>MM26AI02 • CLUSTER WATCHDOG</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0F172A"/>
                </a:solidFill>
                <a:latin typeface="Segoe UI"/>
              </a:defRPr>
            </a:pPr>
            <a:r>
              <a:t>5. How It Works: The 4-Step Execution Pipeline</a:t>
            </a:r>
          </a:p>
        </p:txBody>
      </p:sp>
      <p:sp>
        <p:nvSpPr>
          <p:cNvPr id="5" name="Rounded Rectangle 4"/>
          <p:cNvSpPr/>
          <p:nvPr/>
        </p:nvSpPr>
        <p:spPr>
          <a:xfrm>
            <a:off x="731520" y="1463040"/>
            <a:ext cx="1069848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72768"/>
            <a:ext cx="10149840" cy="777240"/>
          </a:xfrm>
          <a:prstGeom prst="rect">
            <a:avLst/>
          </a:prstGeom>
          <a:noFill/>
        </p:spPr>
        <p:txBody>
          <a:bodyPr wrap="square">
            <a:spAutoFit/>
          </a:bodyPr>
          <a:lstStyle/>
          <a:p>
            <a:pPr>
              <a:defRPr sz="1350" b="1">
                <a:solidFill>
                  <a:srgbClr val="1D4ED8"/>
                </a:solidFill>
              </a:defRPr>
            </a:pPr>
            <a:r>
              <a:t>Step 1: Sense &amp; Filter</a:t>
            </a:r>
          </a:p>
          <a:p>
            <a:pPr>
              <a:defRPr sz="1200">
                <a:solidFill>
                  <a:srgbClr val="475569"/>
                </a:solidFill>
              </a:defRPr>
            </a:pPr>
            <a:r>
              <a:t>The agent gathers noisy telemetry from each server (heartbeats, latency, error rates, and actual task progress) and updates its probability belief: [P(Healthy), P(Degraded), P(Down)].</a:t>
            </a:r>
          </a:p>
        </p:txBody>
      </p:sp>
      <p:sp>
        <p:nvSpPr>
          <p:cNvPr id="7" name="Rounded Rectangle 6"/>
          <p:cNvSpPr/>
          <p:nvPr/>
        </p:nvSpPr>
        <p:spPr>
          <a:xfrm>
            <a:off x="731520" y="2651760"/>
            <a:ext cx="1069848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761488"/>
            <a:ext cx="10149840" cy="777240"/>
          </a:xfrm>
          <a:prstGeom prst="rect">
            <a:avLst/>
          </a:prstGeom>
          <a:noFill/>
        </p:spPr>
        <p:txBody>
          <a:bodyPr wrap="square">
            <a:spAutoFit/>
          </a:bodyPr>
          <a:lstStyle/>
          <a:p>
            <a:pPr>
              <a:defRPr sz="1350" b="1">
                <a:solidFill>
                  <a:srgbClr val="1D4ED8"/>
                </a:solidFill>
              </a:defRPr>
            </a:pPr>
            <a:r>
              <a:t>Step 2: Value Every Option</a:t>
            </a:r>
          </a:p>
          <a:p>
            <a:pPr>
              <a:defRPr sz="1200">
                <a:solidFill>
                  <a:srgbClr val="475569"/>
                </a:solidFill>
              </a:defRPr>
            </a:pPr>
            <a:r>
              <a:t>For every task and every server, the agent calculates the mathematical probability of finishing on time, factoring in the server's expected execution speed and remaining slack.</a:t>
            </a:r>
          </a:p>
        </p:txBody>
      </p:sp>
      <p:sp>
        <p:nvSpPr>
          <p:cNvPr id="9" name="Rounded Rectangle 8"/>
          <p:cNvSpPr/>
          <p:nvPr/>
        </p:nvSpPr>
        <p:spPr>
          <a:xfrm>
            <a:off x="731520" y="3840480"/>
            <a:ext cx="1069848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950208"/>
            <a:ext cx="10149840" cy="777240"/>
          </a:xfrm>
          <a:prstGeom prst="rect">
            <a:avLst/>
          </a:prstGeom>
          <a:noFill/>
        </p:spPr>
        <p:txBody>
          <a:bodyPr wrap="square">
            <a:spAutoFit/>
          </a:bodyPr>
          <a:lstStyle/>
          <a:p>
            <a:pPr>
              <a:defRPr sz="1350" b="1">
                <a:solidFill>
                  <a:srgbClr val="059669"/>
                </a:solidFill>
              </a:defRPr>
            </a:pPr>
            <a:r>
              <a:t>Step 3: Decide Timing (Commit or Hold)</a:t>
            </a:r>
          </a:p>
          <a:p>
            <a:pPr>
              <a:defRPr sz="1200">
                <a:solidFill>
                  <a:srgbClr val="475569"/>
                </a:solidFill>
              </a:defRPr>
            </a:pPr>
            <a:r>
              <a:t>The agent compares the value of assigning now versus waiting in the buffer. If safe capacity is temporarily unavailable, the task holds in the queue to wait for a healthy slot.</a:t>
            </a:r>
          </a:p>
        </p:txBody>
      </p:sp>
      <p:sp>
        <p:nvSpPr>
          <p:cNvPr id="11" name="Rounded Rectangle 10"/>
          <p:cNvSpPr/>
          <p:nvPr/>
        </p:nvSpPr>
        <p:spPr>
          <a:xfrm>
            <a:off x="731520" y="5029200"/>
            <a:ext cx="10698480" cy="1005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138928"/>
            <a:ext cx="10149840" cy="777240"/>
          </a:xfrm>
          <a:prstGeom prst="rect">
            <a:avLst/>
          </a:prstGeom>
          <a:noFill/>
        </p:spPr>
        <p:txBody>
          <a:bodyPr wrap="square">
            <a:spAutoFit/>
          </a:bodyPr>
          <a:lstStyle/>
          <a:p>
            <a:pPr>
              <a:defRPr sz="1350" b="1">
                <a:solidFill>
                  <a:srgbClr val="059669"/>
                </a:solidFill>
              </a:defRPr>
            </a:pPr>
            <a:r>
              <a:t>Step 4: Fair Capacity Allocation</a:t>
            </a:r>
          </a:p>
          <a:p>
            <a:pPr>
              <a:defRPr sz="1200">
                <a:solidFill>
                  <a:srgbClr val="475569"/>
                </a:solidFill>
              </a:defRPr>
            </a:pPr>
            <a:r>
              <a:t>When multiple tasks want the same healthy server, capacity is granted to the task with the fewest safe alternative servers. Urgent tasks with high risk are served first.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1D4ED8"/>
                </a:solidFill>
                <a:latin typeface="Segoe UI"/>
              </a:defRPr>
            </a:pPr>
            <a:r>
              <a:t>MM26AI02 • CLUSTER WATCHDOG</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0F172A"/>
                </a:solidFill>
                <a:latin typeface="Segoe UI"/>
              </a:defRPr>
            </a:pPr>
            <a:r>
              <a:t>6. Benchmark Results: Proven in 2,000 Simulation Steps</a:t>
            </a:r>
          </a:p>
        </p:txBody>
      </p:sp>
      <p:sp>
        <p:nvSpPr>
          <p:cNvPr id="5" name="Rounded Rectangle 4"/>
          <p:cNvSpPr/>
          <p:nvPr/>
        </p:nvSpPr>
        <p:spPr>
          <a:xfrm>
            <a:off x="731520" y="1463040"/>
            <a:ext cx="2560320" cy="1554480"/>
          </a:xfrm>
          <a:prstGeom prst="roundRect">
            <a:avLst/>
          </a:prstGeom>
          <a:solidFill>
            <a:srgbClr val="ECFDF5"/>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2286000" cy="1280160"/>
          </a:xfrm>
          <a:prstGeom prst="rect">
            <a:avLst/>
          </a:prstGeom>
          <a:noFill/>
        </p:spPr>
        <p:txBody>
          <a:bodyPr wrap="square">
            <a:spAutoFit/>
          </a:bodyPr>
          <a:lstStyle/>
          <a:p>
            <a:pPr>
              <a:defRPr sz="950" b="1">
                <a:solidFill>
                  <a:srgbClr val="475569"/>
                </a:solidFill>
              </a:defRPr>
            </a:pPr>
            <a:r>
              <a:t>TASK COMPLETION RATE</a:t>
            </a:r>
          </a:p>
          <a:p>
            <a:pPr>
              <a:defRPr sz="2800" b="1">
                <a:solidFill>
                  <a:srgbClr val="059669"/>
                </a:solidFill>
              </a:defRPr>
            </a:pPr>
            <a:r>
              <a:t>98.1%</a:t>
            </a:r>
          </a:p>
          <a:p>
            <a:pPr>
              <a:defRPr sz="1000">
                <a:solidFill>
                  <a:srgbClr val="0F172A"/>
                </a:solidFill>
              </a:defRPr>
            </a:pPr>
            <a:r>
              <a:t>vs 86.1% Baseline (+13.2% net gain)</a:t>
            </a:r>
          </a:p>
        </p:txBody>
      </p:sp>
      <p:sp>
        <p:nvSpPr>
          <p:cNvPr id="7" name="Rounded Rectangle 6"/>
          <p:cNvSpPr/>
          <p:nvPr/>
        </p:nvSpPr>
        <p:spPr>
          <a:xfrm>
            <a:off x="3456432" y="1463040"/>
            <a:ext cx="2560320" cy="1554480"/>
          </a:xfrm>
          <a:prstGeom prst="roundRect">
            <a:avLst/>
          </a:prstGeom>
          <a:solidFill>
            <a:srgbClr val="FEF2F2"/>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593592" y="1600200"/>
            <a:ext cx="2286000" cy="1280160"/>
          </a:xfrm>
          <a:prstGeom prst="rect">
            <a:avLst/>
          </a:prstGeom>
          <a:noFill/>
        </p:spPr>
        <p:txBody>
          <a:bodyPr wrap="square">
            <a:spAutoFit/>
          </a:bodyPr>
          <a:lstStyle/>
          <a:p>
            <a:pPr>
              <a:defRPr sz="950" b="1">
                <a:solidFill>
                  <a:srgbClr val="475569"/>
                </a:solidFill>
              </a:defRPr>
            </a:pPr>
            <a:r>
              <a:t>MISSED DEADLINES</a:t>
            </a:r>
          </a:p>
          <a:p>
            <a:pPr>
              <a:defRPr sz="2800" b="1">
                <a:solidFill>
                  <a:srgbClr val="DC2626"/>
                </a:solidFill>
              </a:defRPr>
            </a:pPr>
            <a:r>
              <a:t>79</a:t>
            </a:r>
          </a:p>
          <a:p>
            <a:pPr>
              <a:defRPr sz="1000">
                <a:solidFill>
                  <a:srgbClr val="0F172A"/>
                </a:solidFill>
              </a:defRPr>
            </a:pPr>
            <a:r>
              <a:t>vs 577 Baseline (-86.3% fewer misses)</a:t>
            </a:r>
          </a:p>
        </p:txBody>
      </p:sp>
      <p:sp>
        <p:nvSpPr>
          <p:cNvPr id="9" name="Rounded Rectangle 8"/>
          <p:cNvSpPr/>
          <p:nvPr/>
        </p:nvSpPr>
        <p:spPr>
          <a:xfrm>
            <a:off x="6181344" y="1463040"/>
            <a:ext cx="2560320" cy="1554480"/>
          </a:xfrm>
          <a:prstGeom prst="roundRect">
            <a:avLst/>
          </a:prstGeom>
          <a:solidFill>
            <a:srgbClr val="EFF6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18504" y="1600200"/>
            <a:ext cx="2286000" cy="1280160"/>
          </a:xfrm>
          <a:prstGeom prst="rect">
            <a:avLst/>
          </a:prstGeom>
          <a:noFill/>
        </p:spPr>
        <p:txBody>
          <a:bodyPr wrap="square">
            <a:spAutoFit/>
          </a:bodyPr>
          <a:lstStyle/>
          <a:p>
            <a:pPr>
              <a:defRPr sz="950" b="1">
                <a:solidFill>
                  <a:srgbClr val="475569"/>
                </a:solidFill>
              </a:defRPr>
            </a:pPr>
            <a:r>
              <a:t>DEAD-NODE TRAFFIC</a:t>
            </a:r>
          </a:p>
          <a:p>
            <a:pPr>
              <a:defRPr sz="2800" b="1">
                <a:solidFill>
                  <a:srgbClr val="1D4ED8"/>
                </a:solidFill>
              </a:defRPr>
            </a:pPr>
            <a:r>
              <a:t>102</a:t>
            </a:r>
          </a:p>
          <a:p>
            <a:pPr>
              <a:defRPr sz="1000">
                <a:solidFill>
                  <a:srgbClr val="0F172A"/>
                </a:solidFill>
              </a:defRPr>
            </a:pPr>
            <a:r>
              <a:t>vs 644 Baseline (-84.2% traffic blocked)</a:t>
            </a:r>
          </a:p>
        </p:txBody>
      </p:sp>
      <p:sp>
        <p:nvSpPr>
          <p:cNvPr id="11" name="Rounded Rectangle 10"/>
          <p:cNvSpPr/>
          <p:nvPr/>
        </p:nvSpPr>
        <p:spPr>
          <a:xfrm>
            <a:off x="8906256" y="1463040"/>
            <a:ext cx="2560320" cy="1554480"/>
          </a:xfrm>
          <a:prstGeom prst="roundRect">
            <a:avLst/>
          </a:prstGeom>
          <a:solidFill>
            <a:srgbClr val="FEF3C7"/>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43416" y="1600200"/>
            <a:ext cx="2286000" cy="1280160"/>
          </a:xfrm>
          <a:prstGeom prst="rect">
            <a:avLst/>
          </a:prstGeom>
          <a:noFill/>
        </p:spPr>
        <p:txBody>
          <a:bodyPr wrap="square">
            <a:spAutoFit/>
          </a:bodyPr>
          <a:lstStyle/>
          <a:p>
            <a:pPr>
              <a:defRPr sz="950" b="1">
                <a:solidFill>
                  <a:srgbClr val="475569"/>
                </a:solidFill>
              </a:defRPr>
            </a:pPr>
            <a:r>
              <a:t>DECISION LATENCY</a:t>
            </a:r>
          </a:p>
          <a:p>
            <a:pPr>
              <a:defRPr sz="2800" b="1">
                <a:solidFill>
                  <a:srgbClr val="D97706"/>
                </a:solidFill>
              </a:defRPr>
            </a:pPr>
            <a:r>
              <a:t>0.23 ms</a:t>
            </a:r>
          </a:p>
          <a:p>
            <a:pPr>
              <a:defRPr sz="1000">
                <a:solidFill>
                  <a:srgbClr val="0F172A"/>
                </a:solidFill>
              </a:defRPr>
            </a:pPr>
            <a:r>
              <a:t>per step (&lt; 1.0 ms budget, zero LLM delay)</a:t>
            </a:r>
          </a:p>
        </p:txBody>
      </p:sp>
      <p:sp>
        <p:nvSpPr>
          <p:cNvPr id="13" name="Rounded Rectangle 12"/>
          <p:cNvSpPr/>
          <p:nvPr/>
        </p:nvSpPr>
        <p:spPr>
          <a:xfrm>
            <a:off x="731520" y="3291840"/>
            <a:ext cx="10698480" cy="28346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474720"/>
            <a:ext cx="10149840" cy="2468880"/>
          </a:xfrm>
          <a:prstGeom prst="rect">
            <a:avLst/>
          </a:prstGeom>
          <a:noFill/>
        </p:spPr>
        <p:txBody>
          <a:bodyPr wrap="square">
            <a:spAutoFit/>
          </a:bodyPr>
          <a:lstStyle/>
          <a:p>
            <a:pPr>
              <a:defRPr sz="1300" b="1">
                <a:solidFill>
                  <a:srgbClr val="0F172A"/>
                </a:solidFill>
              </a:defRPr>
            </a:pPr>
            <a:r>
              <a:t>What these numbers mean for real-world operations:</a:t>
            </a:r>
          </a:p>
          <a:p>
            <a:pPr>
              <a:defRPr sz="1200">
                <a:solidFill>
                  <a:srgbClr val="475569"/>
                </a:solidFill>
              </a:defRPr>
            </a:pPr>
            <a:r>
              <a:t>• 471 Extra Jobs Delivered: In an enterprise environment, each lost job represents a failed customer request or breached SLA. Our agent salvaged 471 tasks that a standard scheduler would have dropped.</a:t>
            </a:r>
            <a:br/>
            <a:br/>
            <a:r>
              <a:t>• Near-Zero Waste: By accurately isolating dead servers, we reduced wasted compute dispatches by 84.2%. The cluster spent energy doing actual work rather than crashing tasks.</a:t>
            </a:r>
            <a:br/>
            <a:br/>
            <a:r>
              <a:t>• Blazing Speed: Schedulers cannot afford to pause for slow AI models. Our agent executes in 0.23 milliseconds per step using clean mathematical optimization, leaving 75%+ of the compute budget completely free.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a:spAutoFit/>
          </a:bodyPr>
          <a:lstStyle/>
          <a:p>
            <a:pPr>
              <a:defRPr sz="1050" b="1">
                <a:solidFill>
                  <a:srgbClr val="1D4ED8"/>
                </a:solidFill>
                <a:latin typeface="Segoe UI"/>
              </a:defRPr>
            </a:pPr>
            <a:r>
              <a:t>MM26AI02 • CLUSTER WATCHDOG</a:t>
            </a:r>
          </a:p>
        </p:txBody>
      </p:sp>
      <p:sp>
        <p:nvSpPr>
          <p:cNvPr id="4" name="TextBox 3"/>
          <p:cNvSpPr txBox="1"/>
          <p:nvPr/>
        </p:nvSpPr>
        <p:spPr>
          <a:xfrm>
            <a:off x="731520" y="685800"/>
            <a:ext cx="10698480" cy="640080"/>
          </a:xfrm>
          <a:prstGeom prst="rect">
            <a:avLst/>
          </a:prstGeom>
          <a:noFill/>
        </p:spPr>
        <p:txBody>
          <a:bodyPr wrap="square">
            <a:spAutoFit/>
          </a:bodyPr>
          <a:lstStyle/>
          <a:p>
            <a:pPr>
              <a:defRPr sz="2400" b="1">
                <a:solidFill>
                  <a:srgbClr val="0F172A"/>
                </a:solidFill>
                <a:latin typeface="Segoe UI"/>
              </a:defRPr>
            </a:pPr>
            <a:r>
              <a:t>7. Summary: Why This Solution Stands Out</a:t>
            </a:r>
          </a:p>
        </p:txBody>
      </p:sp>
      <p:sp>
        <p:nvSpPr>
          <p:cNvPr id="5" name="Rounded Rectangle 4"/>
          <p:cNvSpPr/>
          <p:nvPr/>
        </p:nvSpPr>
        <p:spPr>
          <a:xfrm>
            <a:off x="731520" y="1463040"/>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54480"/>
            <a:ext cx="10149840" cy="658368"/>
          </a:xfrm>
          <a:prstGeom prst="rect">
            <a:avLst/>
          </a:prstGeom>
          <a:noFill/>
        </p:spPr>
        <p:txBody>
          <a:bodyPr wrap="square">
            <a:spAutoFit/>
          </a:bodyPr>
          <a:lstStyle/>
          <a:p>
            <a:pPr>
              <a:defRPr sz="1300" b="1">
                <a:solidFill>
                  <a:srgbClr val="1D4ED8"/>
                </a:solidFill>
              </a:defRPr>
            </a:pPr>
            <a:r>
              <a:t>1. Elegant &amp; Principled  —  </a:t>
            </a:r>
            <a:r>
              <a:rPr sz="1250" b="0">
                <a:solidFill>
                  <a:srgbClr val="475569"/>
                </a:solidFill>
              </a:rPr>
              <a:t>No brittle hardcoded rules or guesswork. Built on proven Bayesian statistics and optimal stopping theory.</a:t>
            </a:r>
          </a:p>
        </p:txBody>
      </p:sp>
      <p:sp>
        <p:nvSpPr>
          <p:cNvPr id="7" name="Rounded Rectangle 6"/>
          <p:cNvSpPr/>
          <p:nvPr/>
        </p:nvSpPr>
        <p:spPr>
          <a:xfrm>
            <a:off x="731520" y="2423160"/>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514600"/>
            <a:ext cx="10149840" cy="658368"/>
          </a:xfrm>
          <a:prstGeom prst="rect">
            <a:avLst/>
          </a:prstGeom>
          <a:noFill/>
        </p:spPr>
        <p:txBody>
          <a:bodyPr wrap="square">
            <a:spAutoFit/>
          </a:bodyPr>
          <a:lstStyle/>
          <a:p>
            <a:pPr>
              <a:defRPr sz="1300" b="1">
                <a:solidFill>
                  <a:srgbClr val="059669"/>
                </a:solidFill>
              </a:defRPr>
            </a:pPr>
            <a:r>
              <a:t>2. Superior Performance  —  </a:t>
            </a:r>
            <a:r>
              <a:rPr sz="1250" b="0">
                <a:solidFill>
                  <a:srgbClr val="475569"/>
                </a:solidFill>
              </a:rPr>
              <a:t>Delivers a 98.1% completion rate and slashes deadline failures by over 86% across diverse scenarios.</a:t>
            </a:r>
          </a:p>
        </p:txBody>
      </p:sp>
      <p:sp>
        <p:nvSpPr>
          <p:cNvPr id="9" name="Rounded Rectangle 8"/>
          <p:cNvSpPr/>
          <p:nvPr/>
        </p:nvSpPr>
        <p:spPr>
          <a:xfrm>
            <a:off x="731520" y="3383280"/>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474720"/>
            <a:ext cx="10149840" cy="658368"/>
          </a:xfrm>
          <a:prstGeom prst="rect">
            <a:avLst/>
          </a:prstGeom>
          <a:noFill/>
        </p:spPr>
        <p:txBody>
          <a:bodyPr wrap="square">
            <a:spAutoFit/>
          </a:bodyPr>
          <a:lstStyle/>
          <a:p>
            <a:pPr>
              <a:defRPr sz="1300" b="1">
                <a:solidFill>
                  <a:srgbClr val="D97706"/>
                </a:solidFill>
              </a:defRPr>
            </a:pPr>
            <a:r>
              <a:t>3. Production-Ready Speed  —  </a:t>
            </a:r>
            <a:r>
              <a:rPr sz="1250" b="0">
                <a:solidFill>
                  <a:srgbClr val="475569"/>
                </a:solidFill>
              </a:rPr>
              <a:t>Runs in 0.23 ms/step in pure Python—no external API dependencies, no network latency, no runtime cost.</a:t>
            </a:r>
          </a:p>
        </p:txBody>
      </p:sp>
      <p:sp>
        <p:nvSpPr>
          <p:cNvPr id="11" name="Rounded Rectangle 10"/>
          <p:cNvSpPr/>
          <p:nvPr/>
        </p:nvSpPr>
        <p:spPr>
          <a:xfrm>
            <a:off x="731520" y="4343400"/>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434840"/>
            <a:ext cx="10149840" cy="658368"/>
          </a:xfrm>
          <a:prstGeom prst="rect">
            <a:avLst/>
          </a:prstGeom>
          <a:noFill/>
        </p:spPr>
        <p:txBody>
          <a:bodyPr wrap="square">
            <a:spAutoFit/>
          </a:bodyPr>
          <a:lstStyle/>
          <a:p>
            <a:pPr>
              <a:defRPr sz="1300" b="1">
                <a:solidFill>
                  <a:srgbClr val="1D4ED8"/>
                </a:solidFill>
              </a:defRPr>
            </a:pPr>
            <a:r>
              <a:t>4. 100% Explainable  —  </a:t>
            </a:r>
            <a:r>
              <a:rPr sz="1250" b="0">
                <a:solidFill>
                  <a:srgbClr val="475569"/>
                </a:solidFill>
              </a:rPr>
              <a:t>Every single decision is fully auditable. The system logs its exact reasoning to automatically generate SRE Root Cause Analysis reports.</a:t>
            </a:r>
          </a:p>
        </p:txBody>
      </p:sp>
      <p:sp>
        <p:nvSpPr>
          <p:cNvPr id="13" name="Rounded Rectangle 12"/>
          <p:cNvSpPr/>
          <p:nvPr/>
        </p:nvSpPr>
        <p:spPr>
          <a:xfrm>
            <a:off x="731520" y="5303520"/>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394960"/>
            <a:ext cx="10149840" cy="658368"/>
          </a:xfrm>
          <a:prstGeom prst="rect">
            <a:avLst/>
          </a:prstGeom>
          <a:noFill/>
        </p:spPr>
        <p:txBody>
          <a:bodyPr wrap="square">
            <a:spAutoFit/>
          </a:bodyPr>
          <a:lstStyle/>
          <a:p>
            <a:pPr>
              <a:defRPr sz="1300" b="1">
                <a:solidFill>
                  <a:srgbClr val="0F172A"/>
                </a:solidFill>
              </a:defRPr>
            </a:pPr>
            <a:r>
              <a:t>5. Zero-Friction Submission  —  </a:t>
            </a:r>
            <a:r>
              <a:rPr sz="1250" b="0">
                <a:solidFill>
                  <a:srgbClr val="475569"/>
                </a:solidFill>
              </a:rPr>
              <a:t>Packaged cleanly into a single, self-contained file (standalone_submission.py) ready for instant automated evaluation.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